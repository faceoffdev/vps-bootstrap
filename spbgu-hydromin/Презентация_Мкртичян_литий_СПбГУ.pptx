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Цена</c:v>
                </c:pt>
              </c:strCache>
            </c:strRef>
          </c:tx>
          <c:spPr>
            <a:solidFill>
              <a:srgbClr val="2E5A77"/>
            </a:solidFill>
            <a:effectLst/>
          </c:spPr>
          <c:invertIfNegative val="0"/>
          <c:dLbls>
            <c:numFmt formatCode="0.0" sourceLinked="0"/>
            <c:txPr>
              <a:bodyPr/>
              <a:lstStyle/>
              <a:p>
                <a:pPr>
                  <a:defRPr b="0" i="0" strike="noStrike" sz="1400" u="none">
                    <a:solidFill>
                      <a:srgbClr val="1F2933"/>
                    </a:solidFill>
                    <a:latin typeface="Arial"/>
                  </a:defRPr>
                </a:pPr>
              </a:p>
            </c:txPr>
            <c:showLegendKey val="0"/>
            <c:showVal val="1"/>
            <c:showCatName val="0"/>
            <c:showSerName val="0"/>
            <c:showPercent val="0"/>
            <c:showBubbleSize val="0"/>
            <c:showLeaderLines val="0"/>
          </c:dLbls>
          <c:cat>
            <c:multiLvlStrRef>
              <c:f>Sheet1!$A$2:$A$5</c:f>
              <c:multiLvlStrCache>
                <c:ptCount val="4"/>
                <c:lvl>
                  <c:pt idx="0">
                    <c:v>2022</c:v>
                  </c:pt>
                  <c:pt idx="1">
                    <c:v>2024</c:v>
                  </c:pt>
                  <c:pt idx="2">
                    <c:v>2025</c:v>
                  </c:pt>
                  <c:pt idx="3">
                    <c:v>сентябрь 2026</c:v>
                  </c:pt>
                </c:lvl>
              </c:multiLvlStrCache>
            </c:multiLvlStrRef>
          </c:cat>
          <c:val>
            <c:numRef>
              <c:f>Sheet1!$B$2:$B$5</c:f>
              <c:numCache>
                <c:formatCode>General</c:formatCode>
                <c:ptCount val="4"/>
                <c:pt idx="0">
                  <c:v>63.7</c:v>
                </c:pt>
                <c:pt idx="1">
                  <c:v>11.8</c:v>
                </c:pt>
                <c:pt idx="2">
                  <c:v>9</c:v>
                </c:pt>
                <c:pt idx="3">
                  <c:v>19.8</c:v>
                </c:pt>
              </c:numCache>
            </c:numRef>
          </c:val>
        </c:ser>
        <c:dLbls>
          <c:numFmt formatCode="0.0" sourceLinked="0"/>
          <c:txPr>
            <a:bodyPr/>
            <a:lstStyle/>
            <a:p>
              <a:pPr>
                <a:defRPr b="0" i="0" strike="noStrike" sz="1400" u="none">
                  <a:solidFill>
                    <a:srgbClr val="1F29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CE3"/>
            </a:solidFill>
            <a:prstDash val="solid"/>
            <a:round/>
          </a:ln>
        </c:spPr>
        <c:txPr>
          <a:bodyPr/>
          <a:lstStyle/>
          <a:p>
            <a:pPr>
              <a:defRPr sz="1400" b="0" i="0" u="none" strike="noStrike">
                <a:solidFill>
                  <a:srgbClr val="5F6B7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Отношение</c:v>
                </c:pt>
              </c:strCache>
            </c:strRef>
          </c:tx>
          <c:spPr>
            <a:solidFill>
              <a:srgbClr val="6F8FA8"/>
            </a:solidFill>
            <a:effectLst/>
          </c:spPr>
          <c:invertIfNegative val="0"/>
          <c:dLbls>
            <c:numFmt formatCode="0.00" sourceLinked="0"/>
            <c:txPr>
              <a:bodyPr/>
              <a:lstStyle/>
              <a:p>
                <a:pPr>
                  <a:defRPr b="0" i="0" strike="noStrike" sz="1400" u="none">
                    <a:solidFill>
                      <a:srgbClr val="1F2933"/>
                    </a:solidFill>
                    <a:latin typeface="Arial"/>
                  </a:defRPr>
                </a:pPr>
              </a:p>
            </c:txPr>
            <c:showLegendKey val="0"/>
            <c:showVal val="1"/>
            <c:showCatName val="0"/>
            <c:showSerName val="0"/>
            <c:showPercent val="0"/>
            <c:showBubbleSize val="0"/>
            <c:showLeaderLines val="0"/>
          </c:dLbls>
          <c:dPt>
            <c:idx val="0"/>
            <c:invertIfNegative val="0"/>
            <c:bubble3D val="0"/>
            <c:spPr>
              <a:solidFill>
                <a:srgbClr val="6F8FA8"/>
              </a:solidFill>
              <a:effectLst/>
            </c:spPr>
          </c:dPt>
          <c:dPt>
            <c:idx val="1"/>
            <c:invertIfNegative val="0"/>
            <c:bubble3D val="0"/>
            <c:spPr>
              <a:solidFill>
                <a:srgbClr val="6F8FA8"/>
              </a:solidFill>
              <a:effectLst/>
            </c:spPr>
          </c:dPt>
          <c:dPt>
            <c:idx val="2"/>
            <c:invertIfNegative val="0"/>
            <c:bubble3D val="0"/>
            <c:spPr>
              <a:solidFill>
                <a:srgbClr val="6F8FA8"/>
              </a:solidFill>
              <a:effectLst/>
            </c:spPr>
          </c:dPt>
          <c:dPt>
            <c:idx val="3"/>
            <c:invertIfNegative val="0"/>
            <c:bubble3D val="0"/>
            <c:spPr>
              <a:solidFill>
                <a:srgbClr val="6F8FA8"/>
              </a:solidFill>
              <a:effectLst/>
            </c:spPr>
          </c:dPt>
          <c:dPt>
            <c:idx val="4"/>
            <c:invertIfNegative val="0"/>
            <c:bubble3D val="0"/>
            <c:spPr>
              <a:solidFill>
                <a:srgbClr val="2E5A77"/>
              </a:solidFill>
              <a:effectLst/>
            </c:spPr>
          </c:dPt>
          <c:dPt>
            <c:idx val="5"/>
            <c:invertIfNegative val="0"/>
            <c:bubble3D val="0"/>
            <c:spPr>
              <a:solidFill>
                <a:srgbClr val="2E5A77"/>
              </a:solidFill>
              <a:effectLst/>
            </c:spPr>
          </c:dPt>
          <c:cat>
            <c:multiLvlStrRef>
              <c:f>Sheet1!$A$2:$A$7</c:f>
              <c:multiLvlStrCache>
                <c:ptCount val="6"/>
                <c:lvl>
                  <c:pt idx="0">
                    <c:v>Вэйюань, Китай</c:v>
                  </c:pt>
                  <c:pt idx="1">
                    <c:v>Smackover, США</c:v>
                  </c:pt>
                  <c:pt idx="2">
                    <c:v>Marcellus, США</c:v>
                  </c:pt>
                  <c:pt idx="3">
                    <c:v>Leduc, Канада</c:v>
                  </c:pt>
                  <c:pt idx="4">
                    <c:v>Знаменское</c:v>
                  </c:pt>
                  <c:pt idx="5">
                    <c:v>Ковыктинское</c:v>
                  </c:pt>
                </c:lvl>
              </c:multiLvlStrCache>
            </c:multiLvlStrRef>
          </c:cat>
          <c:val>
            <c:numRef>
              <c:f>Sheet1!$B$2:$B$7</c:f>
              <c:numCache>
                <c:formatCode>General</c:formatCode>
                <c:ptCount val="6"/>
                <c:pt idx="0">
                  <c:v>0.22</c:v>
                </c:pt>
                <c:pt idx="1">
                  <c:v>1.06</c:v>
                </c:pt>
                <c:pt idx="2">
                  <c:v>1.64</c:v>
                </c:pt>
                <c:pt idx="3">
                  <c:v>1.79</c:v>
                </c:pt>
                <c:pt idx="4">
                  <c:v>4.68</c:v>
                </c:pt>
                <c:pt idx="5">
                  <c:v>5.49</c:v>
                </c:pt>
              </c:numCache>
            </c:numRef>
          </c:val>
        </c:ser>
        <c:dLbls>
          <c:numFmt formatCode="0.00" sourceLinked="0"/>
          <c:txPr>
            <a:bodyPr/>
            <a:lstStyle/>
            <a:p>
              <a:pPr>
                <a:defRPr b="0" i="0" strike="noStrike" sz="1400" u="none">
                  <a:solidFill>
                    <a:srgbClr val="1F2933"/>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5DCE3"/>
            </a:solidFill>
            <a:prstDash val="solid"/>
            <a:round/>
          </a:ln>
        </c:spPr>
        <c:txPr>
          <a:bodyPr/>
          <a:lstStyle/>
          <a:p>
            <a:pPr>
              <a:defRPr sz="14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6.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т/год</c:v>
                </c:pt>
              </c:strCache>
            </c:strRef>
          </c:tx>
          <c:spPr>
            <a:solidFill>
              <a:srgbClr val="B4C4D2"/>
            </a:solidFill>
            <a:effectLst/>
          </c:spPr>
          <c:invertIfNegative val="0"/>
          <c:dLbls>
            <c:numFmt formatCode="0.0" sourceLinked="0"/>
            <c:txPr>
              <a:bodyPr/>
              <a:lstStyle/>
              <a:p>
                <a:pPr>
                  <a:defRPr b="0" i="0" strike="noStrike" sz="1300" u="none">
                    <a:solidFill>
                      <a:srgbClr val="1F2933"/>
                    </a:solidFill>
                    <a:latin typeface="Arial"/>
                  </a:defRPr>
                </a:pPr>
              </a:p>
            </c:txPr>
            <c:showLegendKey val="0"/>
            <c:showVal val="1"/>
            <c:showCatName val="0"/>
            <c:showSerName val="0"/>
            <c:showPercent val="0"/>
            <c:showBubbleSize val="0"/>
            <c:showLeaderLines val="0"/>
          </c:dLbls>
          <c:dPt>
            <c:idx val="0"/>
            <c:invertIfNegative val="0"/>
            <c:bubble3D val="0"/>
            <c:spPr>
              <a:solidFill>
                <a:srgbClr val="B4C4D2"/>
              </a:solidFill>
              <a:effectLst/>
            </c:spPr>
          </c:dPt>
          <c:dPt>
            <c:idx val="1"/>
            <c:invertIfNegative val="0"/>
            <c:bubble3D val="0"/>
            <c:spPr>
              <a:solidFill>
                <a:srgbClr val="6F8FA8"/>
              </a:solidFill>
              <a:effectLst/>
            </c:spPr>
          </c:dPt>
          <c:dPt>
            <c:idx val="2"/>
            <c:invertIfNegative val="0"/>
            <c:bubble3D val="0"/>
            <c:spPr>
              <a:solidFill>
                <a:srgbClr val="B4C4D2"/>
              </a:solidFill>
              <a:effectLst/>
            </c:spPr>
          </c:dPt>
          <c:dPt>
            <c:idx val="3"/>
            <c:invertIfNegative val="0"/>
            <c:bubble3D val="0"/>
            <c:spPr>
              <a:solidFill>
                <a:srgbClr val="6F8FA8"/>
              </a:solidFill>
              <a:effectLst/>
            </c:spPr>
          </c:dPt>
          <c:dPt>
            <c:idx val="4"/>
            <c:invertIfNegative val="0"/>
            <c:bubble3D val="0"/>
            <c:spPr>
              <a:solidFill>
                <a:srgbClr val="2E5A77"/>
              </a:solidFill>
              <a:effectLst/>
            </c:spPr>
          </c:dPt>
          <c:cat>
            <c:multiLvlStrRef>
              <c:f>Sheet1!$A$2:$A$6</c:f>
              <c:multiLvlStrCache>
                <c:ptCount val="5"/>
                <c:lvl>
                  <c:pt idx="0">
                    <c:v>Потери: предочистка</c:v>
                  </c:pt>
                  <c:pt idx="1">
                    <c:v>Потери: сорбция</c:v>
                  </c:pt>
                  <c:pt idx="2">
                    <c:v>Потери: десорбция</c:v>
                  </c:pt>
                  <c:pt idx="3">
                    <c:v>Потери: продукт</c:v>
                  </c:pt>
                  <c:pt idx="4">
                    <c:v>Извлечено</c:v>
                  </c:pt>
                </c:lvl>
              </c:multiLvlStrCache>
            </c:multiLvlStrRef>
          </c:cat>
          <c:val>
            <c:numRef>
              <c:f>Sheet1!$B$2:$B$6</c:f>
              <c:numCache>
                <c:formatCode>General</c:formatCode>
                <c:ptCount val="5"/>
                <c:pt idx="0">
                  <c:v>15</c:v>
                </c:pt>
                <c:pt idx="1">
                  <c:v>57</c:v>
                </c:pt>
                <c:pt idx="2">
                  <c:v>11.4</c:v>
                </c:pt>
                <c:pt idx="3">
                  <c:v>32.5</c:v>
                </c:pt>
                <c:pt idx="4">
                  <c:v>184.1</c:v>
                </c:pt>
              </c:numCache>
            </c:numRef>
          </c:val>
        </c:ser>
        <c:dLbls>
          <c:numFmt formatCode="0.0" sourceLinked="0"/>
          <c:txPr>
            <a:bodyPr/>
            <a:lstStyle/>
            <a:p>
              <a:pPr>
                <a:defRPr b="0" i="0" strike="noStrike" sz="1300" u="none">
                  <a:solidFill>
                    <a:srgbClr val="1F29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5DCE3"/>
            </a:solidFill>
            <a:prstDash val="solid"/>
            <a:round/>
          </a:ln>
        </c:spPr>
        <c:txPr>
          <a:bodyPr/>
          <a:lstStyle/>
          <a:p>
            <a:pPr>
              <a:defRPr sz="13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2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9 тыс. долл./т (2025 г.)</c:v>
                </c:pt>
              </c:strCache>
            </c:strRef>
          </c:tx>
          <c:spPr>
            <a:solidFill>
              <a:srgbClr val="2E5A77"/>
            </a:solidFill>
            <a:ln w="38100" cap="flat">
              <a:solidFill>
                <a:srgbClr val="2E5A7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5A77"/>
              </a:solidFill>
              <a:ln w="9525" cap="flat">
                <a:solidFill>
                  <a:srgbClr val="2E5A77"/>
                </a:solidFill>
                <a:prstDash val="solid"/>
                <a:round/>
              </a:ln>
              <a:effectLst/>
            </c:spPr>
          </c:marker>
          <c:cat>
            <c:multiLvlStrRef>
              <c:f>Sheet1!$A$2:$A$21</c:f>
              <c:multiLvlStrCache>
                <c:ptCount val="20"/>
                <c:lvl>
                  <c:pt idx="0">
                    <c:v>0,5</c:v>
                  </c:pt>
                  <c:pt idx="1">
                    <c:v>1</c:v>
                  </c:pt>
                  <c:pt idx="2">
                    <c:v>1,5</c:v>
                  </c:pt>
                  <c:pt idx="3">
                    <c:v>2</c:v>
                  </c:pt>
                  <c:pt idx="4">
                    <c:v>2,5</c:v>
                  </c:pt>
                  <c:pt idx="5">
                    <c:v>3</c:v>
                  </c:pt>
                  <c:pt idx="6">
                    <c:v>3,5</c:v>
                  </c:pt>
                  <c:pt idx="7">
                    <c:v>4</c:v>
                  </c:pt>
                  <c:pt idx="8">
                    <c:v>4,5</c:v>
                  </c:pt>
                  <c:pt idx="9">
                    <c:v>5</c:v>
                  </c:pt>
                  <c:pt idx="10">
                    <c:v>5,5</c:v>
                  </c:pt>
                  <c:pt idx="11">
                    <c:v>6</c:v>
                  </c:pt>
                  <c:pt idx="12">
                    <c:v>6,5</c:v>
                  </c:pt>
                  <c:pt idx="13">
                    <c:v>7</c:v>
                  </c:pt>
                  <c:pt idx="14">
                    <c:v>7,5</c:v>
                  </c:pt>
                  <c:pt idx="15">
                    <c:v>8</c:v>
                  </c:pt>
                  <c:pt idx="16">
                    <c:v>8,5</c:v>
                  </c:pt>
                  <c:pt idx="17">
                    <c:v>9</c:v>
                  </c:pt>
                  <c:pt idx="18">
                    <c:v>9,5</c:v>
                  </c:pt>
                  <c:pt idx="19">
                    <c:v>10</c:v>
                  </c:pt>
                </c:lvl>
              </c:multiLvlStrCache>
            </c:multiLvlStrRef>
          </c:cat>
          <c:val>
            <c:numRef>
              <c:f>Sheet1!$B$2:$B$21</c:f>
              <c:numCache>
                <c:formatCode>General</c:formatCode>
                <c:ptCount val="20"/>
                <c:pt idx="0">
                  <c:v>378</c:v>
                </c:pt>
                <c:pt idx="1">
                  <c:v>305</c:v>
                </c:pt>
                <c:pt idx="2">
                  <c:v>270</c:v>
                </c:pt>
                <c:pt idx="3">
                  <c:v>249</c:v>
                </c:pt>
                <c:pt idx="4">
                  <c:v>234</c:v>
                </c:pt>
                <c:pt idx="5">
                  <c:v>223</c:v>
                </c:pt>
                <c:pt idx="6">
                  <c:v>214</c:v>
                </c:pt>
                <c:pt idx="7">
                  <c:v>207</c:v>
                </c:pt>
                <c:pt idx="8">
                  <c:v>201</c:v>
                </c:pt>
                <c:pt idx="9">
                  <c:v>196</c:v>
                </c:pt>
                <c:pt idx="10">
                  <c:v>191</c:v>
                </c:pt>
                <c:pt idx="11">
                  <c:v>187</c:v>
                </c:pt>
                <c:pt idx="12">
                  <c:v>184</c:v>
                </c:pt>
                <c:pt idx="13">
                  <c:v>180</c:v>
                </c:pt>
                <c:pt idx="14">
                  <c:v>177</c:v>
                </c:pt>
                <c:pt idx="15">
                  <c:v>175</c:v>
                </c:pt>
                <c:pt idx="16">
                  <c:v>172</c:v>
                </c:pt>
                <c:pt idx="17">
                  <c:v>170</c:v>
                </c:pt>
                <c:pt idx="18">
                  <c:v>168</c:v>
                </c:pt>
                <c:pt idx="19">
                  <c:v>166</c:v>
                </c:pt>
              </c:numCache>
            </c:numRef>
          </c:val>
          <c:smooth val="0"/>
        </c:ser>
        <c:ser>
          <c:idx val="1"/>
          <c:order val="1"/>
          <c:tx>
            <c:strRef>
              <c:f>Sheet1!$C$1</c:f>
              <c:strCache>
                <c:ptCount val="1"/>
                <c:pt idx="0">
                  <c:v>15 тыс. долл./т</c:v>
                </c:pt>
              </c:strCache>
            </c:strRef>
          </c:tx>
          <c:spPr>
            <a:solidFill>
              <a:srgbClr val="6F8FA8"/>
            </a:solidFill>
            <a:ln w="38100" cap="flat">
              <a:solidFill>
                <a:srgbClr val="6F8F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F8FA8"/>
              </a:solidFill>
              <a:ln w="9525" cap="flat">
                <a:solidFill>
                  <a:srgbClr val="6F8FA8"/>
                </a:solidFill>
                <a:prstDash val="solid"/>
                <a:round/>
              </a:ln>
              <a:effectLst/>
            </c:spPr>
          </c:marker>
          <c:cat>
            <c:multiLvlStrRef>
              <c:f>Sheet1!$A$2:$A$21</c:f>
              <c:multiLvlStrCache>
                <c:ptCount val="20"/>
                <c:lvl>
                  <c:pt idx="0">
                    <c:v>0,5</c:v>
                  </c:pt>
                  <c:pt idx="1">
                    <c:v>1</c:v>
                  </c:pt>
                  <c:pt idx="2">
                    <c:v>1,5</c:v>
                  </c:pt>
                  <c:pt idx="3">
                    <c:v>2</c:v>
                  </c:pt>
                  <c:pt idx="4">
                    <c:v>2,5</c:v>
                  </c:pt>
                  <c:pt idx="5">
                    <c:v>3</c:v>
                  </c:pt>
                  <c:pt idx="6">
                    <c:v>3,5</c:v>
                  </c:pt>
                  <c:pt idx="7">
                    <c:v>4</c:v>
                  </c:pt>
                  <c:pt idx="8">
                    <c:v>4,5</c:v>
                  </c:pt>
                  <c:pt idx="9">
                    <c:v>5</c:v>
                  </c:pt>
                  <c:pt idx="10">
                    <c:v>5,5</c:v>
                  </c:pt>
                  <c:pt idx="11">
                    <c:v>6</c:v>
                  </c:pt>
                  <c:pt idx="12">
                    <c:v>6,5</c:v>
                  </c:pt>
                  <c:pt idx="13">
                    <c:v>7</c:v>
                  </c:pt>
                  <c:pt idx="14">
                    <c:v>7,5</c:v>
                  </c:pt>
                  <c:pt idx="15">
                    <c:v>8</c:v>
                  </c:pt>
                  <c:pt idx="16">
                    <c:v>8,5</c:v>
                  </c:pt>
                  <c:pt idx="17">
                    <c:v>9</c:v>
                  </c:pt>
                  <c:pt idx="18">
                    <c:v>9,5</c:v>
                  </c:pt>
                  <c:pt idx="19">
                    <c:v>10</c:v>
                  </c:pt>
                </c:lvl>
              </c:multiLvlStrCache>
            </c:multiLvlStrRef>
          </c:cat>
          <c:val>
            <c:numRef>
              <c:f>Sheet1!$C$2:$C$21</c:f>
              <c:numCache>
                <c:formatCode>General</c:formatCode>
                <c:ptCount val="20"/>
                <c:pt idx="0">
                  <c:v>191</c:v>
                </c:pt>
                <c:pt idx="1">
                  <c:v>154</c:v>
                </c:pt>
                <c:pt idx="2">
                  <c:v>137</c:v>
                </c:pt>
                <c:pt idx="3">
                  <c:v>126</c:v>
                </c:pt>
                <c:pt idx="4">
                  <c:v>118</c:v>
                </c:pt>
                <c:pt idx="5">
                  <c:v>113</c:v>
                </c:pt>
                <c:pt idx="6">
                  <c:v>108</c:v>
                </c:pt>
                <c:pt idx="7">
                  <c:v>105</c:v>
                </c:pt>
                <c:pt idx="8">
                  <c:v>102</c:v>
                </c:pt>
                <c:pt idx="9">
                  <c:v>99</c:v>
                </c:pt>
                <c:pt idx="10">
                  <c:v>97</c:v>
                </c:pt>
                <c:pt idx="11">
                  <c:v>95</c:v>
                </c:pt>
                <c:pt idx="12">
                  <c:v>93</c:v>
                </c:pt>
                <c:pt idx="13">
                  <c:v>91</c:v>
                </c:pt>
                <c:pt idx="14">
                  <c:v>90</c:v>
                </c:pt>
                <c:pt idx="15">
                  <c:v>88</c:v>
                </c:pt>
                <c:pt idx="16">
                  <c:v>87</c:v>
                </c:pt>
                <c:pt idx="17">
                  <c:v>86</c:v>
                </c:pt>
                <c:pt idx="18">
                  <c:v>85</c:v>
                </c:pt>
                <c:pt idx="19">
                  <c:v>84</c:v>
                </c:pt>
              </c:numCache>
            </c:numRef>
          </c:val>
          <c:smooth val="0"/>
        </c:ser>
        <c:ser>
          <c:idx val="2"/>
          <c:order val="2"/>
          <c:tx>
            <c:strRef>
              <c:f>Sheet1!$D$1</c:f>
              <c:strCache>
                <c:ptCount val="1"/>
                <c:pt idx="0">
                  <c:v>20 тыс. долл./т (сент. 2026 г.)</c:v>
                </c:pt>
              </c:strCache>
            </c:strRef>
          </c:tx>
          <c:spPr>
            <a:solidFill>
              <a:srgbClr val="B4C4D2"/>
            </a:solidFill>
            <a:ln w="38100" cap="flat">
              <a:solidFill>
                <a:srgbClr val="B4C4D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4C4D2"/>
              </a:solidFill>
              <a:ln w="9525" cap="flat">
                <a:solidFill>
                  <a:srgbClr val="B4C4D2"/>
                </a:solidFill>
                <a:prstDash val="solid"/>
                <a:round/>
              </a:ln>
              <a:effectLst/>
            </c:spPr>
          </c:marker>
          <c:cat>
            <c:multiLvlStrRef>
              <c:f>Sheet1!$A$2:$A$21</c:f>
              <c:multiLvlStrCache>
                <c:ptCount val="20"/>
                <c:lvl>
                  <c:pt idx="0">
                    <c:v>0,5</c:v>
                  </c:pt>
                  <c:pt idx="1">
                    <c:v>1</c:v>
                  </c:pt>
                  <c:pt idx="2">
                    <c:v>1,5</c:v>
                  </c:pt>
                  <c:pt idx="3">
                    <c:v>2</c:v>
                  </c:pt>
                  <c:pt idx="4">
                    <c:v>2,5</c:v>
                  </c:pt>
                  <c:pt idx="5">
                    <c:v>3</c:v>
                  </c:pt>
                  <c:pt idx="6">
                    <c:v>3,5</c:v>
                  </c:pt>
                  <c:pt idx="7">
                    <c:v>4</c:v>
                  </c:pt>
                  <c:pt idx="8">
                    <c:v>4,5</c:v>
                  </c:pt>
                  <c:pt idx="9">
                    <c:v>5</c:v>
                  </c:pt>
                  <c:pt idx="10">
                    <c:v>5,5</c:v>
                  </c:pt>
                  <c:pt idx="11">
                    <c:v>6</c:v>
                  </c:pt>
                  <c:pt idx="12">
                    <c:v>6,5</c:v>
                  </c:pt>
                  <c:pt idx="13">
                    <c:v>7</c:v>
                  </c:pt>
                  <c:pt idx="14">
                    <c:v>7,5</c:v>
                  </c:pt>
                  <c:pt idx="15">
                    <c:v>8</c:v>
                  </c:pt>
                  <c:pt idx="16">
                    <c:v>8,5</c:v>
                  </c:pt>
                  <c:pt idx="17">
                    <c:v>9</c:v>
                  </c:pt>
                  <c:pt idx="18">
                    <c:v>9,5</c:v>
                  </c:pt>
                  <c:pt idx="19">
                    <c:v>10</c:v>
                  </c:pt>
                </c:lvl>
              </c:multiLvlStrCache>
            </c:multiLvlStrRef>
          </c:cat>
          <c:val>
            <c:numRef>
              <c:f>Sheet1!$D$2:$D$21</c:f>
              <c:numCache>
                <c:formatCode>General</c:formatCode>
                <c:ptCount val="20"/>
                <c:pt idx="0">
                  <c:v>135</c:v>
                </c:pt>
                <c:pt idx="1">
                  <c:v>109</c:v>
                </c:pt>
                <c:pt idx="2">
                  <c:v>97</c:v>
                </c:pt>
                <c:pt idx="3">
                  <c:v>89</c:v>
                </c:pt>
                <c:pt idx="4">
                  <c:v>84</c:v>
                </c:pt>
                <c:pt idx="5">
                  <c:v>80</c:v>
                </c:pt>
                <c:pt idx="6">
                  <c:v>77</c:v>
                </c:pt>
                <c:pt idx="7">
                  <c:v>74</c:v>
                </c:pt>
                <c:pt idx="8">
                  <c:v>72</c:v>
                </c:pt>
                <c:pt idx="9">
                  <c:v>70</c:v>
                </c:pt>
                <c:pt idx="10">
                  <c:v>68</c:v>
                </c:pt>
                <c:pt idx="11">
                  <c:v>67</c:v>
                </c:pt>
                <c:pt idx="12">
                  <c:v>66</c:v>
                </c:pt>
                <c:pt idx="13">
                  <c:v>65</c:v>
                </c:pt>
                <c:pt idx="14">
                  <c:v>64</c:v>
                </c:pt>
                <c:pt idx="15">
                  <c:v>63</c:v>
                </c:pt>
                <c:pt idx="16">
                  <c:v>62</c:v>
                </c:pt>
                <c:pt idx="17">
                  <c:v>61</c:v>
                </c:pt>
                <c:pt idx="18">
                  <c:v>60</c:v>
                </c:pt>
                <c:pt idx="19">
                  <c:v>60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CE3"/>
            </a:solidFill>
            <a:prstDash val="solid"/>
            <a:round/>
          </a:ln>
        </c:spPr>
        <c:txPr>
          <a:bodyPr/>
          <a:lstStyle/>
          <a:p>
            <a:pPr>
              <a:defRPr sz="1200" b="0" i="0" u="none" strike="noStrike">
                <a:solidFill>
                  <a:srgbClr val="5F6B76"/>
                </a:solidFill>
                <a:latin typeface="Arial"/>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9525" cap="flat">
              <a:solidFill>
                <a:srgbClr val="E5E9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F6B76"/>
                </a:solidFill>
                <a:latin typeface="Arial"/>
              </a:defRPr>
            </a:pPr>
            <a:endParaRPr lang="en-US"/>
          </a:p>
        </c:txPr>
        <c:crossAx val="2094734554"/>
        <c:crosses val="autoZero"/>
        <c:crossBetween val="between"/>
        <c:majorUnit val="100"/>
      </c:valAx>
      <c:spPr>
        <a:noFill/>
        <a:ln>
          <a:noFill/>
        </a:ln>
        <a:effectLst/>
      </c:spPr>
    </c:plotArea>
    <c:legend>
      <c:legendPos val="t"/>
      <c:overlay val="0"/>
      <c:txPr>
        <a:bodyPr/>
        <a:lstStyle/>
        <a:p>
          <a:pPr>
            <a:defRPr sz="1300">
              <a:solidFill>
                <a:srgbClr val="1F2933"/>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параметр −30 %</c:v>
                </c:pt>
              </c:strCache>
            </c:strRef>
          </c:tx>
          <c:spPr>
            <a:solidFill>
              <a:srgbClr val="B4C4D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Затраты на реагенты (258–284)</c:v>
                  </c:pt>
                  <c:pt idx="1">
                    <c:v>Затраты на 1 м³ воды (248–293)</c:v>
                  </c:pt>
                  <c:pt idx="2">
                    <c:v>Объем воды Q (251–300)</c:v>
                  </c:pt>
                  <c:pt idx="3">
                    <c:v>Ресурс сорбента N (253–311)</c:v>
                  </c:pt>
                  <c:pt idx="4">
                    <c:v>Капитальные затраты (211–329)</c:v>
                  </c:pt>
                  <c:pt idx="5">
                    <c:v>Сквозное извлечение η (208–386)</c:v>
                  </c:pt>
                  <c:pt idx="6">
                    <c:v>Цена Li₂CO₃ (188–482)</c:v>
                  </c:pt>
                </c:lvl>
              </c:multiLvlStrCache>
            </c:multiLvlStrRef>
          </c:cat>
          <c:val>
            <c:numRef>
              <c:f>Sheet1!$B$2:$B$8</c:f>
              <c:numCache>
                <c:formatCode>General</c:formatCode>
                <c:ptCount val="7"/>
                <c:pt idx="0">
                  <c:v>-13</c:v>
                </c:pt>
                <c:pt idx="1">
                  <c:v>-22</c:v>
                </c:pt>
                <c:pt idx="2">
                  <c:v>30</c:v>
                </c:pt>
                <c:pt idx="3">
                  <c:v>40</c:v>
                </c:pt>
                <c:pt idx="4">
                  <c:v>-59</c:v>
                </c:pt>
                <c:pt idx="5">
                  <c:v>116</c:v>
                </c:pt>
                <c:pt idx="6">
                  <c:v>212</c:v>
                </c:pt>
              </c:numCache>
            </c:numRef>
          </c:val>
        </c:ser>
        <c:ser>
          <c:idx val="1"/>
          <c:order val="1"/>
          <c:tx>
            <c:strRef>
              <c:f>Sheet1!$C$1</c:f>
              <c:strCache>
                <c:ptCount val="1"/>
                <c:pt idx="0">
                  <c:v>параметр +30 %</c:v>
                </c:pt>
              </c:strCache>
            </c:strRef>
          </c:tx>
          <c:spPr>
            <a:solidFill>
              <a:srgbClr val="2E5A7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Затраты на реагенты (258–284)</c:v>
                  </c:pt>
                  <c:pt idx="1">
                    <c:v>Затраты на 1 м³ воды (248–293)</c:v>
                  </c:pt>
                  <c:pt idx="2">
                    <c:v>Объем воды Q (251–300)</c:v>
                  </c:pt>
                  <c:pt idx="3">
                    <c:v>Ресурс сорбента N (253–311)</c:v>
                  </c:pt>
                  <c:pt idx="4">
                    <c:v>Капитальные затраты (211–329)</c:v>
                  </c:pt>
                  <c:pt idx="5">
                    <c:v>Сквозное извлечение η (208–386)</c:v>
                  </c:pt>
                  <c:pt idx="6">
                    <c:v>Цена Li₂CO₃ (188–482)</c:v>
                  </c:pt>
                </c:lvl>
              </c:multiLvlStrCache>
            </c:multiLvlStrRef>
          </c:cat>
          <c:val>
            <c:numRef>
              <c:f>Sheet1!$C$2:$C$8</c:f>
              <c:numCache>
                <c:formatCode>General</c:formatCode>
                <c:ptCount val="7"/>
                <c:pt idx="0">
                  <c:v>14</c:v>
                </c:pt>
                <c:pt idx="1">
                  <c:v>22</c:v>
                </c:pt>
                <c:pt idx="2">
                  <c:v>-19</c:v>
                </c:pt>
                <c:pt idx="3">
                  <c:v>-18</c:v>
                </c:pt>
                <c:pt idx="4">
                  <c:v>59</c:v>
                </c:pt>
                <c:pt idx="5">
                  <c:v>-62</c:v>
                </c:pt>
                <c:pt idx="6">
                  <c:v>-83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250"/>
          <c:min val="-100"/>
        </c:scaling>
        <c:delete val="0"/>
        <c:axPos val="b"/>
        <c:majorGridlines>
          <c:spPr>
            <a:ln w="9525" cap="flat">
              <a:solidFill>
                <a:srgbClr val="E5E9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B76"/>
                </a:solidFill>
                <a:latin typeface="Arial"/>
              </a:defRPr>
            </a:pPr>
            <a:endParaRPr lang="en-US"/>
          </a:p>
        </c:txPr>
        <c:crossAx val="2094734554"/>
        <c:crosses val="autoZero"/>
        <c:crossBetween val="between"/>
        <c:majorUnit val="50"/>
      </c:valAx>
      <c:spPr>
        <a:noFill/>
        <a:ln>
          <a:noFill/>
        </a:ln>
        <a:effectLst/>
      </c:spPr>
    </c:plotArea>
    <c:legend>
      <c:legendPos val="b"/>
      <c:overlay val="0"/>
      <c:txPr>
        <a:bodyPr/>
        <a:lstStyle/>
        <a:p>
          <a:pPr>
            <a:defRPr sz="1300">
              <a:solidFill>
                <a:srgbClr val="1F29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Добрый день, уважаемые коллеги. Меня зовут Нина Мкртичян, я студентка Санкт-Петербургского государственного университета, направление «Нефтегазовое дело». Доклад подготовлен совместно с Марией Мкртичян, выпускницей Горного университета. Тема — сорбционное извлечение лития из высокоминерализованных попутных вод нефтегазовых месторождений. Главный вопрос работы: при каком составе рассола и каком масштабе такое извлечение технологически устойчиво и экономически оправдано.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Литий остается ключевым материалом энергетического перехода: по данным Геологической службы США, в 2025 году 88 процентов потребления пришлось на аккумуляторы, мировая добыча выросла на 31 процент — до 290 тысяч тонн. При этом рынок прошел резкий ценовой цикл: среднегодовая цена карбоната лития упала с 63,7 тысячи долларов за тонну в 2022 году до 9 тысяч в 2025-м, а к сентябрю 2026 года восстановилась почти до 20 тысяч. Поэтому любой новый источник мы проверяем во всем диапазоне цен последних лет, а не при пиковых значениях. Для России вопрос особенно важен: импорт карбоната лития — до 9 тысяч тонн в год, а основные поставщики, Чили и Аргентина, прекратили поставки.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Попутно добываемые воды — крупнотоннажный поток: по оценке Produced Water Society, объем пластовых вод на традиционных месторождениях мира вырастет с 25 до 38,6 миллиарда кубометров в год к 2030 году. Большая часть этой воды уже собирается, подготавливается и закачивается обратно в пласт в системе поддержания пластового давления, поэтому часть инфраструктуры для извлечения лития уже существует. В России на Лено-Тунгусскую провинцию приходится около 72 процентов ресурсов лития в подземных рассолах, опытные работы ведут ИНК, Газпром, Роснефть и Сургутнефтегаз. Ограничение — концентрация: 28–505 миллиграммов на литр, на порядок ниже, чем в рассолах саларов. Испарительная технология здесь неприменима, нужны методы прямого извлечения, а промышленного уровня из них достигла только сорбция на алюминиевых сорбентах.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Цель работы — определить, при каких сочетаниях концентрации лития, минерализации, отношений магний/литий и кальций/литий, годового объема воды и ресурса сорбента схема «предочистка — сорбция — десорбция — осаждение карбоната лития» будет технологически устойчивой и экономически оправданной. Рабочая гипотеза: определяет результат не сама концентрация лития, а ее сочетание с объемом воды, содержанием двухвалентных катионов, потребностью в реагентах и сроком службы сорбента. Работа выполнена в три этапа: обзор публикаций 2019–2026 годов с данными по реальным водам; расчет реагентной нагрузки полного умягчения; материальный баланс схемы и расчет пороговой концентрации лития.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Пороговая концентрация лития — это концентрация, при которой выручка от карбоната лития покрывает затраты. В числителе — затраты, отнесенные к кубометру воды: операционные и капитальные, причем капитальные растут с объемом в степени 0,6. В знаменателе — выход продукта с учетом сквозного извлечения и чистая выручка с тонны: цена минус затраты на реагенты и замену сорбента. Затраты на сорбент зависят от его цены, рабочей емкости и числа циклов до замены. Параметры справа — расчетные допущения, поэтому результаты характеризуют порядок величин и не заменяют промысловых испытаний. Чувствительность оценивалась изменением каждого параметра на 30 процентов.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Содержание лития в попутных водах практически не коррелирует с минерализацией и основными ионами, поэтому его нужно определять отдельно. В Восточной Сибири важно различать два типа вод. Подтоварные воды действующих установок подготовки нефти содержат 30–70 миллиграммов лития на литр; например, Ярактинская УПН дает всего около 26 тонн лития в год. Глубинные рассолы богаче — 170–410 миллиграммов на литр. Но в них очень много кальция, 121–154 грамма на литр, и магния: отношение магний/литий около 72, кальций/литий — 300–390. Это на порядок хуже, чем в водах формации Смаковер или газового промысла Вэйюань.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Посчитаем, сколько стоит полностью убрать кальций и магний из исходной воды: кальций осаждается содой, магний — гидроксидом натрия. Для одного кубометра знаменского рассола нужно около 320 килограммов соды и 97 килограммов щелочи — это около 92 долларов, тогда как лития в этом кубометре даже при стопроцентном извлечении — примерно на 20 долларов. Отношение составляет 4,7 для Знаменского и 5,5 для Ковыктинского месторождения. Для вод натрий-хлоридного типа, как Вэйюань, умягчение, наоборот, допустимо — реагенты стоят около 22 процентов от лития. Отсюда главный технологический вывод: для сибирских рассолов предочистка ограничивается удалением нефти, взвесей, железа, марганца и сероводорода, а кальций и магний надо удалять уже из элюата, объем которого на порядок меньше.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сравнили три класса неорганических сорбентов. Марганцевые и титановые ионные сита имеют высокую емкость — 15–50 миллиграммов на грамм, но требуют кислотной десорбции, теряют активную фазу и чувствительны к органике, которая всегда есть в попутной воде. Их готовность пока пилотная. Литий-алюминиевый сорбент ДГАЛ-хлор имеет наименьшую емкость, около 7 миллиграммов на грамм, зато десорбируется пресной водой без кислоты, мало деградирует и уже применяется в промышленности. Главное — он сохраняет селективность при содержании кальция более 100 граммов на литр без предварительного умягчения, что прямо следует из предыдущего вывода.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слайде — предлагаемая технологическая схема. Предочистка удаляет нефть, взвеси, железо, марганец и сероводород. Затем литий сорбируется в колоннах ДГАЛ-хлора, обедненный рассол возвращается в систему поддержания пластового давления. Слой промывают и десорбируют литий пресной водой. Кальций и магний удаляются уже из элюата, после чего раствор хлорида лития концентрируют обратным осмосом или выпариванием и осаждают карбонат лития содой. Ключевое подтверждение — опытная колонна на рассоле с 349 граммами хлорида магния на литр: динамическая емкость 3,6 грамма на килограмм, извлечение 80 процентов, отношение щелочноземельных металлов к литию снижается с 93 до 1,3–2,3, то есть в 40–70 раз за одну операцию, а конечный продукт имеет чистоту 99,6 процента.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Материальный баланс составлен для трех сценариев на российских данных. Неблагоприятный — подтоварная вода Ярактинской УПН: 60 миллиграммов на литр и 0,44 миллиона кубометров в год. Он дает всего 62 тонны карбоната лития в год при удельных затратах свыше 60 тысяч долларов за тонну — это масштаб опытной, а не промышленной установки. Базовый сценарий — 200 миллиграммов и 1,5 миллиона кубометров — дает 980 тонн при 11,2 тысячи долларов за тонну. Благоприятный — глубинный рассол — 4,7 тысячи тонн при 4,7 тысячи долларов за тонну, что согласуется с отраслевой оценкой 4–5 тысяч. На диаграмме справа видно, что в базовом сценарии основные потери лития — на стадии сорбции, 57 тонн, и получения продукта, 32,5 тонны; именно эти стадии определяют сквозное извлечение.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графике — пороговая концентрация лития в зависимости от годового объема воды при трех уровнях цены карбоната. При средней цене 2025 года, 9 тысяч долларов за тонну, порог составляет около 270 миллиграммов на литр при 1,5 миллиона кубометров в год и снижается до 166 при 10 миллионах. При 20 тысячах — уровне сентября 2026 года — это 97 и 60 миллиграммов на литр. Модель проверена: граничное значение, опубликованное для Оренбургского месторождения, 200 миллиграммов при 1,5 миллиона кубометров, соответствует цене около 11 тысяч, то есть порядок совпадает. Подтоварная вода Ярактинской УПН лежит ниже всех кривых даже при ценах 2026 года, а рассолы месторождения имени Кокорина при утвержденном отборе попадают в область реализуемости уже при цене 2025 года.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Анализ чувствительности показывает, какие параметры сильнее всего сдвигают порог. На первом месте цена карбоната лития: при изменении на 30 процентов порог меняется от 188 до 482 миллиграммов на литр. Далее — сквозное извлечение и капитальные затраты. Повышение сквозного извлечения на 10 процентных пунктов снижает порог примерно на 40 миллиграммов на литр. Ресурс сорбента в этом диапазоне влияет умеренно, но его роль нелинейна: при снижении срока службы с 500 до 200 циклов затраты на замену сорбента растут с 1,9 до 4,7 тысячи долларов на тонну — это больше половины цены продукта 2025 года. При этом самые длинные опубликованные серии испытаний на реальных попутных водах не превышают 20 циклов. Поэтому ресурс сорбента — главный источник неопределенности всей оценки.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Экологический эффект сорбционного извлечения не безусловен. Отказ от испарительных прудов устраняет главный источник потерь воды, но появляется расход пресной воды на десорбцию. По данным обзора 57 работ, четверть процессов прямого извлечения требует более 500 кубометров пресной воды на тонну карбоната — более чем в десять раз больше, чем испарительная технология. Наша оценка для ДГАЛ-хлора — 210–320 кубометров на тонну до рециркуляции, поэтому замкнутый контур с возвратом пермеата обратного осмоса — обязательное условие. Второе условие — совместимость обедненного рассола с пластом при обратной закачке: схема с ДГАЛ-хлором работает при естественном pH без умягчения и меньше всего меняет состав воды. Кроме того, закачка обедненного рассола в тот же пласт со временем разбавляет ресурс, это нужно оценивать гидродинамическим моделированием.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Итог работы сведен в матрицу критериев выбора объектов. Концентрация лития — не менее 200 миллиграммов на литр при 1,5 миллиона кубометров в год или 170–190 при 6–10 миллионах, при цене 9 тысяч долларов. Годовой объем — не менее 1,5 миллиона кубометров, то есть около 4 тысяч кубометров в сутки; этого можно достичь объединением потоков нескольких УПН или целевым отбором глубинных рассолов. По составу: при отношении магний/литий меньше 10 допустимы ионные сита после умягчения, а при высоких отношениях — ДГАЛ-хлор без умягчения с очисткой элюата. Отдельно учитываются минерализация, содержание нефтепродуктов, водопотребление и наличие инфраструктуры — действующих УПН и системы ППД.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Подведу итоги. Первое: литий в попутных водах не коррелирует с минерализацией, и в Восточной Сибири нужно разделять подтоварные воды УПН и глубинные рассолы. Второе: для хлоридно-кальциевых рассолов полное умягчение экономически исключено, реагенты в 4,7–5,5 раза дороже лития; рациональна схема с ограниченной предочисткой и сорбентом ДГАЛ-хлор. Третье: сквозное извлечение составляет 0,44–0,78, а пороговая концентрация при цене 2025 года — около 270 миллиграммов на литр при 1,5 миллиона кубометров и 166 при 10 миллионах. Четвертое: главные факторы — цена, извлечение и капитальные затраты, а главная неопределенность — ресурс сорбента. И пятое: для опытно-промышленной проверки приоритетны глубинные рассолы с концентрацией не ниже 200 миллиграммов на литр, отбором от 1,5–3 миллиона кубометров в год и действующей системой ППД.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Спасибо за внимание, готова ответить на вопросы.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B37"/>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600" dirty="0">
                <a:solidFill>
                  <a:srgbClr val="AFC0CF"/>
                </a:solidFill>
                <a:latin typeface="Calibri" pitchFamily="34" charset="0"/>
                <a:ea typeface="Calibri" pitchFamily="34" charset="-122"/>
                <a:cs typeface="Calibri" pitchFamily="34" charset="-120"/>
              </a:rPr>
              <a:t>Санкт-Петербургский государственный университет</a:t>
            </a:r>
            <a:endParaRPr lang="en-US" sz="1600" dirty="0"/>
          </a:p>
        </p:txBody>
      </p:sp>
      <p:sp>
        <p:nvSpPr>
          <p:cNvPr id="3" name="Text 1"/>
          <p:cNvSpPr txBox="1"/>
          <p:nvPr/>
        </p:nvSpPr>
        <p:spPr>
          <a:xfrm>
            <a:off x="822960" y="1463040"/>
            <a:ext cx="10515600" cy="18288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Сорбционное извлечение лития из высокоминерализованных попутных вод нефтегазовых месторождений</a:t>
            </a:r>
            <a:endParaRPr lang="en-US" sz="3600" dirty="0"/>
          </a:p>
        </p:txBody>
      </p:sp>
      <p:sp>
        <p:nvSpPr>
          <p:cNvPr id="4" name="Text 2"/>
          <p:cNvSpPr txBox="1"/>
          <p:nvPr/>
        </p:nvSpPr>
        <p:spPr>
          <a:xfrm>
            <a:off x="822960" y="3520440"/>
            <a:ext cx="10515600" cy="822960"/>
          </a:xfrm>
          <a:prstGeom prst="rect">
            <a:avLst/>
          </a:prstGeom>
          <a:noFill/>
          <a:ln/>
        </p:spPr>
        <p:txBody>
          <a:bodyPr wrap="square" lIns="0" tIns="0" rIns="0" bIns="0" rtlCol="0" anchor="t"/>
          <a:lstStyle/>
          <a:p>
            <a:pPr indent="0" marL="0">
              <a:buNone/>
            </a:pPr>
            <a:r>
              <a:rPr lang="en-US" sz="2200" dirty="0">
                <a:solidFill>
                  <a:srgbClr val="D3DDE6"/>
                </a:solidFill>
                <a:latin typeface="Calibri" pitchFamily="34" charset="0"/>
                <a:ea typeface="Calibri" pitchFamily="34" charset="-122"/>
                <a:cs typeface="Calibri" pitchFamily="34" charset="-120"/>
              </a:rPr>
              <a:t>Влияние состава рассола на технологическую и экономическую реализуемость</a:t>
            </a:r>
            <a:endParaRPr lang="en-US" sz="2200" dirty="0"/>
          </a:p>
        </p:txBody>
      </p:sp>
      <p:sp>
        <p:nvSpPr>
          <p:cNvPr id="5" name="Text 3"/>
          <p:cNvSpPr txBox="1"/>
          <p:nvPr/>
        </p:nvSpPr>
        <p:spPr>
          <a:xfrm>
            <a:off x="822960" y="4754880"/>
            <a:ext cx="10515600" cy="82296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Н. А. Мкртичян</a:t>
            </a:r>
            <a:pPr indent="0" marL="0">
              <a:spcAft>
                <a:spcPts val="400"/>
              </a:spcAft>
              <a:buNone/>
            </a:pPr>
            <a:r>
              <a:rPr lang="en-US" sz="1600" dirty="0">
                <a:solidFill>
                  <a:srgbClr val="AFC0CF"/>
                </a:solidFill>
                <a:latin typeface="Calibri" pitchFamily="34" charset="0"/>
                <a:ea typeface="Calibri" pitchFamily="34" charset="-122"/>
                <a:cs typeface="Calibri" pitchFamily="34" charset="-120"/>
              </a:rPr>
              <a:t> — Санкт-Петербургский государственный университет</a:t>
            </a:r>
            <a:endParaRPr lang="en-US" sz="1600" dirty="0"/>
          </a:p>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М. А. Мкртичян</a:t>
            </a:r>
            <a:pPr indent="0" marL="0">
              <a:spcAft>
                <a:spcPts val="400"/>
              </a:spcAft>
              <a:buNone/>
            </a:pPr>
            <a:r>
              <a:rPr lang="en-US" sz="1600" dirty="0">
                <a:solidFill>
                  <a:srgbClr val="AFC0CF"/>
                </a:solidFill>
                <a:latin typeface="Calibri" pitchFamily="34" charset="0"/>
                <a:ea typeface="Calibri" pitchFamily="34" charset="-122"/>
                <a:cs typeface="Calibri" pitchFamily="34" charset="-120"/>
              </a:rPr>
              <a:t> — Санкт-Петербургский горный университет императрицы Екатерины II</a:t>
            </a:r>
            <a:endParaRPr lang="en-US" sz="1600" dirty="0"/>
          </a:p>
        </p:txBody>
      </p:sp>
      <p:sp>
        <p:nvSpPr>
          <p:cNvPr id="6" name="Text 4"/>
          <p:cNvSpPr txBox="1"/>
          <p:nvPr/>
        </p:nvSpPr>
        <p:spPr>
          <a:xfrm>
            <a:off x="822960" y="5943600"/>
            <a:ext cx="5486400" cy="320040"/>
          </a:xfrm>
          <a:prstGeom prst="rect">
            <a:avLst/>
          </a:prstGeom>
          <a:noFill/>
          <a:ln/>
        </p:spPr>
        <p:txBody>
          <a:bodyPr wrap="square" lIns="0" tIns="0" rIns="0" bIns="0" rtlCol="0" anchor="ctr"/>
          <a:lstStyle/>
          <a:p>
            <a:pPr indent="0" marL="0">
              <a:buNone/>
            </a:pPr>
            <a:r>
              <a:rPr lang="en-US" sz="1400" dirty="0">
                <a:solidFill>
                  <a:srgbClr val="AFC0CF"/>
                </a:solidFill>
                <a:latin typeface="Calibri" pitchFamily="34" charset="0"/>
                <a:ea typeface="Calibri" pitchFamily="34" charset="-122"/>
                <a:cs typeface="Calibri" pitchFamily="34" charset="-120"/>
              </a:rPr>
              <a:t>Санкт-Петербург,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АКТУАЛЬНОСТЬ</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Литий — ключевой материал энергетического перехода, но рынок нестабилен</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2 / 16</a:t>
            </a:r>
            <a:endParaRPr lang="en-US" sz="1000" dirty="0"/>
          </a:p>
        </p:txBody>
      </p:sp>
      <p:sp>
        <p:nvSpPr>
          <p:cNvPr id="7" name="Text 4"/>
          <p:cNvSpPr txBox="1"/>
          <p:nvPr/>
        </p:nvSpPr>
        <p:spPr>
          <a:xfrm>
            <a:off x="548640" y="1691640"/>
            <a:ext cx="4206240" cy="640080"/>
          </a:xfrm>
          <a:prstGeom prst="rect">
            <a:avLst/>
          </a:prstGeom>
          <a:noFill/>
          <a:ln/>
        </p:spPr>
        <p:txBody>
          <a:bodyPr wrap="square" lIns="0" tIns="0" rIns="0" bIns="0" rtlCol="0" anchor="b"/>
          <a:lstStyle/>
          <a:p>
            <a:pPr indent="0" marL="0">
              <a:buNone/>
            </a:pPr>
            <a:r>
              <a:rPr lang="en-US" sz="3600" b="1" dirty="0">
                <a:solidFill>
                  <a:srgbClr val="2E5A77"/>
                </a:solidFill>
                <a:latin typeface="Calibri" pitchFamily="34" charset="0"/>
                <a:ea typeface="Calibri" pitchFamily="34" charset="-122"/>
                <a:cs typeface="Calibri" pitchFamily="34" charset="-120"/>
              </a:rPr>
              <a:t>88 %</a:t>
            </a:r>
            <a:endParaRPr lang="en-US" sz="3600" dirty="0"/>
          </a:p>
        </p:txBody>
      </p:sp>
      <p:sp>
        <p:nvSpPr>
          <p:cNvPr id="8" name="Text 5"/>
          <p:cNvSpPr txBox="1"/>
          <p:nvPr/>
        </p:nvSpPr>
        <p:spPr>
          <a:xfrm>
            <a:off x="548640" y="2377440"/>
            <a:ext cx="4206240" cy="685800"/>
          </a:xfrm>
          <a:prstGeom prst="rect">
            <a:avLst/>
          </a:prstGeom>
          <a:noFill/>
          <a:ln/>
        </p:spPr>
        <p:txBody>
          <a:bodyPr wrap="square" lIns="0" tIns="0" rIns="0" bIns="0" rtlCol="0" anchor="t"/>
          <a:lstStyle/>
          <a:p>
            <a:pPr indent="0" marL="0">
              <a:buNone/>
            </a:pPr>
            <a:r>
              <a:rPr lang="en-US" sz="1400" dirty="0">
                <a:solidFill>
                  <a:srgbClr val="5F6B76"/>
                </a:solidFill>
                <a:latin typeface="Calibri" pitchFamily="34" charset="0"/>
                <a:ea typeface="Calibri" pitchFamily="34" charset="-122"/>
                <a:cs typeface="Calibri" pitchFamily="34" charset="-120"/>
              </a:rPr>
              <a:t>доля аккумуляторов в мировом потреблении лития, 2025 г.</a:t>
            </a:r>
            <a:endParaRPr lang="en-US" sz="1400" dirty="0"/>
          </a:p>
        </p:txBody>
      </p:sp>
      <p:sp>
        <p:nvSpPr>
          <p:cNvPr id="9" name="Text 6"/>
          <p:cNvSpPr txBox="1"/>
          <p:nvPr/>
        </p:nvSpPr>
        <p:spPr>
          <a:xfrm>
            <a:off x="548640" y="3154680"/>
            <a:ext cx="4206240" cy="640080"/>
          </a:xfrm>
          <a:prstGeom prst="rect">
            <a:avLst/>
          </a:prstGeom>
          <a:noFill/>
          <a:ln/>
        </p:spPr>
        <p:txBody>
          <a:bodyPr wrap="square" lIns="0" tIns="0" rIns="0" bIns="0" rtlCol="0" anchor="b"/>
          <a:lstStyle/>
          <a:p>
            <a:pPr indent="0" marL="0">
              <a:buNone/>
            </a:pPr>
            <a:r>
              <a:rPr lang="en-US" sz="3600" b="1" dirty="0">
                <a:solidFill>
                  <a:srgbClr val="2E5A77"/>
                </a:solidFill>
                <a:latin typeface="Calibri" pitchFamily="34" charset="0"/>
                <a:ea typeface="Calibri" pitchFamily="34" charset="-122"/>
                <a:cs typeface="Calibri" pitchFamily="34" charset="-120"/>
              </a:rPr>
              <a:t>290 тыс. т</a:t>
            </a:r>
            <a:endParaRPr lang="en-US" sz="3600" dirty="0"/>
          </a:p>
        </p:txBody>
      </p:sp>
      <p:sp>
        <p:nvSpPr>
          <p:cNvPr id="10" name="Text 7"/>
          <p:cNvSpPr txBox="1"/>
          <p:nvPr/>
        </p:nvSpPr>
        <p:spPr>
          <a:xfrm>
            <a:off x="548640" y="3840480"/>
            <a:ext cx="4206240" cy="685800"/>
          </a:xfrm>
          <a:prstGeom prst="rect">
            <a:avLst/>
          </a:prstGeom>
          <a:noFill/>
          <a:ln/>
        </p:spPr>
        <p:txBody>
          <a:bodyPr wrap="square" lIns="0" tIns="0" rIns="0" bIns="0" rtlCol="0" anchor="t"/>
          <a:lstStyle/>
          <a:p>
            <a:pPr indent="0" marL="0">
              <a:buNone/>
            </a:pPr>
            <a:r>
              <a:rPr lang="en-US" sz="1400" dirty="0">
                <a:solidFill>
                  <a:srgbClr val="5F6B76"/>
                </a:solidFill>
                <a:latin typeface="Calibri" pitchFamily="34" charset="0"/>
                <a:ea typeface="Calibri" pitchFamily="34" charset="-122"/>
                <a:cs typeface="Calibri" pitchFamily="34" charset="-120"/>
              </a:rPr>
              <a:t>мировая добыча лития в 2025 г. (+31 % к 2024 г.)</a:t>
            </a:r>
            <a:endParaRPr lang="en-US" sz="1400" dirty="0"/>
          </a:p>
        </p:txBody>
      </p:sp>
      <p:sp>
        <p:nvSpPr>
          <p:cNvPr id="11" name="Text 8"/>
          <p:cNvSpPr txBox="1"/>
          <p:nvPr/>
        </p:nvSpPr>
        <p:spPr>
          <a:xfrm>
            <a:off x="548640" y="4617720"/>
            <a:ext cx="4206240" cy="640080"/>
          </a:xfrm>
          <a:prstGeom prst="rect">
            <a:avLst/>
          </a:prstGeom>
          <a:noFill/>
          <a:ln/>
        </p:spPr>
        <p:txBody>
          <a:bodyPr wrap="square" lIns="0" tIns="0" rIns="0" bIns="0" rtlCol="0" anchor="b"/>
          <a:lstStyle/>
          <a:p>
            <a:pPr indent="0" marL="0">
              <a:buNone/>
            </a:pPr>
            <a:r>
              <a:rPr lang="en-US" sz="3600" b="1" dirty="0">
                <a:solidFill>
                  <a:srgbClr val="2E5A77"/>
                </a:solidFill>
                <a:latin typeface="Calibri" pitchFamily="34" charset="0"/>
                <a:ea typeface="Calibri" pitchFamily="34" charset="-122"/>
                <a:cs typeface="Calibri" pitchFamily="34" charset="-120"/>
              </a:rPr>
              <a:t>до 9 тыс. т/год</a:t>
            </a:r>
            <a:endParaRPr lang="en-US" sz="3600" dirty="0"/>
          </a:p>
        </p:txBody>
      </p:sp>
      <p:sp>
        <p:nvSpPr>
          <p:cNvPr id="12" name="Text 9"/>
          <p:cNvSpPr txBox="1"/>
          <p:nvPr/>
        </p:nvSpPr>
        <p:spPr>
          <a:xfrm>
            <a:off x="548640" y="5303520"/>
            <a:ext cx="4206240" cy="685800"/>
          </a:xfrm>
          <a:prstGeom prst="rect">
            <a:avLst/>
          </a:prstGeom>
          <a:noFill/>
          <a:ln/>
        </p:spPr>
        <p:txBody>
          <a:bodyPr wrap="square" lIns="0" tIns="0" rIns="0" bIns="0" rtlCol="0" anchor="t"/>
          <a:lstStyle/>
          <a:p>
            <a:pPr indent="0" marL="0">
              <a:buNone/>
            </a:pPr>
            <a:r>
              <a:rPr lang="en-US" sz="1400" dirty="0">
                <a:solidFill>
                  <a:srgbClr val="5F6B76"/>
                </a:solidFill>
                <a:latin typeface="Calibri" pitchFamily="34" charset="0"/>
                <a:ea typeface="Calibri" pitchFamily="34" charset="-122"/>
                <a:cs typeface="Calibri" pitchFamily="34" charset="-120"/>
              </a:rPr>
              <a:t>импорт Li</a:t>
            </a:r>
            <a:pPr indent="0" marL="0">
              <a:buNone/>
            </a:pPr>
            <a:r>
              <a:rPr lang="en-US" sz="1400" baseline="-40000" dirty="0">
                <a:solidFill>
                  <a:srgbClr val="5F6B76"/>
                </a:solidFill>
                <a:latin typeface="Calibri" pitchFamily="34" charset="0"/>
                <a:ea typeface="Calibri" pitchFamily="34" charset="-122"/>
                <a:cs typeface="Calibri" pitchFamily="34" charset="-120"/>
              </a:rPr>
              <a:t>2</a:t>
            </a:r>
            <a:pPr indent="0" marL="0">
              <a:buNone/>
            </a:pPr>
            <a:r>
              <a:rPr lang="en-US" sz="1400" dirty="0">
                <a:solidFill>
                  <a:srgbClr val="5F6B76"/>
                </a:solidFill>
                <a:latin typeface="Calibri" pitchFamily="34" charset="0"/>
                <a:ea typeface="Calibri" pitchFamily="34" charset="-122"/>
                <a:cs typeface="Calibri" pitchFamily="34" charset="-120"/>
              </a:rPr>
              <a:t>CO</a:t>
            </a:r>
            <a:pPr indent="0" marL="0">
              <a:buNone/>
            </a:pPr>
            <a:r>
              <a:rPr lang="en-US" sz="1400" baseline="-40000" dirty="0">
                <a:solidFill>
                  <a:srgbClr val="5F6B76"/>
                </a:solidFill>
                <a:latin typeface="Calibri" pitchFamily="34" charset="0"/>
                <a:ea typeface="Calibri" pitchFamily="34" charset="-122"/>
                <a:cs typeface="Calibri" pitchFamily="34" charset="-120"/>
              </a:rPr>
              <a:t>3</a:t>
            </a:r>
            <a:pPr indent="0" marL="0">
              <a:buNone/>
            </a:pPr>
            <a:r>
              <a:rPr lang="en-US" sz="1400" dirty="0">
                <a:solidFill>
                  <a:srgbClr val="5F6B76"/>
                </a:solidFill>
                <a:latin typeface="Calibri" pitchFamily="34" charset="0"/>
                <a:ea typeface="Calibri" pitchFamily="34" charset="-122"/>
                <a:cs typeface="Calibri" pitchFamily="34" charset="-120"/>
              </a:rPr>
              <a:t> в Россию; поставки из Чили и Аргентины прекращены</a:t>
            </a:r>
            <a:endParaRPr lang="en-US" sz="1400" dirty="0"/>
          </a:p>
        </p:txBody>
      </p:sp>
      <p:sp>
        <p:nvSpPr>
          <p:cNvPr id="13" name="Text 10"/>
          <p:cNvSpPr txBox="1"/>
          <p:nvPr/>
        </p:nvSpPr>
        <p:spPr>
          <a:xfrm>
            <a:off x="5394960" y="1691640"/>
            <a:ext cx="6217920" cy="36576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Среднегодовая цена Li</a:t>
            </a:r>
            <a:pPr indent="0" marL="0">
              <a:buNone/>
            </a:pPr>
            <a:r>
              <a:rPr lang="en-US" sz="1600" b="1" baseline="-40000" dirty="0">
                <a:solidFill>
                  <a:srgbClr val="1F2933"/>
                </a:solidFill>
                <a:latin typeface="Calibri" pitchFamily="34" charset="0"/>
                <a:ea typeface="Calibri" pitchFamily="34" charset="-122"/>
                <a:cs typeface="Calibri" pitchFamily="34" charset="-120"/>
              </a:rPr>
              <a:t>2</a:t>
            </a:r>
            <a:pPr indent="0" marL="0">
              <a:buNone/>
            </a:pPr>
            <a:r>
              <a:rPr lang="en-US" sz="1600" b="1" dirty="0">
                <a:solidFill>
                  <a:srgbClr val="1F2933"/>
                </a:solidFill>
                <a:latin typeface="Calibri" pitchFamily="34" charset="0"/>
                <a:ea typeface="Calibri" pitchFamily="34" charset="-122"/>
                <a:cs typeface="Calibri" pitchFamily="34" charset="-120"/>
              </a:rPr>
              <a:t>CO</a:t>
            </a:r>
            <a:pPr indent="0" marL="0">
              <a:buNone/>
            </a:pPr>
            <a:r>
              <a:rPr lang="en-US" sz="1600" b="1" baseline="-40000" dirty="0">
                <a:solidFill>
                  <a:srgbClr val="1F2933"/>
                </a:solidFill>
                <a:latin typeface="Calibri" pitchFamily="34" charset="0"/>
                <a:ea typeface="Calibri" pitchFamily="34" charset="-122"/>
                <a:cs typeface="Calibri" pitchFamily="34" charset="-120"/>
              </a:rPr>
              <a:t>3</a:t>
            </a:r>
            <a:pPr indent="0" marL="0">
              <a:buNone/>
            </a:pPr>
            <a:r>
              <a:rPr lang="en-US" sz="1600" b="1" dirty="0">
                <a:solidFill>
                  <a:srgbClr val="1F2933"/>
                </a:solidFill>
                <a:latin typeface="Calibri" pitchFamily="34" charset="0"/>
                <a:ea typeface="Calibri" pitchFamily="34" charset="-122"/>
                <a:cs typeface="Calibri" pitchFamily="34" charset="-120"/>
              </a:rPr>
              <a:t> аккумуляторного качества, тыс. долл./т</a:t>
            </a:r>
            <a:endParaRPr lang="en-US" sz="1600" dirty="0"/>
          </a:p>
        </p:txBody>
      </p:sp>
      <p:graphicFrame>
        <p:nvGraphicFramePr>
          <p:cNvPr id="14" name="Chart 0" descr=""/>
          <p:cNvGraphicFramePr/>
          <p:nvPr/>
        </p:nvGraphicFramePr>
        <p:xfrm>
          <a:off x="5303520" y="2103120"/>
          <a:ext cx="6309360" cy="3840480"/>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Источники: U.S. Geological Survey, Mineral Commodity Summaries 2026; Benchmark Mineral Intelligence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ОБЪЕКТ ИССЛЕДОВАНИЯ</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Попутные воды: готовая инфраструктура, но низкая концентрация лития</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3 / 16</a:t>
            </a:r>
            <a:endParaRPr lang="en-US" sz="1000" dirty="0"/>
          </a:p>
        </p:txBody>
      </p:sp>
      <p:sp>
        <p:nvSpPr>
          <p:cNvPr id="7" name="Shape 4"/>
          <p:cNvSpPr/>
          <p:nvPr/>
        </p:nvSpPr>
        <p:spPr>
          <a:xfrm>
            <a:off x="548640" y="1691640"/>
            <a:ext cx="5349240" cy="4160520"/>
          </a:xfrm>
          <a:prstGeom prst="rect">
            <a:avLst/>
          </a:prstGeom>
          <a:solidFill>
            <a:srgbClr val="EEF2F5"/>
          </a:solidFill>
          <a:ln w="12700">
            <a:solidFill>
              <a:srgbClr val="EEF2F5"/>
            </a:solidFill>
            <a:prstDash val="solid"/>
          </a:ln>
        </p:spPr>
      </p:sp>
      <p:sp>
        <p:nvSpPr>
          <p:cNvPr id="8" name="Shape 5"/>
          <p:cNvSpPr/>
          <p:nvPr/>
        </p:nvSpPr>
        <p:spPr>
          <a:xfrm>
            <a:off x="6291072" y="1691640"/>
            <a:ext cx="5349240" cy="4160520"/>
          </a:xfrm>
          <a:prstGeom prst="rect">
            <a:avLst/>
          </a:prstGeom>
          <a:solidFill>
            <a:srgbClr val="EEF2F5"/>
          </a:solidFill>
          <a:ln w="12700">
            <a:solidFill>
              <a:srgbClr val="EEF2F5"/>
            </a:solidFill>
            <a:prstDash val="solid"/>
          </a:ln>
        </p:spPr>
      </p:sp>
      <p:sp>
        <p:nvSpPr>
          <p:cNvPr id="9" name="Text 6"/>
          <p:cNvSpPr txBox="1"/>
          <p:nvPr/>
        </p:nvSpPr>
        <p:spPr>
          <a:xfrm>
            <a:off x="822960" y="1920240"/>
            <a:ext cx="4800600" cy="411480"/>
          </a:xfrm>
          <a:prstGeom prst="rect">
            <a:avLst/>
          </a:prstGeom>
          <a:noFill/>
          <a:ln/>
        </p:spPr>
        <p:txBody>
          <a:bodyPr wrap="square" lIns="0" tIns="0" rIns="0" bIns="0" rtlCol="0" anchor="ctr"/>
          <a:lstStyle/>
          <a:p>
            <a:pPr indent="0" marL="0">
              <a:buNone/>
            </a:pPr>
            <a:r>
              <a:rPr lang="en-US" sz="2000" b="1" dirty="0">
                <a:solidFill>
                  <a:srgbClr val="2E5A77"/>
                </a:solidFill>
                <a:latin typeface="Calibri" pitchFamily="34" charset="0"/>
                <a:ea typeface="Calibri" pitchFamily="34" charset="-122"/>
                <a:cs typeface="Calibri" pitchFamily="34" charset="-120"/>
              </a:rPr>
              <a:t>Возможности</a:t>
            </a:r>
            <a:endParaRPr lang="en-US" sz="2000" dirty="0"/>
          </a:p>
        </p:txBody>
      </p:sp>
      <p:sp>
        <p:nvSpPr>
          <p:cNvPr id="10" name="Text 7"/>
          <p:cNvSpPr txBox="1"/>
          <p:nvPr/>
        </p:nvSpPr>
        <p:spPr>
          <a:xfrm>
            <a:off x="822960" y="2468880"/>
            <a:ext cx="4800600" cy="31546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Объем пластовых вод в мире: 25 → 38,6 млрд м³/год (2020 → 2030 гг.)</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Вода уже собирается, подготавливается и закачивается в систему ППД — ниже капитальные затраты</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Около 72 % ресурсов лития в подземных рассолах России — Лено-Тунгусская провинция</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Опытные работы: ИНК, «Газпром», «Роснефть», «Сургутнефтегаз»</a:t>
            </a:r>
            <a:endParaRPr lang="en-US" sz="1600" dirty="0"/>
          </a:p>
        </p:txBody>
      </p:sp>
      <p:sp>
        <p:nvSpPr>
          <p:cNvPr id="11" name="Text 8"/>
          <p:cNvSpPr txBox="1"/>
          <p:nvPr/>
        </p:nvSpPr>
        <p:spPr>
          <a:xfrm>
            <a:off x="6565392" y="1920240"/>
            <a:ext cx="4800600" cy="411480"/>
          </a:xfrm>
          <a:prstGeom prst="rect">
            <a:avLst/>
          </a:prstGeom>
          <a:noFill/>
          <a:ln/>
        </p:spPr>
        <p:txBody>
          <a:bodyPr wrap="square" lIns="0" tIns="0" rIns="0" bIns="0" rtlCol="0" anchor="ctr"/>
          <a:lstStyle/>
          <a:p>
            <a:pPr indent="0" marL="0">
              <a:buNone/>
            </a:pPr>
            <a:r>
              <a:rPr lang="en-US" sz="2000" b="1" dirty="0">
                <a:solidFill>
                  <a:srgbClr val="2E5A77"/>
                </a:solidFill>
                <a:latin typeface="Calibri" pitchFamily="34" charset="0"/>
                <a:ea typeface="Calibri" pitchFamily="34" charset="-122"/>
                <a:cs typeface="Calibri" pitchFamily="34" charset="-120"/>
              </a:rPr>
              <a:t>Ограничения</a:t>
            </a:r>
            <a:endParaRPr lang="en-US" sz="2000" dirty="0"/>
          </a:p>
        </p:txBody>
      </p:sp>
      <p:sp>
        <p:nvSpPr>
          <p:cNvPr id="12" name="Text 9"/>
          <p:cNvSpPr txBox="1"/>
          <p:nvPr/>
        </p:nvSpPr>
        <p:spPr>
          <a:xfrm>
            <a:off x="6565392" y="2468880"/>
            <a:ext cx="4800600" cy="31546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Li в нефтепромысловых рассолах 28–505 мг/л против 1500–2420 мг/кг в рассолах саларов</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Испарительная технология неприменима — нужны методы прямого извлечения лития (DLE)</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Промышленная готовность — только у сорбции на Al-сорбентах; ионные сита на пилотной стадии</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Большинство экспериментов выполнено на модельных растворах</a:t>
            </a:r>
            <a:endParaRPr lang="en-US" sz="1600" dirty="0"/>
          </a:p>
        </p:txBody>
      </p:sp>
      <p:sp>
        <p:nvSpPr>
          <p:cNvPr id="13" name="Text 10"/>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Knapik et al., 2023; Farahbakhsh et al., 2024; Болдырев и др., 2025; Савиновский, Касперович, 2024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ЦЕЛЬ И МЕТОДЫ</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Цель работы и подход к оценке</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4 / 16</a:t>
            </a:r>
            <a:endParaRPr lang="en-US" sz="1000" dirty="0"/>
          </a:p>
        </p:txBody>
      </p:sp>
      <p:sp>
        <p:nvSpPr>
          <p:cNvPr id="7" name="Text 4"/>
          <p:cNvSpPr txBox="1"/>
          <p:nvPr/>
        </p:nvSpPr>
        <p:spPr>
          <a:xfrm>
            <a:off x="548640" y="1645920"/>
            <a:ext cx="11094415" cy="91440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Цель:</a:t>
            </a:r>
            <a:pPr indent="0" marL="0">
              <a:buNone/>
            </a:pPr>
            <a:r>
              <a:rPr lang="en-US" sz="1800" dirty="0">
                <a:solidFill>
                  <a:srgbClr val="1F2933"/>
                </a:solidFill>
                <a:latin typeface="Calibri" pitchFamily="34" charset="0"/>
                <a:ea typeface="Calibri" pitchFamily="34" charset="-122"/>
                <a:cs typeface="Calibri" pitchFamily="34" charset="-120"/>
              </a:rPr>
              <a:t> определить, при каких сочетаниях C</a:t>
            </a:r>
            <a:pPr indent="0" marL="0">
              <a:buNone/>
            </a:pPr>
            <a:r>
              <a:rPr lang="en-US" sz="1800" baseline="-40000" dirty="0">
                <a:solidFill>
                  <a:srgbClr val="1F2933"/>
                </a:solidFill>
                <a:latin typeface="Calibri" pitchFamily="34" charset="0"/>
                <a:ea typeface="Calibri" pitchFamily="34" charset="-122"/>
                <a:cs typeface="Calibri" pitchFamily="34" charset="-120"/>
              </a:rPr>
              <a:t>Li</a:t>
            </a:r>
            <a:pPr indent="0" marL="0">
              <a:buNone/>
            </a:pPr>
            <a:r>
              <a:rPr lang="en-US" sz="1800" dirty="0">
                <a:solidFill>
                  <a:srgbClr val="1F2933"/>
                </a:solidFill>
                <a:latin typeface="Calibri" pitchFamily="34" charset="0"/>
                <a:ea typeface="Calibri" pitchFamily="34" charset="-122"/>
                <a:cs typeface="Calibri" pitchFamily="34" charset="-120"/>
              </a:rPr>
              <a:t>, минерализации, Mg/Li, Ca/Li, объема воды и ресурса сорбента схема «предочистка — сорбция — десорбция — осаждение Li</a:t>
            </a:r>
            <a:pPr indent="0" marL="0">
              <a:buNone/>
            </a:pPr>
            <a:r>
              <a:rPr lang="en-US" sz="1800" baseline="-40000" dirty="0">
                <a:solidFill>
                  <a:srgbClr val="1F2933"/>
                </a:solidFill>
                <a:latin typeface="Calibri" pitchFamily="34" charset="0"/>
                <a:ea typeface="Calibri" pitchFamily="34" charset="-122"/>
                <a:cs typeface="Calibri" pitchFamily="34" charset="-120"/>
              </a:rPr>
              <a:t>2</a:t>
            </a:r>
            <a:pPr indent="0" marL="0">
              <a:buNone/>
            </a:pPr>
            <a:r>
              <a:rPr lang="en-US" sz="1800" dirty="0">
                <a:solidFill>
                  <a:srgbClr val="1F2933"/>
                </a:solidFill>
                <a:latin typeface="Calibri" pitchFamily="34" charset="0"/>
                <a:ea typeface="Calibri" pitchFamily="34" charset="-122"/>
                <a:cs typeface="Calibri" pitchFamily="34" charset="-120"/>
              </a:rPr>
              <a:t>CO</a:t>
            </a:r>
            <a:pPr indent="0" marL="0">
              <a:buNone/>
            </a:pPr>
            <a:r>
              <a:rPr lang="en-US" sz="1800" baseline="-40000" dirty="0">
                <a:solidFill>
                  <a:srgbClr val="1F2933"/>
                </a:solidFill>
                <a:latin typeface="Calibri" pitchFamily="34" charset="0"/>
                <a:ea typeface="Calibri" pitchFamily="34" charset="-122"/>
                <a:cs typeface="Calibri" pitchFamily="34" charset="-120"/>
              </a:rPr>
              <a:t>3</a:t>
            </a:r>
            <a:pPr indent="0" marL="0">
              <a:buNone/>
            </a:pPr>
            <a:r>
              <a:rPr lang="en-US" sz="1800" dirty="0">
                <a:solidFill>
                  <a:srgbClr val="1F2933"/>
                </a:solidFill>
                <a:latin typeface="Calibri" pitchFamily="34" charset="0"/>
                <a:ea typeface="Calibri" pitchFamily="34" charset="-122"/>
                <a:cs typeface="Calibri" pitchFamily="34" charset="-120"/>
              </a:rPr>
              <a:t>» технологически устойчива и экономически оправдана для рассолов Восточной Сибири</a:t>
            </a:r>
            <a:endParaRPr lang="en-US" sz="1800" dirty="0"/>
          </a:p>
        </p:txBody>
      </p:sp>
      <p:sp>
        <p:nvSpPr>
          <p:cNvPr id="8" name="Text 5"/>
          <p:cNvSpPr txBox="1"/>
          <p:nvPr/>
        </p:nvSpPr>
        <p:spPr>
          <a:xfrm>
            <a:off x="548640" y="2606040"/>
            <a:ext cx="11094415" cy="731520"/>
          </a:xfrm>
          <a:prstGeom prst="rect">
            <a:avLst/>
          </a:prstGeom>
          <a:noFill/>
          <a:ln/>
        </p:spPr>
        <p:txBody>
          <a:bodyPr wrap="square" lIns="0" tIns="0" rIns="0" bIns="0" rtlCol="0" anchor="t"/>
          <a:lstStyle/>
          <a:p>
            <a:pPr indent="0" marL="0">
              <a:buNone/>
            </a:pPr>
            <a:r>
              <a:rPr lang="en-US" sz="1800" b="1" dirty="0">
                <a:solidFill>
                  <a:srgbClr val="5F6B76"/>
                </a:solidFill>
                <a:latin typeface="Calibri" pitchFamily="34" charset="0"/>
                <a:ea typeface="Calibri" pitchFamily="34" charset="-122"/>
                <a:cs typeface="Calibri" pitchFamily="34" charset="-120"/>
              </a:rPr>
              <a:t>Гипотеза:</a:t>
            </a:r>
            <a:pPr indent="0" marL="0">
              <a:buNone/>
            </a:pPr>
            <a:r>
              <a:rPr lang="en-US" sz="1800" dirty="0">
                <a:solidFill>
                  <a:srgbClr val="5F6B76"/>
                </a:solidFill>
                <a:latin typeface="Calibri" pitchFamily="34" charset="0"/>
                <a:ea typeface="Calibri" pitchFamily="34" charset="-122"/>
                <a:cs typeface="Calibri" pitchFamily="34" charset="-120"/>
              </a:rPr>
              <a:t> определяющим является не концентрация лития сама по себе, а ее сочетание с объемом воды, содержанием Ca</a:t>
            </a:r>
            <a:pPr indent="0" marL="0">
              <a:buNone/>
            </a:pPr>
            <a:r>
              <a:rPr lang="en-US" sz="1800" baseline="30000" dirty="0">
                <a:solidFill>
                  <a:srgbClr val="5F6B76"/>
                </a:solidFill>
                <a:latin typeface="Calibri" pitchFamily="34" charset="0"/>
                <a:ea typeface="Calibri" pitchFamily="34" charset="-122"/>
                <a:cs typeface="Calibri" pitchFamily="34" charset="-120"/>
              </a:rPr>
              <a:t>2+</a:t>
            </a:r>
            <a:pPr indent="0" marL="0">
              <a:buNone/>
            </a:pPr>
            <a:r>
              <a:rPr lang="en-US" sz="1800" dirty="0">
                <a:solidFill>
                  <a:srgbClr val="5F6B76"/>
                </a:solidFill>
                <a:latin typeface="Calibri" pitchFamily="34" charset="0"/>
                <a:ea typeface="Calibri" pitchFamily="34" charset="-122"/>
                <a:cs typeface="Calibri" pitchFamily="34" charset="-120"/>
              </a:rPr>
              <a:t> и Mg</a:t>
            </a:r>
            <a:pPr indent="0" marL="0">
              <a:buNone/>
            </a:pPr>
            <a:r>
              <a:rPr lang="en-US" sz="1800" baseline="30000" dirty="0">
                <a:solidFill>
                  <a:srgbClr val="5F6B76"/>
                </a:solidFill>
                <a:latin typeface="Calibri" pitchFamily="34" charset="0"/>
                <a:ea typeface="Calibri" pitchFamily="34" charset="-122"/>
                <a:cs typeface="Calibri" pitchFamily="34" charset="-120"/>
              </a:rPr>
              <a:t>2+</a:t>
            </a:r>
            <a:pPr indent="0" marL="0">
              <a:buNone/>
            </a:pPr>
            <a:r>
              <a:rPr lang="en-US" sz="1800" dirty="0">
                <a:solidFill>
                  <a:srgbClr val="5F6B76"/>
                </a:solidFill>
                <a:latin typeface="Calibri" pitchFamily="34" charset="0"/>
                <a:ea typeface="Calibri" pitchFamily="34" charset="-122"/>
                <a:cs typeface="Calibri" pitchFamily="34" charset="-120"/>
              </a:rPr>
              <a:t>, расходом реагентов и сроком службы сорбента</a:t>
            </a:r>
            <a:endParaRPr lang="en-US" sz="1800" dirty="0"/>
          </a:p>
        </p:txBody>
      </p:sp>
      <p:sp>
        <p:nvSpPr>
          <p:cNvPr id="9" name="Shape 6"/>
          <p:cNvSpPr/>
          <p:nvPr/>
        </p:nvSpPr>
        <p:spPr>
          <a:xfrm>
            <a:off x="548640" y="3611880"/>
            <a:ext cx="3484778" cy="2240280"/>
          </a:xfrm>
          <a:prstGeom prst="rect">
            <a:avLst/>
          </a:prstGeom>
          <a:solidFill>
            <a:srgbClr val="EEF2F5"/>
          </a:solidFill>
          <a:ln w="12700">
            <a:solidFill>
              <a:srgbClr val="EEF2F5"/>
            </a:solidFill>
            <a:prstDash val="solid"/>
          </a:ln>
        </p:spPr>
      </p:sp>
      <p:sp>
        <p:nvSpPr>
          <p:cNvPr id="10" name="Shape 7"/>
          <p:cNvSpPr/>
          <p:nvPr/>
        </p:nvSpPr>
        <p:spPr>
          <a:xfrm>
            <a:off x="822960" y="3886200"/>
            <a:ext cx="502920" cy="502920"/>
          </a:xfrm>
          <a:prstGeom prst="ellipse">
            <a:avLst/>
          </a:prstGeom>
          <a:solidFill>
            <a:srgbClr val="2E5A77"/>
          </a:solidFill>
          <a:ln w="12700">
            <a:solidFill>
              <a:srgbClr val="2E5A77"/>
            </a:solidFill>
            <a:prstDash val="solid"/>
          </a:ln>
        </p:spPr>
      </p:sp>
      <p:sp>
        <p:nvSpPr>
          <p:cNvPr id="11" name="Text 8"/>
          <p:cNvSpPr txBox="1"/>
          <p:nvPr/>
        </p:nvSpPr>
        <p:spPr>
          <a:xfrm>
            <a:off x="822960" y="3886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9"/>
          <p:cNvSpPr txBox="1"/>
          <p:nvPr/>
        </p:nvSpPr>
        <p:spPr>
          <a:xfrm>
            <a:off x="1463040" y="3886200"/>
            <a:ext cx="2387498" cy="50292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Аналитический обзор</a:t>
            </a:r>
            <a:endParaRPr lang="en-US" sz="1800" dirty="0"/>
          </a:p>
        </p:txBody>
      </p:sp>
      <p:sp>
        <p:nvSpPr>
          <p:cNvPr id="13" name="Text 10"/>
          <p:cNvSpPr txBox="1"/>
          <p:nvPr/>
        </p:nvSpPr>
        <p:spPr>
          <a:xfrm>
            <a:off x="822960" y="4526280"/>
            <a:ext cx="2936138" cy="1143000"/>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публикации 2019–2026 гг.: состав вод, предочистка, сорбенты в реальных водах, технико-экономические оценки</a:t>
            </a:r>
            <a:endParaRPr lang="en-US" sz="1500" dirty="0"/>
          </a:p>
        </p:txBody>
      </p:sp>
      <p:sp>
        <p:nvSpPr>
          <p:cNvPr id="14" name="Shape 11"/>
          <p:cNvSpPr/>
          <p:nvPr/>
        </p:nvSpPr>
        <p:spPr>
          <a:xfrm>
            <a:off x="4353458" y="3611880"/>
            <a:ext cx="3484778" cy="2240280"/>
          </a:xfrm>
          <a:prstGeom prst="rect">
            <a:avLst/>
          </a:prstGeom>
          <a:solidFill>
            <a:srgbClr val="EEF2F5"/>
          </a:solidFill>
          <a:ln w="12700">
            <a:solidFill>
              <a:srgbClr val="EEF2F5"/>
            </a:solidFill>
            <a:prstDash val="solid"/>
          </a:ln>
        </p:spPr>
      </p:sp>
      <p:sp>
        <p:nvSpPr>
          <p:cNvPr id="15" name="Shape 12"/>
          <p:cNvSpPr/>
          <p:nvPr/>
        </p:nvSpPr>
        <p:spPr>
          <a:xfrm>
            <a:off x="4627778" y="3886200"/>
            <a:ext cx="502920" cy="502920"/>
          </a:xfrm>
          <a:prstGeom prst="ellipse">
            <a:avLst/>
          </a:prstGeom>
          <a:solidFill>
            <a:srgbClr val="2E5A77"/>
          </a:solidFill>
          <a:ln w="12700">
            <a:solidFill>
              <a:srgbClr val="2E5A77"/>
            </a:solidFill>
            <a:prstDash val="solid"/>
          </a:ln>
        </p:spPr>
      </p:sp>
      <p:sp>
        <p:nvSpPr>
          <p:cNvPr id="16" name="Text 13"/>
          <p:cNvSpPr txBox="1"/>
          <p:nvPr/>
        </p:nvSpPr>
        <p:spPr>
          <a:xfrm>
            <a:off x="4627778" y="3886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4"/>
          <p:cNvSpPr txBox="1"/>
          <p:nvPr/>
        </p:nvSpPr>
        <p:spPr>
          <a:xfrm>
            <a:off x="5267858" y="3886200"/>
            <a:ext cx="2387498" cy="50292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Реагентная нагрузка</a:t>
            </a:r>
            <a:endParaRPr lang="en-US" sz="1800" dirty="0"/>
          </a:p>
        </p:txBody>
      </p:sp>
      <p:sp>
        <p:nvSpPr>
          <p:cNvPr id="18" name="Text 15"/>
          <p:cNvSpPr txBox="1"/>
          <p:nvPr/>
        </p:nvSpPr>
        <p:spPr>
          <a:xfrm>
            <a:off x="4627778" y="4526280"/>
            <a:ext cx="2936138" cy="1143000"/>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Mg/Li, Ca/Li и стехиометрия полного умягчения (Na</a:t>
            </a:r>
            <a:pPr indent="0" marL="0">
              <a:buNone/>
            </a:pPr>
            <a:r>
              <a:rPr lang="en-US" sz="1500" baseline="-40000" dirty="0">
                <a:solidFill>
                  <a:srgbClr val="5F6B76"/>
                </a:solidFill>
                <a:latin typeface="Calibri" pitchFamily="34" charset="0"/>
                <a:ea typeface="Calibri" pitchFamily="34" charset="-122"/>
                <a:cs typeface="Calibri" pitchFamily="34" charset="-120"/>
              </a:rPr>
              <a:t>2</a:t>
            </a:r>
            <a:pPr indent="0" marL="0">
              <a:buNone/>
            </a:pPr>
            <a:r>
              <a:rPr lang="en-US" sz="1500" dirty="0">
                <a:solidFill>
                  <a:srgbClr val="5F6B76"/>
                </a:solidFill>
                <a:latin typeface="Calibri" pitchFamily="34" charset="0"/>
                <a:ea typeface="Calibri" pitchFamily="34" charset="-122"/>
                <a:cs typeface="Calibri" pitchFamily="34" charset="-120"/>
              </a:rPr>
              <a:t>CO</a:t>
            </a:r>
            <a:pPr indent="0" marL="0">
              <a:buNone/>
            </a:pPr>
            <a:r>
              <a:rPr lang="en-US" sz="1500" baseline="-40000" dirty="0">
                <a:solidFill>
                  <a:srgbClr val="5F6B76"/>
                </a:solidFill>
                <a:latin typeface="Calibri" pitchFamily="34" charset="0"/>
                <a:ea typeface="Calibri" pitchFamily="34" charset="-122"/>
                <a:cs typeface="Calibri" pitchFamily="34" charset="-120"/>
              </a:rPr>
              <a:t>3</a:t>
            </a:r>
            <a:pPr indent="0" marL="0">
              <a:buNone/>
            </a:pPr>
            <a:r>
              <a:rPr lang="en-US" sz="1500" dirty="0">
                <a:solidFill>
                  <a:srgbClr val="5F6B76"/>
                </a:solidFill>
                <a:latin typeface="Calibri" pitchFamily="34" charset="0"/>
                <a:ea typeface="Calibri" pitchFamily="34" charset="-122"/>
                <a:cs typeface="Calibri" pitchFamily="34" charset="-120"/>
              </a:rPr>
              <a:t>, NaOH) в сравнении со стоимостью лития в 1 м</a:t>
            </a:r>
            <a:pPr indent="0" marL="0">
              <a:buNone/>
            </a:pPr>
            <a:r>
              <a:rPr lang="en-US" sz="1500" baseline="30000" dirty="0">
                <a:solidFill>
                  <a:srgbClr val="5F6B76"/>
                </a:solidFill>
                <a:latin typeface="Calibri" pitchFamily="34" charset="0"/>
                <a:ea typeface="Calibri" pitchFamily="34" charset="-122"/>
                <a:cs typeface="Calibri" pitchFamily="34" charset="-120"/>
              </a:rPr>
              <a:t>3</a:t>
            </a:r>
            <a:endParaRPr lang="en-US" sz="1500" dirty="0"/>
          </a:p>
        </p:txBody>
      </p:sp>
      <p:sp>
        <p:nvSpPr>
          <p:cNvPr id="19" name="Shape 16"/>
          <p:cNvSpPr/>
          <p:nvPr/>
        </p:nvSpPr>
        <p:spPr>
          <a:xfrm>
            <a:off x="8158277" y="3611880"/>
            <a:ext cx="3484778" cy="2240280"/>
          </a:xfrm>
          <a:prstGeom prst="rect">
            <a:avLst/>
          </a:prstGeom>
          <a:solidFill>
            <a:srgbClr val="EEF2F5"/>
          </a:solidFill>
          <a:ln w="12700">
            <a:solidFill>
              <a:srgbClr val="EEF2F5"/>
            </a:solidFill>
            <a:prstDash val="solid"/>
          </a:ln>
        </p:spPr>
      </p:sp>
      <p:sp>
        <p:nvSpPr>
          <p:cNvPr id="20" name="Shape 17"/>
          <p:cNvSpPr/>
          <p:nvPr/>
        </p:nvSpPr>
        <p:spPr>
          <a:xfrm>
            <a:off x="8432597" y="3886200"/>
            <a:ext cx="502920" cy="502920"/>
          </a:xfrm>
          <a:prstGeom prst="ellipse">
            <a:avLst/>
          </a:prstGeom>
          <a:solidFill>
            <a:srgbClr val="2E5A77"/>
          </a:solidFill>
          <a:ln w="12700">
            <a:solidFill>
              <a:srgbClr val="2E5A77"/>
            </a:solidFill>
            <a:prstDash val="solid"/>
          </a:ln>
        </p:spPr>
      </p:sp>
      <p:sp>
        <p:nvSpPr>
          <p:cNvPr id="21" name="Text 18"/>
          <p:cNvSpPr txBox="1"/>
          <p:nvPr/>
        </p:nvSpPr>
        <p:spPr>
          <a:xfrm>
            <a:off x="8432597" y="3886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19"/>
          <p:cNvSpPr txBox="1"/>
          <p:nvPr/>
        </p:nvSpPr>
        <p:spPr>
          <a:xfrm>
            <a:off x="9072677" y="3886200"/>
            <a:ext cx="2387498" cy="50292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Баланс и экономика</a:t>
            </a:r>
            <a:endParaRPr lang="en-US" sz="1800" dirty="0"/>
          </a:p>
        </p:txBody>
      </p:sp>
      <p:sp>
        <p:nvSpPr>
          <p:cNvPr id="23" name="Text 20"/>
          <p:cNvSpPr txBox="1"/>
          <p:nvPr/>
        </p:nvSpPr>
        <p:spPr>
          <a:xfrm>
            <a:off x="8432597" y="4526280"/>
            <a:ext cx="2936138" cy="1143000"/>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материальный баланс для трех сценариев, пороговая концентрация C</a:t>
            </a:r>
            <a:pPr indent="0" marL="0">
              <a:buNone/>
            </a:pPr>
            <a:r>
              <a:rPr lang="en-US" sz="1500" baseline="-40000" dirty="0">
                <a:solidFill>
                  <a:srgbClr val="5F6B76"/>
                </a:solidFill>
                <a:latin typeface="Calibri" pitchFamily="34" charset="0"/>
                <a:ea typeface="Calibri" pitchFamily="34" charset="-122"/>
                <a:cs typeface="Calibri" pitchFamily="34" charset="-120"/>
              </a:rPr>
              <a:t>Li</a:t>
            </a:r>
            <a:pPr indent="0" marL="0">
              <a:buNone/>
            </a:pPr>
            <a:r>
              <a:rPr lang="en-US" sz="1500" baseline="30000" dirty="0">
                <a:solidFill>
                  <a:srgbClr val="5F6B76"/>
                </a:solidFill>
                <a:latin typeface="Calibri" pitchFamily="34" charset="0"/>
                <a:ea typeface="Calibri" pitchFamily="34" charset="-122"/>
                <a:cs typeface="Calibri" pitchFamily="34" charset="-120"/>
              </a:rPr>
              <a:t>*</a:t>
            </a:r>
            <a:pPr indent="0" marL="0">
              <a:buNone/>
            </a:pPr>
            <a:r>
              <a:rPr lang="en-US" sz="1500" dirty="0">
                <a:solidFill>
                  <a:srgbClr val="5F6B76"/>
                </a:solidFill>
                <a:latin typeface="Calibri" pitchFamily="34" charset="0"/>
                <a:ea typeface="Calibri" pitchFamily="34" charset="-122"/>
                <a:cs typeface="Calibri" pitchFamily="34" charset="-120"/>
              </a:rPr>
              <a:t> и чувствительность ±30 %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МЕТОДЫ</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Модель пороговой концентрации лития</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5 / 16</a:t>
            </a:r>
            <a:endParaRPr lang="en-US" sz="1000" dirty="0"/>
          </a:p>
        </p:txBody>
      </p:sp>
      <p:sp>
        <p:nvSpPr>
          <p:cNvPr id="7" name="Shape 4"/>
          <p:cNvSpPr/>
          <p:nvPr/>
        </p:nvSpPr>
        <p:spPr>
          <a:xfrm>
            <a:off x="548640" y="1691640"/>
            <a:ext cx="6035040" cy="4160520"/>
          </a:xfrm>
          <a:prstGeom prst="rect">
            <a:avLst/>
          </a:prstGeom>
          <a:solidFill>
            <a:srgbClr val="EEF2F5"/>
          </a:solidFill>
          <a:ln w="12700">
            <a:solidFill>
              <a:srgbClr val="EEF2F5"/>
            </a:solidFill>
            <a:prstDash val="solid"/>
          </a:ln>
        </p:spPr>
      </p:sp>
      <p:sp>
        <p:nvSpPr>
          <p:cNvPr id="8" name="Text 5"/>
          <p:cNvSpPr txBox="1"/>
          <p:nvPr/>
        </p:nvSpPr>
        <p:spPr>
          <a:xfrm>
            <a:off x="868680" y="1874520"/>
            <a:ext cx="5486400" cy="365760"/>
          </a:xfrm>
          <a:prstGeom prst="rect">
            <a:avLst/>
          </a:prstGeom>
          <a:noFill/>
          <a:ln/>
        </p:spPr>
        <p:txBody>
          <a:bodyPr wrap="square" lIns="0" tIns="0" rIns="0" bIns="0" rtlCol="0" anchor="ctr"/>
          <a:lstStyle/>
          <a:p>
            <a:pPr indent="0" marL="0">
              <a:buNone/>
            </a:pPr>
            <a:r>
              <a:rPr lang="en-US" sz="1600" b="1" dirty="0">
                <a:solidFill>
                  <a:srgbClr val="2E5A77"/>
                </a:solidFill>
                <a:latin typeface="Calibri" pitchFamily="34" charset="0"/>
                <a:ea typeface="Calibri" pitchFamily="34" charset="-122"/>
                <a:cs typeface="Calibri" pitchFamily="34" charset="-120"/>
              </a:rPr>
              <a:t>Условие безубыточности</a:t>
            </a:r>
            <a:endParaRPr lang="en-US" sz="1600" dirty="0"/>
          </a:p>
        </p:txBody>
      </p:sp>
      <p:sp>
        <p:nvSpPr>
          <p:cNvPr id="9" name="Text 6"/>
          <p:cNvSpPr txBox="1"/>
          <p:nvPr/>
        </p:nvSpPr>
        <p:spPr>
          <a:xfrm>
            <a:off x="868680" y="2423160"/>
            <a:ext cx="5486400" cy="548640"/>
          </a:xfrm>
          <a:prstGeom prst="rect">
            <a:avLst/>
          </a:prstGeom>
          <a:noFill/>
          <a:ln/>
        </p:spPr>
        <p:txBody>
          <a:bodyPr wrap="square" lIns="0" tIns="0" rIns="0" bIns="0" rtlCol="0" anchor="ctr"/>
          <a:lstStyle/>
          <a:p>
            <a:pPr algn="l" indent="0" marL="0">
              <a:buNone/>
            </a:pPr>
            <a:r>
              <a:rPr lang="en-US" sz="2600" dirty="0">
                <a:solidFill>
                  <a:srgbClr val="1F2933"/>
                </a:solidFill>
                <a:latin typeface="Cambria" pitchFamily="34" charset="0"/>
                <a:ea typeface="Cambria" pitchFamily="34" charset="-122"/>
                <a:cs typeface="Cambria" pitchFamily="34" charset="-120"/>
              </a:rPr>
              <a:t>C</a:t>
            </a:r>
            <a:pPr algn="l" indent="0" marL="0">
              <a:buNone/>
            </a:pPr>
            <a:r>
              <a:rPr lang="en-US" sz="2600" baseline="-40000" dirty="0">
                <a:solidFill>
                  <a:srgbClr val="1F2933"/>
                </a:solidFill>
                <a:latin typeface="Cambria" pitchFamily="34" charset="0"/>
                <a:ea typeface="Cambria" pitchFamily="34" charset="-122"/>
                <a:cs typeface="Cambria" pitchFamily="34" charset="-120"/>
              </a:rPr>
              <a:t>Li</a:t>
            </a:r>
            <a:pPr algn="l" indent="0" marL="0">
              <a:buNone/>
            </a:pPr>
            <a:r>
              <a:rPr lang="en-US" sz="2600" baseline="30000" dirty="0">
                <a:solidFill>
                  <a:srgbClr val="1F2933"/>
                </a:solidFill>
                <a:latin typeface="Cambria" pitchFamily="34" charset="0"/>
                <a:ea typeface="Cambria" pitchFamily="34" charset="-122"/>
                <a:cs typeface="Cambria" pitchFamily="34" charset="-120"/>
              </a:rPr>
              <a:t>*</a:t>
            </a:r>
            <a:pPr algn="l" indent="0" marL="0">
              <a:buNone/>
            </a:pPr>
            <a:r>
              <a:rPr lang="en-US" sz="2600" dirty="0">
                <a:solidFill>
                  <a:srgbClr val="1F2933"/>
                </a:solidFill>
                <a:latin typeface="Cambria" pitchFamily="34" charset="0"/>
                <a:ea typeface="Cambria" pitchFamily="34" charset="-122"/>
                <a:cs typeface="Cambria" pitchFamily="34" charset="-120"/>
              </a:rPr>
              <a:t> = </a:t>
            </a:r>
            <a:pPr algn="l" indent="0" marL="0">
              <a:buNone/>
            </a:pPr>
            <a:r>
              <a:rPr lang="en-US" sz="2600" dirty="0">
                <a:solidFill>
                  <a:srgbClr val="1F2933"/>
                </a:solidFill>
                <a:latin typeface="Cambria" pitchFamily="34" charset="0"/>
                <a:ea typeface="Cambria" pitchFamily="34" charset="-122"/>
                <a:cs typeface="Cambria" pitchFamily="34" charset="-120"/>
              </a:rPr>
              <a:t>c</a:t>
            </a:r>
            <a:pPr algn="l" indent="0" marL="0">
              <a:buNone/>
            </a:pPr>
            <a:r>
              <a:rPr lang="en-US" sz="2600" baseline="-40000" dirty="0">
                <a:solidFill>
                  <a:srgbClr val="1F2933"/>
                </a:solidFill>
                <a:latin typeface="Cambria" pitchFamily="34" charset="0"/>
                <a:ea typeface="Cambria" pitchFamily="34" charset="-122"/>
                <a:cs typeface="Cambria" pitchFamily="34" charset="-120"/>
              </a:rPr>
              <a:t>V</a:t>
            </a:r>
            <a:pPr algn="l" indent="0" marL="0">
              <a:buNone/>
            </a:pPr>
            <a:r>
              <a:rPr lang="en-US" sz="2600" dirty="0">
                <a:solidFill>
                  <a:srgbClr val="1F2933"/>
                </a:solidFill>
                <a:latin typeface="Cambria" pitchFamily="34" charset="0"/>
                <a:ea typeface="Cambria" pitchFamily="34" charset="-122"/>
                <a:cs typeface="Cambria" pitchFamily="34" charset="-120"/>
              </a:rPr>
              <a:t> + CRF·K(Q)/Q</a:t>
            </a:r>
            <a:endParaRPr lang="en-US" sz="2600" dirty="0"/>
          </a:p>
        </p:txBody>
      </p:sp>
      <p:sp>
        <p:nvSpPr>
          <p:cNvPr id="10" name="Shape 7"/>
          <p:cNvSpPr/>
          <p:nvPr/>
        </p:nvSpPr>
        <p:spPr>
          <a:xfrm>
            <a:off x="1965960" y="3017520"/>
            <a:ext cx="3566160" cy="0"/>
          </a:xfrm>
          <a:prstGeom prst="line">
            <a:avLst/>
          </a:prstGeom>
          <a:noFill/>
          <a:ln w="15875">
            <a:solidFill>
              <a:srgbClr val="1F2933"/>
            </a:solidFill>
            <a:prstDash val="solid"/>
          </a:ln>
        </p:spPr>
      </p:sp>
      <p:sp>
        <p:nvSpPr>
          <p:cNvPr id="11" name="Text 8"/>
          <p:cNvSpPr txBox="1"/>
          <p:nvPr/>
        </p:nvSpPr>
        <p:spPr>
          <a:xfrm>
            <a:off x="1965960" y="3063240"/>
            <a:ext cx="4114800" cy="548640"/>
          </a:xfrm>
          <a:prstGeom prst="rect">
            <a:avLst/>
          </a:prstGeom>
          <a:noFill/>
          <a:ln/>
        </p:spPr>
        <p:txBody>
          <a:bodyPr wrap="square" lIns="0" tIns="0" rIns="0" bIns="0" rtlCol="0" anchor="ctr"/>
          <a:lstStyle/>
          <a:p>
            <a:pPr indent="0" marL="0">
              <a:buNone/>
            </a:pPr>
            <a:r>
              <a:rPr lang="en-US" sz="2600" dirty="0">
                <a:solidFill>
                  <a:srgbClr val="1F2933"/>
                </a:solidFill>
                <a:latin typeface="Cambria" pitchFamily="34" charset="0"/>
                <a:ea typeface="Cambria" pitchFamily="34" charset="-122"/>
                <a:cs typeface="Cambria" pitchFamily="34" charset="-120"/>
              </a:rPr>
              <a:t>k·η·(P − c</a:t>
            </a:r>
            <a:pPr indent="0" marL="0">
              <a:buNone/>
            </a:pPr>
            <a:r>
              <a:rPr lang="en-US" sz="2600" baseline="-40000" dirty="0">
                <a:solidFill>
                  <a:srgbClr val="1F2933"/>
                </a:solidFill>
                <a:latin typeface="Cambria" pitchFamily="34" charset="0"/>
                <a:ea typeface="Cambria" pitchFamily="34" charset="-122"/>
                <a:cs typeface="Cambria" pitchFamily="34" charset="-120"/>
              </a:rPr>
              <a:t>R</a:t>
            </a:r>
            <a:pPr indent="0" marL="0">
              <a:buNone/>
            </a:pPr>
            <a:r>
              <a:rPr lang="en-US" sz="2600" dirty="0">
                <a:solidFill>
                  <a:srgbClr val="1F2933"/>
                </a:solidFill>
                <a:latin typeface="Cambria" pitchFamily="34" charset="0"/>
                <a:ea typeface="Cambria" pitchFamily="34" charset="-122"/>
                <a:cs typeface="Cambria" pitchFamily="34" charset="-120"/>
              </a:rPr>
              <a:t> − c</a:t>
            </a:r>
            <a:pPr indent="0" marL="0">
              <a:buNone/>
            </a:pPr>
            <a:r>
              <a:rPr lang="en-US" sz="2600" baseline="-40000" dirty="0">
                <a:solidFill>
                  <a:srgbClr val="1F2933"/>
                </a:solidFill>
                <a:latin typeface="Cambria" pitchFamily="34" charset="0"/>
                <a:ea typeface="Cambria" pitchFamily="34" charset="-122"/>
                <a:cs typeface="Cambria" pitchFamily="34" charset="-120"/>
              </a:rPr>
              <a:t>S</a:t>
            </a:r>
            <a:pPr indent="0" marL="0">
              <a:buNone/>
            </a:pPr>
            <a:r>
              <a:rPr lang="en-US" sz="2600" dirty="0">
                <a:solidFill>
                  <a:srgbClr val="1F2933"/>
                </a:solidFill>
                <a:latin typeface="Cambria" pitchFamily="34" charset="0"/>
                <a:ea typeface="Cambria" pitchFamily="34" charset="-122"/>
                <a:cs typeface="Cambria" pitchFamily="34" charset="-120"/>
              </a:rPr>
              <a:t>)</a:t>
            </a:r>
            <a:endParaRPr lang="en-US" sz="2600" dirty="0"/>
          </a:p>
        </p:txBody>
      </p:sp>
      <p:sp>
        <p:nvSpPr>
          <p:cNvPr id="12" name="Text 9"/>
          <p:cNvSpPr txBox="1"/>
          <p:nvPr/>
        </p:nvSpPr>
        <p:spPr>
          <a:xfrm>
            <a:off x="868680" y="3886200"/>
            <a:ext cx="5486400" cy="365760"/>
          </a:xfrm>
          <a:prstGeom prst="rect">
            <a:avLst/>
          </a:prstGeom>
          <a:noFill/>
          <a:ln/>
        </p:spPr>
        <p:txBody>
          <a:bodyPr wrap="square" lIns="0" tIns="0" rIns="0" bIns="0" rtlCol="0" anchor="ctr"/>
          <a:lstStyle/>
          <a:p>
            <a:pPr indent="0" marL="0">
              <a:buNone/>
            </a:pPr>
            <a:r>
              <a:rPr lang="en-US" sz="1500" dirty="0">
                <a:solidFill>
                  <a:srgbClr val="5F6B76"/>
                </a:solidFill>
                <a:latin typeface="Calibri" pitchFamily="34" charset="0"/>
                <a:ea typeface="Calibri" pitchFamily="34" charset="-122"/>
                <a:cs typeface="Calibri" pitchFamily="34" charset="-120"/>
              </a:rPr>
              <a:t>c</a:t>
            </a:r>
            <a:pPr indent="0" marL="0">
              <a:buNone/>
            </a:pPr>
            <a:r>
              <a:rPr lang="en-US" sz="1500" baseline="-40000" dirty="0">
                <a:solidFill>
                  <a:srgbClr val="5F6B76"/>
                </a:solidFill>
                <a:latin typeface="Calibri" pitchFamily="34" charset="0"/>
                <a:ea typeface="Calibri" pitchFamily="34" charset="-122"/>
                <a:cs typeface="Calibri" pitchFamily="34" charset="-120"/>
              </a:rPr>
              <a:t>S</a:t>
            </a:r>
            <a:pPr indent="0" marL="0">
              <a:buNone/>
            </a:pPr>
            <a:r>
              <a:rPr lang="en-US" sz="1500" dirty="0">
                <a:solidFill>
                  <a:srgbClr val="5F6B76"/>
                </a:solidFill>
                <a:latin typeface="Calibri" pitchFamily="34" charset="0"/>
                <a:ea typeface="Calibri" pitchFamily="34" charset="-122"/>
                <a:cs typeface="Calibri" pitchFamily="34" charset="-120"/>
              </a:rPr>
              <a:t> = S·m</a:t>
            </a:r>
            <a:pPr indent="0" marL="0">
              <a:buNone/>
            </a:pPr>
            <a:r>
              <a:rPr lang="en-US" sz="1500" baseline="-40000" dirty="0">
                <a:solidFill>
                  <a:srgbClr val="5F6B76"/>
                </a:solidFill>
                <a:latin typeface="Calibri" pitchFamily="34" charset="0"/>
                <a:ea typeface="Calibri" pitchFamily="34" charset="-122"/>
                <a:cs typeface="Calibri" pitchFamily="34" charset="-120"/>
              </a:rPr>
              <a:t>Li,load</a:t>
            </a:r>
            <a:pPr indent="0" marL="0">
              <a:buNone/>
            </a:pPr>
            <a:r>
              <a:rPr lang="en-US" sz="1500" dirty="0">
                <a:solidFill>
                  <a:srgbClr val="5F6B76"/>
                </a:solidFill>
                <a:latin typeface="Calibri" pitchFamily="34" charset="0"/>
                <a:ea typeface="Calibri" pitchFamily="34" charset="-122"/>
                <a:cs typeface="Calibri" pitchFamily="34" charset="-120"/>
              </a:rPr>
              <a:t> / (q·N) — затраты на замену сорбента</a:t>
            </a:r>
            <a:endParaRPr lang="en-US" sz="1500" dirty="0"/>
          </a:p>
        </p:txBody>
      </p:sp>
      <p:sp>
        <p:nvSpPr>
          <p:cNvPr id="13" name="Text 10"/>
          <p:cNvSpPr txBox="1"/>
          <p:nvPr/>
        </p:nvSpPr>
        <p:spPr>
          <a:xfrm>
            <a:off x="868680" y="4297680"/>
            <a:ext cx="5486400" cy="365760"/>
          </a:xfrm>
          <a:prstGeom prst="rect">
            <a:avLst/>
          </a:prstGeom>
          <a:noFill/>
          <a:ln/>
        </p:spPr>
        <p:txBody>
          <a:bodyPr wrap="square" lIns="0" tIns="0" rIns="0" bIns="0" rtlCol="0" anchor="ctr"/>
          <a:lstStyle/>
          <a:p>
            <a:pPr indent="0" marL="0">
              <a:buNone/>
            </a:pPr>
            <a:r>
              <a:rPr lang="en-US" sz="1500" dirty="0">
                <a:solidFill>
                  <a:srgbClr val="5F6B76"/>
                </a:solidFill>
                <a:latin typeface="Calibri" pitchFamily="34" charset="0"/>
                <a:ea typeface="Calibri" pitchFamily="34" charset="-122"/>
                <a:cs typeface="Calibri" pitchFamily="34" charset="-120"/>
              </a:rPr>
              <a:t>η = η</a:t>
            </a:r>
            <a:pPr indent="0" marL="0">
              <a:buNone/>
            </a:pPr>
            <a:r>
              <a:rPr lang="en-US" sz="1500" baseline="-40000" dirty="0">
                <a:solidFill>
                  <a:srgbClr val="5F6B76"/>
                </a:solidFill>
                <a:latin typeface="Calibri" pitchFamily="34" charset="0"/>
                <a:ea typeface="Calibri" pitchFamily="34" charset="-122"/>
                <a:cs typeface="Calibri" pitchFamily="34" charset="-120"/>
              </a:rPr>
              <a:t>pre</a:t>
            </a:r>
            <a:pPr indent="0" marL="0">
              <a:buNone/>
            </a:pPr>
            <a:r>
              <a:rPr lang="en-US" sz="1500" dirty="0">
                <a:solidFill>
                  <a:srgbClr val="5F6B76"/>
                </a:solidFill>
                <a:latin typeface="Calibri" pitchFamily="34" charset="0"/>
                <a:ea typeface="Calibri" pitchFamily="34" charset="-122"/>
                <a:cs typeface="Calibri" pitchFamily="34" charset="-120"/>
              </a:rPr>
              <a:t>·η</a:t>
            </a:r>
            <a:pPr indent="0" marL="0">
              <a:buNone/>
            </a:pPr>
            <a:r>
              <a:rPr lang="en-US" sz="1500" baseline="-40000" dirty="0">
                <a:solidFill>
                  <a:srgbClr val="5F6B76"/>
                </a:solidFill>
                <a:latin typeface="Calibri" pitchFamily="34" charset="0"/>
                <a:ea typeface="Calibri" pitchFamily="34" charset="-122"/>
                <a:cs typeface="Calibri" pitchFamily="34" charset="-120"/>
              </a:rPr>
              <a:t>sorp</a:t>
            </a:r>
            <a:pPr indent="0" marL="0">
              <a:buNone/>
            </a:pPr>
            <a:r>
              <a:rPr lang="en-US" sz="1500" dirty="0">
                <a:solidFill>
                  <a:srgbClr val="5F6B76"/>
                </a:solidFill>
                <a:latin typeface="Calibri" pitchFamily="34" charset="0"/>
                <a:ea typeface="Calibri" pitchFamily="34" charset="-122"/>
                <a:cs typeface="Calibri" pitchFamily="34" charset="-120"/>
              </a:rPr>
              <a:t>·η</a:t>
            </a:r>
            <a:pPr indent="0" marL="0">
              <a:buNone/>
            </a:pPr>
            <a:r>
              <a:rPr lang="en-US" sz="1500" baseline="-40000" dirty="0">
                <a:solidFill>
                  <a:srgbClr val="5F6B76"/>
                </a:solidFill>
                <a:latin typeface="Calibri" pitchFamily="34" charset="0"/>
                <a:ea typeface="Calibri" pitchFamily="34" charset="-122"/>
                <a:cs typeface="Calibri" pitchFamily="34" charset="-120"/>
              </a:rPr>
              <a:t>des</a:t>
            </a:r>
            <a:pPr indent="0" marL="0">
              <a:buNone/>
            </a:pPr>
            <a:r>
              <a:rPr lang="en-US" sz="1500" dirty="0">
                <a:solidFill>
                  <a:srgbClr val="5F6B76"/>
                </a:solidFill>
                <a:latin typeface="Calibri" pitchFamily="34" charset="0"/>
                <a:ea typeface="Calibri" pitchFamily="34" charset="-122"/>
                <a:cs typeface="Calibri" pitchFamily="34" charset="-120"/>
              </a:rPr>
              <a:t>·η</a:t>
            </a:r>
            <a:pPr indent="0" marL="0">
              <a:buNone/>
            </a:pPr>
            <a:r>
              <a:rPr lang="en-US" sz="1500" baseline="-40000" dirty="0">
                <a:solidFill>
                  <a:srgbClr val="5F6B76"/>
                </a:solidFill>
                <a:latin typeface="Calibri" pitchFamily="34" charset="0"/>
                <a:ea typeface="Calibri" pitchFamily="34" charset="-122"/>
                <a:cs typeface="Calibri" pitchFamily="34" charset="-120"/>
              </a:rPr>
              <a:t>pr</a:t>
            </a:r>
            <a:pPr indent="0" marL="0">
              <a:buNone/>
            </a:pPr>
            <a:r>
              <a:rPr lang="en-US" sz="1500" dirty="0">
                <a:solidFill>
                  <a:srgbClr val="5F6B76"/>
                </a:solidFill>
                <a:latin typeface="Calibri" pitchFamily="34" charset="0"/>
                <a:ea typeface="Calibri" pitchFamily="34" charset="-122"/>
                <a:cs typeface="Calibri" pitchFamily="34" charset="-120"/>
              </a:rPr>
              <a:t> — сквозное извлечение</a:t>
            </a:r>
            <a:endParaRPr lang="en-US" sz="1500" dirty="0"/>
          </a:p>
        </p:txBody>
      </p:sp>
      <p:sp>
        <p:nvSpPr>
          <p:cNvPr id="14" name="Text 11"/>
          <p:cNvSpPr txBox="1"/>
          <p:nvPr/>
        </p:nvSpPr>
        <p:spPr>
          <a:xfrm>
            <a:off x="868680" y="4709160"/>
            <a:ext cx="5486400" cy="365760"/>
          </a:xfrm>
          <a:prstGeom prst="rect">
            <a:avLst/>
          </a:prstGeom>
          <a:noFill/>
          <a:ln/>
        </p:spPr>
        <p:txBody>
          <a:bodyPr wrap="square" lIns="0" tIns="0" rIns="0" bIns="0" rtlCol="0" anchor="ctr"/>
          <a:lstStyle/>
          <a:p>
            <a:pPr indent="0" marL="0">
              <a:buNone/>
            </a:pPr>
            <a:r>
              <a:rPr lang="en-US" sz="1500" dirty="0">
                <a:solidFill>
                  <a:srgbClr val="5F6B76"/>
                </a:solidFill>
                <a:latin typeface="Calibri" pitchFamily="34" charset="0"/>
                <a:ea typeface="Calibri" pitchFamily="34" charset="-122"/>
                <a:cs typeface="Calibri" pitchFamily="34" charset="-120"/>
              </a:rPr>
              <a:t>K(Q) = K</a:t>
            </a:r>
            <a:pPr indent="0" marL="0">
              <a:buNone/>
            </a:pPr>
            <a:r>
              <a:rPr lang="en-US" sz="1500" baseline="-40000" dirty="0">
                <a:solidFill>
                  <a:srgbClr val="5F6B76"/>
                </a:solidFill>
                <a:latin typeface="Calibri" pitchFamily="34" charset="0"/>
                <a:ea typeface="Calibri" pitchFamily="34" charset="-122"/>
                <a:cs typeface="Calibri" pitchFamily="34" charset="-120"/>
              </a:rPr>
              <a:t>0</a:t>
            </a:r>
            <a:pPr indent="0" marL="0">
              <a:buNone/>
            </a:pPr>
            <a:r>
              <a:rPr lang="en-US" sz="1500" dirty="0">
                <a:solidFill>
                  <a:srgbClr val="5F6B76"/>
                </a:solidFill>
                <a:latin typeface="Calibri" pitchFamily="34" charset="0"/>
                <a:ea typeface="Calibri" pitchFamily="34" charset="-122"/>
                <a:cs typeface="Calibri" pitchFamily="34" charset="-120"/>
              </a:rPr>
              <a:t>(Q/Q</a:t>
            </a:r>
            <a:pPr indent="0" marL="0">
              <a:buNone/>
            </a:pPr>
            <a:r>
              <a:rPr lang="en-US" sz="1500" baseline="-40000" dirty="0">
                <a:solidFill>
                  <a:srgbClr val="5F6B76"/>
                </a:solidFill>
                <a:latin typeface="Calibri" pitchFamily="34" charset="0"/>
                <a:ea typeface="Calibri" pitchFamily="34" charset="-122"/>
                <a:cs typeface="Calibri" pitchFamily="34" charset="-120"/>
              </a:rPr>
              <a:t>0</a:t>
            </a:r>
            <a:pPr indent="0" marL="0">
              <a:buNone/>
            </a:pPr>
            <a:r>
              <a:rPr lang="en-US" sz="1500" dirty="0">
                <a:solidFill>
                  <a:srgbClr val="5F6B76"/>
                </a:solidFill>
                <a:latin typeface="Calibri" pitchFamily="34" charset="0"/>
                <a:ea typeface="Calibri" pitchFamily="34" charset="-122"/>
                <a:cs typeface="Calibri" pitchFamily="34" charset="-120"/>
              </a:rPr>
              <a:t>)</a:t>
            </a:r>
            <a:pPr indent="0" marL="0">
              <a:buNone/>
            </a:pPr>
            <a:r>
              <a:rPr lang="en-US" sz="1500" baseline="30000" dirty="0">
                <a:solidFill>
                  <a:srgbClr val="5F6B76"/>
                </a:solidFill>
                <a:latin typeface="Calibri" pitchFamily="34" charset="0"/>
                <a:ea typeface="Calibri" pitchFamily="34" charset="-122"/>
                <a:cs typeface="Calibri" pitchFamily="34" charset="-120"/>
              </a:rPr>
              <a:t>0,6</a:t>
            </a:r>
            <a:pPr indent="0" marL="0">
              <a:buNone/>
            </a:pPr>
            <a:r>
              <a:rPr lang="en-US" sz="1500" dirty="0">
                <a:solidFill>
                  <a:srgbClr val="5F6B76"/>
                </a:solidFill>
                <a:latin typeface="Calibri" pitchFamily="34" charset="0"/>
                <a:ea typeface="Calibri" pitchFamily="34" charset="-122"/>
                <a:cs typeface="Calibri" pitchFamily="34" charset="-120"/>
              </a:rPr>
              <a:t> — капитальные затраты</a:t>
            </a:r>
            <a:endParaRPr lang="en-US" sz="1500" dirty="0"/>
          </a:p>
        </p:txBody>
      </p:sp>
      <p:sp>
        <p:nvSpPr>
          <p:cNvPr id="15" name="Text 12"/>
          <p:cNvSpPr txBox="1"/>
          <p:nvPr/>
        </p:nvSpPr>
        <p:spPr>
          <a:xfrm>
            <a:off x="868680" y="5257800"/>
            <a:ext cx="548640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Чувствительность: каждый параметр ±30 %</a:t>
            </a:r>
            <a:endParaRPr lang="en-US" sz="1500" dirty="0"/>
          </a:p>
        </p:txBody>
      </p:sp>
      <p:sp>
        <p:nvSpPr>
          <p:cNvPr id="16" name="Text 13"/>
          <p:cNvSpPr txBox="1"/>
          <p:nvPr/>
        </p:nvSpPr>
        <p:spPr>
          <a:xfrm>
            <a:off x="6995160" y="1691640"/>
            <a:ext cx="4663440" cy="36576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Расчетные допущения базового сценария</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95160" y="2148840"/>
          <a:ext cx="4663440" cy="914400"/>
        </p:xfrm>
        <a:graphic>
          <a:graphicData uri="http://schemas.openxmlformats.org/drawingml/2006/table">
            <a:tbl>
              <a:tblPr/>
              <a:tblGrid>
                <a:gridCol w="3017520"/>
                <a:gridCol w="1645920"/>
              </a:tblGrid>
              <a:tr h="42976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c</a:t>
                      </a:r>
                      <a:pPr algn="l" indent="0" marL="0">
                        <a:buNone/>
                      </a:pPr>
                      <a:r>
                        <a:rPr lang="en-US" sz="1400" baseline="-40000" dirty="0">
                          <a:solidFill>
                            <a:srgbClr val="1F2933"/>
                          </a:solidFill>
                          <a:latin typeface="Calibri" pitchFamily="34" charset="0"/>
                          <a:ea typeface="Calibri" pitchFamily="34" charset="-122"/>
                          <a:cs typeface="Calibri" pitchFamily="34" charset="-120"/>
                        </a:rPr>
                        <a:t>V</a:t>
                      </a:r>
                      <a:pPr algn="l" indent="0" marL="0">
                        <a:buNone/>
                      </a:pPr>
                      <a:r>
                        <a:rPr lang="en-US" sz="1400" dirty="0">
                          <a:solidFill>
                            <a:srgbClr val="1F2933"/>
                          </a:solidFill>
                          <a:latin typeface="Calibri" pitchFamily="34" charset="0"/>
                          <a:ea typeface="Calibri" pitchFamily="34" charset="-122"/>
                          <a:cs typeface="Calibri" pitchFamily="34" charset="-120"/>
                        </a:rPr>
                        <a:t>, затраты на 1 м</a:t>
                      </a:r>
                      <a:pPr algn="l" indent="0" marL="0">
                        <a:buNone/>
                      </a:pPr>
                      <a:r>
                        <a:rPr lang="en-US" sz="1400" baseline="3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 воды</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1,5 долл.</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CRF (12 %, 15 лет)</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0,147</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K</a:t>
                      </a:r>
                      <a:pPr algn="l" indent="0" marL="0">
                        <a:buNone/>
                      </a:pPr>
                      <a:r>
                        <a:rPr lang="en-US" sz="1400" baseline="-40000" dirty="0">
                          <a:solidFill>
                            <a:srgbClr val="1F2933"/>
                          </a:solidFill>
                          <a:latin typeface="Calibri" pitchFamily="34" charset="0"/>
                          <a:ea typeface="Calibri" pitchFamily="34" charset="-122"/>
                          <a:cs typeface="Calibri" pitchFamily="34" charset="-120"/>
                        </a:rPr>
                        <a:t>0</a:t>
                      </a:r>
                      <a:pPr algn="l" indent="0" marL="0">
                        <a:buNone/>
                      </a:pPr>
                      <a:r>
                        <a:rPr lang="en-US" sz="1400" dirty="0">
                          <a:solidFill>
                            <a:srgbClr val="1F2933"/>
                          </a:solidFill>
                          <a:latin typeface="Calibri" pitchFamily="34" charset="0"/>
                          <a:ea typeface="Calibri" pitchFamily="34" charset="-122"/>
                          <a:cs typeface="Calibri" pitchFamily="34" charset="-120"/>
                        </a:rPr>
                        <a:t> при Q</a:t>
                      </a:r>
                      <a:pPr algn="l" indent="0" marL="0">
                        <a:buNone/>
                      </a:pPr>
                      <a:r>
                        <a:rPr lang="en-US" sz="1400" baseline="-40000" dirty="0">
                          <a:solidFill>
                            <a:srgbClr val="1F2933"/>
                          </a:solidFill>
                          <a:latin typeface="Calibri" pitchFamily="34" charset="0"/>
                          <a:ea typeface="Calibri" pitchFamily="34" charset="-122"/>
                          <a:cs typeface="Calibri" pitchFamily="34" charset="-120"/>
                        </a:rPr>
                        <a:t>0</a:t>
                      </a:r>
                      <a:pPr algn="l" indent="0" marL="0">
                        <a:buNone/>
                      </a:pPr>
                      <a:r>
                        <a:rPr lang="en-US" sz="1400" dirty="0">
                          <a:solidFill>
                            <a:srgbClr val="1F2933"/>
                          </a:solidFill>
                          <a:latin typeface="Calibri" pitchFamily="34" charset="0"/>
                          <a:ea typeface="Calibri" pitchFamily="34" charset="-122"/>
                          <a:cs typeface="Calibri" pitchFamily="34" charset="-120"/>
                        </a:rPr>
                        <a:t> = 1,5 млн м</a:t>
                      </a:r>
                      <a:pPr algn="l" indent="0" marL="0">
                        <a:buNone/>
                      </a:pPr>
                      <a:r>
                        <a:rPr lang="en-US" sz="1400" baseline="3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/год</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40 млн долл.</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c</a:t>
                      </a:r>
                      <a:pPr algn="l" indent="0" marL="0">
                        <a:buNone/>
                      </a:pPr>
                      <a:r>
                        <a:rPr lang="en-US" sz="1400" baseline="-40000" dirty="0">
                          <a:solidFill>
                            <a:srgbClr val="1F2933"/>
                          </a:solidFill>
                          <a:latin typeface="Calibri" pitchFamily="34" charset="0"/>
                          <a:ea typeface="Calibri" pitchFamily="34" charset="-122"/>
                          <a:cs typeface="Calibri" pitchFamily="34" charset="-120"/>
                        </a:rPr>
                        <a:t>R</a:t>
                      </a:r>
                      <a:pPr algn="l" indent="0" marL="0">
                        <a:buNone/>
                      </a:pPr>
                      <a:r>
                        <a:rPr lang="en-US" sz="1400" dirty="0">
                          <a:solidFill>
                            <a:srgbClr val="1F2933"/>
                          </a:solidFill>
                          <a:latin typeface="Calibri" pitchFamily="34" charset="0"/>
                          <a:ea typeface="Calibri" pitchFamily="34" charset="-122"/>
                          <a:cs typeface="Calibri" pitchFamily="34" charset="-120"/>
                        </a:rPr>
                        <a:t>, реагенты и сушка</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1000 долл./т</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S, цена сорбента</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20 долл./кг</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q, рабочая емкость</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5 мг/г</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N, ресурс сорбента</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500 циклов</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η, сквозное извлечение</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400" b="1" dirty="0">
                          <a:solidFill>
                            <a:srgbClr val="1F2933"/>
                          </a:solidFill>
                          <a:latin typeface="Calibri" pitchFamily="34" charset="0"/>
                          <a:ea typeface="Calibri" pitchFamily="34" charset="-122"/>
                          <a:cs typeface="Calibri" pitchFamily="34" charset="-120"/>
                        </a:rPr>
                        <a:t>0,61</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РЕЗУЛЬТАТЫ · СОСТАВ ВОД</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Сибирские рассолы на порядок сложнее зарубежных аналогов</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6 / 16</a:t>
            </a:r>
            <a:endParaRPr lang="en-US" sz="1000" dirty="0"/>
          </a:p>
        </p:txBody>
      </p:sp>
      <p:sp>
        <p:nvSpPr>
          <p:cNvPr id="7" name="Shape 4"/>
          <p:cNvSpPr/>
          <p:nvPr/>
        </p:nvSpPr>
        <p:spPr>
          <a:xfrm>
            <a:off x="548640" y="1691640"/>
            <a:ext cx="3749040" cy="1874520"/>
          </a:xfrm>
          <a:prstGeom prst="rect">
            <a:avLst/>
          </a:prstGeom>
          <a:solidFill>
            <a:srgbClr val="EEF2F5"/>
          </a:solidFill>
          <a:ln w="12700">
            <a:solidFill>
              <a:srgbClr val="EEF2F5"/>
            </a:solidFill>
            <a:prstDash val="solid"/>
          </a:ln>
        </p:spPr>
      </p:sp>
      <p:sp>
        <p:nvSpPr>
          <p:cNvPr id="8" name="Text 5"/>
          <p:cNvSpPr txBox="1"/>
          <p:nvPr/>
        </p:nvSpPr>
        <p:spPr>
          <a:xfrm>
            <a:off x="822960" y="1828800"/>
            <a:ext cx="3291840" cy="548640"/>
          </a:xfrm>
          <a:prstGeom prst="rect">
            <a:avLst/>
          </a:prstGeom>
          <a:noFill/>
          <a:ln/>
        </p:spPr>
        <p:txBody>
          <a:bodyPr wrap="square" lIns="0" tIns="0" rIns="0" bIns="0" rtlCol="0" anchor="ctr"/>
          <a:lstStyle/>
          <a:p>
            <a:pPr indent="0" marL="0">
              <a:buNone/>
            </a:pPr>
            <a:r>
              <a:rPr lang="en-US" sz="3000" b="1" dirty="0">
                <a:solidFill>
                  <a:srgbClr val="6F8FA8"/>
                </a:solidFill>
                <a:latin typeface="Calibri" pitchFamily="34" charset="0"/>
                <a:ea typeface="Calibri" pitchFamily="34" charset="-122"/>
                <a:cs typeface="Calibri" pitchFamily="34" charset="-120"/>
              </a:rPr>
              <a:t>30–70 мг/л</a:t>
            </a:r>
            <a:endParaRPr lang="en-US" sz="3000" dirty="0"/>
          </a:p>
        </p:txBody>
      </p:sp>
      <p:sp>
        <p:nvSpPr>
          <p:cNvPr id="9" name="Text 6"/>
          <p:cNvSpPr txBox="1"/>
          <p:nvPr/>
        </p:nvSpPr>
        <p:spPr>
          <a:xfrm>
            <a:off x="822960" y="2423160"/>
            <a:ext cx="3291840" cy="1005840"/>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подтоварные воды УПН; Ярактинская УПН — около 26 т Li в год</a:t>
            </a:r>
            <a:endParaRPr lang="en-US" sz="1500" dirty="0"/>
          </a:p>
        </p:txBody>
      </p:sp>
      <p:sp>
        <p:nvSpPr>
          <p:cNvPr id="10" name="Shape 7"/>
          <p:cNvSpPr/>
          <p:nvPr/>
        </p:nvSpPr>
        <p:spPr>
          <a:xfrm>
            <a:off x="548640" y="3749040"/>
            <a:ext cx="3749040" cy="2103120"/>
          </a:xfrm>
          <a:prstGeom prst="rect">
            <a:avLst/>
          </a:prstGeom>
          <a:solidFill>
            <a:srgbClr val="EEF2F5"/>
          </a:solidFill>
          <a:ln w="12700">
            <a:solidFill>
              <a:srgbClr val="EEF2F5"/>
            </a:solidFill>
            <a:prstDash val="solid"/>
          </a:ln>
        </p:spPr>
      </p:sp>
      <p:sp>
        <p:nvSpPr>
          <p:cNvPr id="11" name="Text 8"/>
          <p:cNvSpPr txBox="1"/>
          <p:nvPr/>
        </p:nvSpPr>
        <p:spPr>
          <a:xfrm>
            <a:off x="822960" y="3886200"/>
            <a:ext cx="3291840" cy="548640"/>
          </a:xfrm>
          <a:prstGeom prst="rect">
            <a:avLst/>
          </a:prstGeom>
          <a:noFill/>
          <a:ln/>
        </p:spPr>
        <p:txBody>
          <a:bodyPr wrap="square" lIns="0" tIns="0" rIns="0" bIns="0" rtlCol="0" anchor="ctr"/>
          <a:lstStyle/>
          <a:p>
            <a:pPr indent="0" marL="0">
              <a:buNone/>
            </a:pPr>
            <a:r>
              <a:rPr lang="en-US" sz="3000" b="1" dirty="0">
                <a:solidFill>
                  <a:srgbClr val="2E5A77"/>
                </a:solidFill>
                <a:latin typeface="Calibri" pitchFamily="34" charset="0"/>
                <a:ea typeface="Calibri" pitchFamily="34" charset="-122"/>
                <a:cs typeface="Calibri" pitchFamily="34" charset="-120"/>
              </a:rPr>
              <a:t>170–410 мг/л</a:t>
            </a:r>
            <a:endParaRPr lang="en-US" sz="3000" dirty="0"/>
          </a:p>
        </p:txBody>
      </p:sp>
      <p:sp>
        <p:nvSpPr>
          <p:cNvPr id="12" name="Text 9"/>
          <p:cNvSpPr txBox="1"/>
          <p:nvPr/>
        </p:nvSpPr>
        <p:spPr>
          <a:xfrm>
            <a:off x="822960" y="4480560"/>
            <a:ext cx="3291840" cy="1280160"/>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глубинные рассолы: Знаменское, Ковыктинское, им. Кокорина; Ca 121–154 г/л, Mg/Li ≈ 72</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63440" y="1691640"/>
          <a:ext cx="6976872" cy="914400"/>
        </p:xfrm>
        <a:graphic>
          <a:graphicData uri="http://schemas.openxmlformats.org/drawingml/2006/table">
            <a:tbl>
              <a:tblPr/>
              <a:tblGrid>
                <a:gridCol w="2679192"/>
                <a:gridCol w="859536"/>
                <a:gridCol w="859536"/>
                <a:gridCol w="859536"/>
                <a:gridCol w="859536"/>
                <a:gridCol w="859536"/>
              </a:tblGrid>
              <a:tr h="548640">
                <a:tc>
                  <a:txBody>
                    <a:bodyPr/>
                    <a:lstStyle/>
                    <a:p>
                      <a:pPr algn="ctr" indent="0" marL="0">
                        <a:buNone/>
                      </a:pPr>
                      <a:r>
                        <a:rPr lang="en-US" sz="1500" b="1" dirty="0">
                          <a:solidFill>
                            <a:srgbClr val="1F2933"/>
                          </a:solidFill>
                          <a:latin typeface="Calibri" pitchFamily="34" charset="0"/>
                          <a:ea typeface="Calibri" pitchFamily="34" charset="-122"/>
                          <a:cs typeface="Calibri" pitchFamily="34" charset="-120"/>
                        </a:rPr>
                        <a:t>Объект</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500" b="1" dirty="0">
                          <a:solidFill>
                            <a:srgbClr val="1F2933"/>
                          </a:solidFill>
                          <a:latin typeface="Calibri" pitchFamily="34" charset="0"/>
                          <a:ea typeface="Calibri" pitchFamily="34" charset="-122"/>
                          <a:cs typeface="Calibri" pitchFamily="34" charset="-120"/>
                        </a:rPr>
                        <a:t>Li, мг/л</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500" b="1" dirty="0">
                          <a:solidFill>
                            <a:srgbClr val="1F2933"/>
                          </a:solidFill>
                          <a:latin typeface="Calibri" pitchFamily="34" charset="0"/>
                          <a:ea typeface="Calibri" pitchFamily="34" charset="-122"/>
                          <a:cs typeface="Calibri" pitchFamily="34" charset="-120"/>
                        </a:rPr>
                        <a:t>Ca, г/л</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500" b="1" dirty="0">
                          <a:solidFill>
                            <a:srgbClr val="1F2933"/>
                          </a:solidFill>
                          <a:latin typeface="Calibri" pitchFamily="34" charset="0"/>
                          <a:ea typeface="Calibri" pitchFamily="34" charset="-122"/>
                          <a:cs typeface="Calibri" pitchFamily="34" charset="-120"/>
                        </a:rPr>
                        <a:t>Mg, г/л</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500" b="1" dirty="0">
                          <a:solidFill>
                            <a:srgbClr val="1F2933"/>
                          </a:solidFill>
                          <a:latin typeface="Calibri" pitchFamily="34" charset="0"/>
                          <a:ea typeface="Calibri" pitchFamily="34" charset="-122"/>
                          <a:cs typeface="Calibri" pitchFamily="34" charset="-120"/>
                        </a:rPr>
                        <a:t>Mg/Li</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500" b="1" dirty="0">
                          <a:solidFill>
                            <a:srgbClr val="1F2933"/>
                          </a:solidFill>
                          <a:latin typeface="Calibri" pitchFamily="34" charset="0"/>
                          <a:ea typeface="Calibri" pitchFamily="34" charset="-122"/>
                          <a:cs typeface="Calibri" pitchFamily="34" charset="-120"/>
                        </a:rPr>
                        <a:t>Ca/Li</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r>
              <a:tr h="548640">
                <a:tc>
                  <a:txBody>
                    <a:bodyPr/>
                    <a:lstStyle/>
                    <a:p>
                      <a:pPr algn="l" indent="0" marL="0">
                        <a:buNone/>
                      </a:pPr>
                      <a:r>
                        <a:rPr lang="en-US" sz="1500" b="1" dirty="0">
                          <a:solidFill>
                            <a:srgbClr val="1F2933"/>
                          </a:solidFill>
                          <a:latin typeface="Calibri" pitchFamily="34" charset="0"/>
                          <a:ea typeface="Calibri" pitchFamily="34" charset="-122"/>
                          <a:cs typeface="Calibri" pitchFamily="34" charset="-120"/>
                        </a:rPr>
                        <a:t>Знаменское, Иркутская обл.</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409</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121,2</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29,51</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72,2</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296</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r>
              <a:tr h="548640">
                <a:tc>
                  <a:txBody>
                    <a:bodyPr/>
                    <a:lstStyle/>
                    <a:p>
                      <a:pPr algn="l" indent="0" marL="0">
                        <a:buNone/>
                      </a:pPr>
                      <a:r>
                        <a:rPr lang="en-US" sz="1500" b="1" dirty="0">
                          <a:solidFill>
                            <a:srgbClr val="1F2933"/>
                          </a:solidFill>
                          <a:latin typeface="Calibri" pitchFamily="34" charset="0"/>
                          <a:ea typeface="Calibri" pitchFamily="34" charset="-122"/>
                          <a:cs typeface="Calibri" pitchFamily="34" charset="-120"/>
                        </a:rPr>
                        <a:t>Ковыктинское, Иркутская обл.</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392</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153,9</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28,35</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72,3</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393</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r>
              <a:tr h="548640">
                <a:tc>
                  <a:txBody>
                    <a:bodyPr/>
                    <a:lstStyle/>
                    <a:p>
                      <a:pPr algn="l" indent="0" marL="0">
                        <a:buNone/>
                      </a:pPr>
                      <a:r>
                        <a:rPr lang="en-US" sz="1500" dirty="0">
                          <a:solidFill>
                            <a:srgbClr val="1F2933"/>
                          </a:solidFill>
                          <a:latin typeface="Calibri" pitchFamily="34" charset="0"/>
                          <a:ea typeface="Calibri" pitchFamily="34" charset="-122"/>
                          <a:cs typeface="Calibri" pitchFamily="34" charset="-120"/>
                        </a:rPr>
                        <a:t>Smackover, США</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445</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45,7</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2,97</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6,7</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103</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48640">
                <a:tc>
                  <a:txBody>
                    <a:bodyPr/>
                    <a:lstStyle/>
                    <a:p>
                      <a:pPr algn="l" indent="0" marL="0">
                        <a:buNone/>
                      </a:pPr>
                      <a:r>
                        <a:rPr lang="en-US" sz="1500" dirty="0">
                          <a:solidFill>
                            <a:srgbClr val="1F2933"/>
                          </a:solidFill>
                          <a:latin typeface="Calibri" pitchFamily="34" charset="0"/>
                          <a:ea typeface="Calibri" pitchFamily="34" charset="-122"/>
                          <a:cs typeface="Calibri" pitchFamily="34" charset="-120"/>
                        </a:rPr>
                        <a:t>Leduc, Канада</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140</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22,8</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2,00</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14,3</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163</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48640">
                <a:tc>
                  <a:txBody>
                    <a:bodyPr/>
                    <a:lstStyle/>
                    <a:p>
                      <a:pPr algn="l" indent="0" marL="0">
                        <a:buNone/>
                      </a:pPr>
                      <a:r>
                        <a:rPr lang="en-US" sz="1500" dirty="0">
                          <a:solidFill>
                            <a:srgbClr val="1F2933"/>
                          </a:solidFill>
                          <a:latin typeface="Calibri" pitchFamily="34" charset="0"/>
                          <a:ea typeface="Calibri" pitchFamily="34" charset="-122"/>
                          <a:cs typeface="Calibri" pitchFamily="34" charset="-120"/>
                        </a:rPr>
                        <a:t>Marcellus, США</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127</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19,0</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1,67</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13,1</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149</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48640">
                <a:tc>
                  <a:txBody>
                    <a:bodyPr/>
                    <a:lstStyle/>
                    <a:p>
                      <a:pPr algn="l" indent="0" marL="0">
                        <a:buNone/>
                      </a:pPr>
                      <a:r>
                        <a:rPr lang="en-US" sz="1500" dirty="0">
                          <a:solidFill>
                            <a:srgbClr val="1F2933"/>
                          </a:solidFill>
                          <a:latin typeface="Calibri" pitchFamily="34" charset="0"/>
                          <a:ea typeface="Calibri" pitchFamily="34" charset="-122"/>
                          <a:cs typeface="Calibri" pitchFamily="34" charset="-120"/>
                        </a:rPr>
                        <a:t>Вэйюань, Китай</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158</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3,1</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0,31</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500" dirty="0">
                          <a:solidFill>
                            <a:srgbClr val="1F2933"/>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
        <p:nvSpPr>
          <p:cNvPr id="14" name="Text 10"/>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Коцупало, 2001; Первойкин, Зелинская, 2022; Михеева, Егоров, 2022; Knapik et al., 2023; Chang et al., 2025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РЕЗУЛЬТАТЫ · РЕАГЕНТНАЯ НАГРУЗКА</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Полное умягчение сибирских рассолов дороже содержащегося лития</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7 / 16</a:t>
            </a:r>
            <a:endParaRPr lang="en-US" sz="1000" dirty="0"/>
          </a:p>
        </p:txBody>
      </p:sp>
      <p:sp>
        <p:nvSpPr>
          <p:cNvPr id="7" name="Text 4"/>
          <p:cNvSpPr txBox="1"/>
          <p:nvPr/>
        </p:nvSpPr>
        <p:spPr>
          <a:xfrm>
            <a:off x="548640" y="1645920"/>
            <a:ext cx="6766560" cy="36576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Стоимость реагентов полного умягчения / стоимость лития в 1 м³</a:t>
            </a:r>
            <a:endParaRPr lang="en-US" sz="1600" dirty="0"/>
          </a:p>
        </p:txBody>
      </p:sp>
      <p:graphicFrame>
        <p:nvGraphicFramePr>
          <p:cNvPr id="8" name="Chart 0" descr=""/>
          <p:cNvGraphicFramePr/>
          <p:nvPr/>
        </p:nvGraphicFramePr>
        <p:xfrm>
          <a:off x="457200" y="2057400"/>
          <a:ext cx="6858000" cy="384048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635240" y="1691640"/>
            <a:ext cx="4005072" cy="4160520"/>
          </a:xfrm>
          <a:prstGeom prst="rect">
            <a:avLst/>
          </a:prstGeom>
          <a:solidFill>
            <a:srgbClr val="EEF2F5"/>
          </a:solidFill>
          <a:ln w="12700">
            <a:solidFill>
              <a:srgbClr val="EEF2F5"/>
            </a:solidFill>
            <a:prstDash val="solid"/>
          </a:ln>
        </p:spPr>
      </p:sp>
      <p:sp>
        <p:nvSpPr>
          <p:cNvPr id="10" name="Text 6"/>
          <p:cNvSpPr txBox="1"/>
          <p:nvPr/>
        </p:nvSpPr>
        <p:spPr>
          <a:xfrm>
            <a:off x="7909560" y="1874520"/>
            <a:ext cx="3566160" cy="365760"/>
          </a:xfrm>
          <a:prstGeom prst="rect">
            <a:avLst/>
          </a:prstGeom>
          <a:noFill/>
          <a:ln/>
        </p:spPr>
        <p:txBody>
          <a:bodyPr wrap="square" lIns="0" tIns="0" rIns="0" bIns="0" rtlCol="0" anchor="ctr"/>
          <a:lstStyle/>
          <a:p>
            <a:pPr indent="0" marL="0">
              <a:buNone/>
            </a:pPr>
            <a:r>
              <a:rPr lang="en-US" sz="1600" b="1" dirty="0">
                <a:solidFill>
                  <a:srgbClr val="2E5A77"/>
                </a:solidFill>
                <a:latin typeface="Calibri" pitchFamily="34" charset="0"/>
                <a:ea typeface="Calibri" pitchFamily="34" charset="-122"/>
                <a:cs typeface="Calibri" pitchFamily="34" charset="-120"/>
              </a:rPr>
              <a:t>Знаменское, 1 м³ рассола</a:t>
            </a:r>
            <a:endParaRPr lang="en-US" sz="1600" dirty="0"/>
          </a:p>
        </p:txBody>
      </p:sp>
      <p:sp>
        <p:nvSpPr>
          <p:cNvPr id="11" name="Text 7"/>
          <p:cNvSpPr txBox="1"/>
          <p:nvPr/>
        </p:nvSpPr>
        <p:spPr>
          <a:xfrm>
            <a:off x="7909560" y="2331720"/>
            <a:ext cx="3520440" cy="155448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 320 кг Na₂CO₃ + 97 кг NaOH</a:t>
            </a:r>
            <a:endParaRPr lang="en-US" sz="1500" dirty="0"/>
          </a:p>
          <a:p>
            <a:pPr marL="228600" indent="-2286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реагенты ≈ 92 долл./м³</a:t>
            </a:r>
            <a:endParaRPr lang="en-US" sz="1500" dirty="0"/>
          </a:p>
          <a:p>
            <a:pPr marL="228600" indent="-228600">
              <a:spcAft>
                <a:spcPts val="600"/>
              </a:spcAft>
              <a:buSzPct val="100000"/>
              <a:buChar char="•"/>
            </a:pPr>
            <a:r>
              <a:rPr lang="en-US" sz="1500" dirty="0">
                <a:solidFill>
                  <a:srgbClr val="1F2933"/>
                </a:solidFill>
                <a:latin typeface="Calibri" pitchFamily="34" charset="0"/>
                <a:ea typeface="Calibri" pitchFamily="34" charset="-122"/>
                <a:cs typeface="Calibri" pitchFamily="34" charset="-120"/>
              </a:rPr>
              <a:t>литий (100 % извлечения, 9 тыс. долл./т) ≈ 20 долл./м³</a:t>
            </a:r>
            <a:endParaRPr lang="en-US" sz="1500" dirty="0"/>
          </a:p>
        </p:txBody>
      </p:sp>
      <p:sp>
        <p:nvSpPr>
          <p:cNvPr id="12" name="Text 8"/>
          <p:cNvSpPr txBox="1"/>
          <p:nvPr/>
        </p:nvSpPr>
        <p:spPr>
          <a:xfrm>
            <a:off x="7909560" y="3977640"/>
            <a:ext cx="3566160" cy="365760"/>
          </a:xfrm>
          <a:prstGeom prst="rect">
            <a:avLst/>
          </a:prstGeom>
          <a:noFill/>
          <a:ln/>
        </p:spPr>
        <p:txBody>
          <a:bodyPr wrap="square" lIns="0" tIns="0" rIns="0" bIns="0" rtlCol="0" anchor="ctr"/>
          <a:lstStyle/>
          <a:p>
            <a:pPr indent="0" marL="0">
              <a:buNone/>
            </a:pPr>
            <a:r>
              <a:rPr lang="en-US" sz="1600" b="1" dirty="0">
                <a:solidFill>
                  <a:srgbClr val="2E5A77"/>
                </a:solidFill>
                <a:latin typeface="Calibri" pitchFamily="34" charset="0"/>
                <a:ea typeface="Calibri" pitchFamily="34" charset="-122"/>
                <a:cs typeface="Calibri" pitchFamily="34" charset="-120"/>
              </a:rPr>
              <a:t>Вывод</a:t>
            </a:r>
            <a:endParaRPr lang="en-US" sz="1600" dirty="0"/>
          </a:p>
        </p:txBody>
      </p:sp>
      <p:sp>
        <p:nvSpPr>
          <p:cNvPr id="13" name="Text 9"/>
          <p:cNvSpPr txBox="1"/>
          <p:nvPr/>
        </p:nvSpPr>
        <p:spPr>
          <a:xfrm>
            <a:off x="7909560" y="4389120"/>
            <a:ext cx="3520440" cy="13716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Предочистка — только нефть, взвеси, Fe, Mn, H</a:t>
            </a:r>
            <a:pPr indent="0" marL="0">
              <a:buNone/>
            </a:pPr>
            <a:r>
              <a:rPr lang="en-US" sz="1500" baseline="-40000" dirty="0">
                <a:solidFill>
                  <a:srgbClr val="1F2933"/>
                </a:solidFill>
                <a:latin typeface="Calibri" pitchFamily="34" charset="0"/>
                <a:ea typeface="Calibri" pitchFamily="34" charset="-122"/>
                <a:cs typeface="Calibri" pitchFamily="34" charset="-120"/>
              </a:rPr>
              <a:t>2</a:t>
            </a:r>
            <a:pPr indent="0" marL="0">
              <a:buNone/>
            </a:pPr>
            <a:r>
              <a:rPr lang="en-US" sz="1500" dirty="0">
                <a:solidFill>
                  <a:srgbClr val="1F2933"/>
                </a:solidFill>
                <a:latin typeface="Calibri" pitchFamily="34" charset="0"/>
                <a:ea typeface="Calibri" pitchFamily="34" charset="-122"/>
                <a:cs typeface="Calibri" pitchFamily="34" charset="-120"/>
              </a:rPr>
              <a:t>S. Удаление Ca</a:t>
            </a:r>
            <a:pPr indent="0" marL="0">
              <a:buNone/>
            </a:pPr>
            <a:r>
              <a:rPr lang="en-US" sz="1500" baseline="30000" dirty="0">
                <a:solidFill>
                  <a:srgbClr val="1F2933"/>
                </a:solidFill>
                <a:latin typeface="Calibri" pitchFamily="34" charset="0"/>
                <a:ea typeface="Calibri" pitchFamily="34" charset="-122"/>
                <a:cs typeface="Calibri" pitchFamily="34" charset="-120"/>
              </a:rPr>
              <a:t>2+</a:t>
            </a:r>
            <a:pPr indent="0" marL="0">
              <a:buNone/>
            </a:pPr>
            <a:r>
              <a:rPr lang="en-US" sz="1500" dirty="0">
                <a:solidFill>
                  <a:srgbClr val="1F2933"/>
                </a:solidFill>
                <a:latin typeface="Calibri" pitchFamily="34" charset="0"/>
                <a:ea typeface="Calibri" pitchFamily="34" charset="-122"/>
                <a:cs typeface="Calibri" pitchFamily="34" charset="-120"/>
              </a:rPr>
              <a:t> и Mg</a:t>
            </a:r>
            <a:pPr indent="0" marL="0">
              <a:buNone/>
            </a:pPr>
            <a:r>
              <a:rPr lang="en-US" sz="1500" baseline="30000" dirty="0">
                <a:solidFill>
                  <a:srgbClr val="1F2933"/>
                </a:solidFill>
                <a:latin typeface="Calibri" pitchFamily="34" charset="0"/>
                <a:ea typeface="Calibri" pitchFamily="34" charset="-122"/>
                <a:cs typeface="Calibri" pitchFamily="34" charset="-120"/>
              </a:rPr>
              <a:t>2+</a:t>
            </a:r>
            <a:pPr indent="0" marL="0">
              <a:buNone/>
            </a:pPr>
            <a:r>
              <a:rPr lang="en-US" sz="1500" dirty="0">
                <a:solidFill>
                  <a:srgbClr val="1F2933"/>
                </a:solidFill>
                <a:latin typeface="Calibri" pitchFamily="34" charset="0"/>
                <a:ea typeface="Calibri" pitchFamily="34" charset="-122"/>
                <a:cs typeface="Calibri" pitchFamily="34" charset="-120"/>
              </a:rPr>
              <a:t> — на стадии очистки элюата, объем которого на порядок меньше</a:t>
            </a:r>
            <a:endParaRPr lang="en-US" sz="1500" dirty="0"/>
          </a:p>
        </p:txBody>
      </p:sp>
      <p:sp>
        <p:nvSpPr>
          <p:cNvPr id="14" name="Text 10"/>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Расчет авторов по стехиометрии: сода 150 долл./т, NaOH 450 долл./т; цена Li₂CO₃ 9 тыс. долл./т</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РЕЗУЛЬТАТЫ · ВЫБОР СОРБЕНТА</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Для хлоридно-кальциевых рассолов важна устойчивость, а не емкость</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8 / 16</a:t>
            </a:r>
            <a:endParaRPr lang="en-US" sz="1000" dirty="0"/>
          </a:p>
        </p:txBody>
      </p:sp>
      <p:sp>
        <p:nvSpPr>
          <p:cNvPr id="7" name="Shape 4"/>
          <p:cNvSpPr/>
          <p:nvPr/>
        </p:nvSpPr>
        <p:spPr>
          <a:xfrm>
            <a:off x="548640" y="1691640"/>
            <a:ext cx="3484778" cy="4206240"/>
          </a:xfrm>
          <a:prstGeom prst="rect">
            <a:avLst/>
          </a:prstGeom>
          <a:solidFill>
            <a:srgbClr val="EEF2F5"/>
          </a:solidFill>
          <a:ln w="19050">
            <a:solidFill>
              <a:srgbClr val="2E5A77"/>
            </a:solidFill>
            <a:prstDash val="solid"/>
          </a:ln>
        </p:spPr>
      </p:sp>
      <p:sp>
        <p:nvSpPr>
          <p:cNvPr id="8" name="Text 5"/>
          <p:cNvSpPr txBox="1"/>
          <p:nvPr/>
        </p:nvSpPr>
        <p:spPr>
          <a:xfrm>
            <a:off x="822960" y="1874520"/>
            <a:ext cx="2936138" cy="457200"/>
          </a:xfrm>
          <a:prstGeom prst="rect">
            <a:avLst/>
          </a:prstGeom>
          <a:noFill/>
          <a:ln/>
        </p:spPr>
        <p:txBody>
          <a:bodyPr wrap="square" lIns="0" tIns="0" rIns="0" bIns="0" rtlCol="0" anchor="ctr"/>
          <a:lstStyle/>
          <a:p>
            <a:pPr indent="0" marL="0">
              <a:buNone/>
            </a:pPr>
            <a:r>
              <a:rPr lang="en-US" sz="2400" b="1" dirty="0">
                <a:solidFill>
                  <a:srgbClr val="2E5A77"/>
                </a:solidFill>
                <a:latin typeface="Calibri" pitchFamily="34" charset="0"/>
                <a:ea typeface="Calibri" pitchFamily="34" charset="-122"/>
                <a:cs typeface="Calibri" pitchFamily="34" charset="-120"/>
              </a:rPr>
              <a:t>ДГАЛ-Cl</a:t>
            </a:r>
            <a:endParaRPr lang="en-US" sz="2400" dirty="0"/>
          </a:p>
        </p:txBody>
      </p:sp>
      <p:sp>
        <p:nvSpPr>
          <p:cNvPr id="9" name="Text 6"/>
          <p:cNvSpPr txBox="1"/>
          <p:nvPr/>
        </p:nvSpPr>
        <p:spPr>
          <a:xfrm>
            <a:off x="822960" y="2331720"/>
            <a:ext cx="2936138" cy="320040"/>
          </a:xfrm>
          <a:prstGeom prst="rect">
            <a:avLst/>
          </a:prstGeom>
          <a:noFill/>
          <a:ln/>
        </p:spPr>
        <p:txBody>
          <a:bodyPr wrap="square" lIns="0" tIns="0" rIns="0" bIns="0" rtlCol="0" anchor="ctr"/>
          <a:lstStyle/>
          <a:p>
            <a:pPr indent="0" marL="0">
              <a:buNone/>
            </a:pPr>
            <a:r>
              <a:rPr lang="en-US" sz="1400" dirty="0">
                <a:solidFill>
                  <a:srgbClr val="5F6B76"/>
                </a:solidFill>
                <a:latin typeface="Calibri" pitchFamily="34" charset="0"/>
                <a:ea typeface="Calibri" pitchFamily="34" charset="-122"/>
                <a:cs typeface="Calibri" pitchFamily="34" charset="-120"/>
              </a:rPr>
              <a:t>Li/Al-двойные гидроксиды</a:t>
            </a:r>
            <a:endParaRPr lang="en-US" sz="1400" dirty="0"/>
          </a:p>
        </p:txBody>
      </p:sp>
      <p:sp>
        <p:nvSpPr>
          <p:cNvPr id="10" name="Text 7"/>
          <p:cNvSpPr txBox="1"/>
          <p:nvPr/>
        </p:nvSpPr>
        <p:spPr>
          <a:xfrm>
            <a:off x="822960" y="2788920"/>
            <a:ext cx="2936138" cy="2971800"/>
          </a:xfrm>
          <a:prstGeom prst="rect">
            <a:avLst/>
          </a:prstGeom>
          <a:noFill/>
          <a:ln/>
        </p:spPr>
        <p:txBody>
          <a:bodyPr wrap="square" lIns="0" tIns="0" rIns="0" bIns="0" rtlCol="0" anchor="t"/>
          <a:lstStyle/>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Емкость</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2–10 мг/г (≈ 7)</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В реальных водах</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3,6 мг/г (динам., колонна)</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Десорбент</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пресная вода</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Риски</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низкая емкость, большой объем элюата</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Готовность</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промышленная</a:t>
            </a:r>
            <a:endParaRPr lang="en-US" sz="1200" dirty="0"/>
          </a:p>
        </p:txBody>
      </p:sp>
      <p:sp>
        <p:nvSpPr>
          <p:cNvPr id="11" name="Shape 8"/>
          <p:cNvSpPr/>
          <p:nvPr/>
        </p:nvSpPr>
        <p:spPr>
          <a:xfrm>
            <a:off x="4353458" y="1691640"/>
            <a:ext cx="3484778" cy="4206240"/>
          </a:xfrm>
          <a:prstGeom prst="rect">
            <a:avLst/>
          </a:prstGeom>
          <a:solidFill>
            <a:srgbClr val="FFFFFF"/>
          </a:solidFill>
          <a:ln w="12700">
            <a:solidFill>
              <a:srgbClr val="D5DCE3"/>
            </a:solidFill>
            <a:prstDash val="solid"/>
          </a:ln>
        </p:spPr>
      </p:sp>
      <p:sp>
        <p:nvSpPr>
          <p:cNvPr id="12" name="Text 9"/>
          <p:cNvSpPr txBox="1"/>
          <p:nvPr/>
        </p:nvSpPr>
        <p:spPr>
          <a:xfrm>
            <a:off x="4627778" y="1874520"/>
            <a:ext cx="2936138" cy="457200"/>
          </a:xfrm>
          <a:prstGeom prst="rect">
            <a:avLst/>
          </a:prstGeom>
          <a:noFill/>
          <a:ln/>
        </p:spPr>
        <p:txBody>
          <a:bodyPr wrap="square" lIns="0" tIns="0" rIns="0" bIns="0" rtlCol="0" anchor="ctr"/>
          <a:lstStyle/>
          <a:p>
            <a:pPr indent="0" marL="0">
              <a:buNone/>
            </a:pPr>
            <a:r>
              <a:rPr lang="en-US" sz="2400" b="1" dirty="0">
                <a:solidFill>
                  <a:srgbClr val="1F2933"/>
                </a:solidFill>
                <a:latin typeface="Calibri" pitchFamily="34" charset="0"/>
                <a:ea typeface="Calibri" pitchFamily="34" charset="-122"/>
                <a:cs typeface="Calibri" pitchFamily="34" charset="-120"/>
              </a:rPr>
              <a:t>HMO</a:t>
            </a:r>
            <a:endParaRPr lang="en-US" sz="2400" dirty="0"/>
          </a:p>
        </p:txBody>
      </p:sp>
      <p:sp>
        <p:nvSpPr>
          <p:cNvPr id="13" name="Text 10"/>
          <p:cNvSpPr txBox="1"/>
          <p:nvPr/>
        </p:nvSpPr>
        <p:spPr>
          <a:xfrm>
            <a:off x="4627778" y="2331720"/>
            <a:ext cx="2936138" cy="320040"/>
          </a:xfrm>
          <a:prstGeom prst="rect">
            <a:avLst/>
          </a:prstGeom>
          <a:noFill/>
          <a:ln/>
        </p:spPr>
        <p:txBody>
          <a:bodyPr wrap="square" lIns="0" tIns="0" rIns="0" bIns="0" rtlCol="0" anchor="ctr"/>
          <a:lstStyle/>
          <a:p>
            <a:pPr indent="0" marL="0">
              <a:buNone/>
            </a:pPr>
            <a:r>
              <a:rPr lang="en-US" sz="1400" dirty="0">
                <a:solidFill>
                  <a:srgbClr val="5F6B76"/>
                </a:solidFill>
                <a:latin typeface="Calibri" pitchFamily="34" charset="0"/>
                <a:ea typeface="Calibri" pitchFamily="34" charset="-122"/>
                <a:cs typeface="Calibri" pitchFamily="34" charset="-120"/>
              </a:rPr>
              <a:t>марганцевые ионные сита</a:t>
            </a:r>
            <a:endParaRPr lang="en-US" sz="1400" dirty="0"/>
          </a:p>
        </p:txBody>
      </p:sp>
      <p:sp>
        <p:nvSpPr>
          <p:cNvPr id="14" name="Text 11"/>
          <p:cNvSpPr txBox="1"/>
          <p:nvPr/>
        </p:nvSpPr>
        <p:spPr>
          <a:xfrm>
            <a:off x="4627778" y="2788920"/>
            <a:ext cx="2936138" cy="2971800"/>
          </a:xfrm>
          <a:prstGeom prst="rect">
            <a:avLst/>
          </a:prstGeom>
          <a:noFill/>
          <a:ln/>
        </p:spPr>
        <p:txBody>
          <a:bodyPr wrap="square" lIns="0" tIns="0" rIns="0" bIns="0" rtlCol="0" anchor="t"/>
          <a:lstStyle/>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Емкость</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15–40 мг/г</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В реальных водах</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13,3–17,0 мг/г</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Десорбент</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0,2–0,5 М HCl / H</a:t>
            </a:r>
            <a:pPr indent="0" marL="0">
              <a:spcAft>
                <a:spcPts val="500"/>
              </a:spcAft>
              <a:buNone/>
            </a:pPr>
            <a:r>
              <a:rPr lang="en-US" sz="1500" baseline="-40000" dirty="0">
                <a:solidFill>
                  <a:srgbClr val="1F2933"/>
                </a:solidFill>
                <a:latin typeface="Calibri" pitchFamily="34" charset="0"/>
                <a:ea typeface="Calibri" pitchFamily="34" charset="-122"/>
                <a:cs typeface="Calibri" pitchFamily="34" charset="-120"/>
              </a:rPr>
              <a:t>2</a:t>
            </a:r>
            <a:pPr indent="0" marL="0">
              <a:spcAft>
                <a:spcPts val="500"/>
              </a:spcAft>
              <a:buNone/>
            </a:pPr>
            <a:r>
              <a:rPr lang="en-US" sz="1500" dirty="0">
                <a:solidFill>
                  <a:srgbClr val="1F2933"/>
                </a:solidFill>
                <a:latin typeface="Calibri" pitchFamily="34" charset="0"/>
                <a:ea typeface="Calibri" pitchFamily="34" charset="-122"/>
                <a:cs typeface="Calibri" pitchFamily="34" charset="-120"/>
              </a:rPr>
              <a:t>SO</a:t>
            </a:r>
            <a:pPr indent="0" marL="0">
              <a:spcAft>
                <a:spcPts val="500"/>
              </a:spcAft>
              <a:buNone/>
            </a:pPr>
            <a:r>
              <a:rPr lang="en-US" sz="1500" baseline="-40000" dirty="0">
                <a:solidFill>
                  <a:srgbClr val="1F2933"/>
                </a:solidFill>
                <a:latin typeface="Calibri" pitchFamily="34" charset="0"/>
                <a:ea typeface="Calibri" pitchFamily="34" charset="-122"/>
                <a:cs typeface="Calibri" pitchFamily="34" charset="-120"/>
              </a:rPr>
              <a:t>4</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Риски</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растворение Mn 1,8–5,4 %, восстановление органикой</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Готовность</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пилотная</a:t>
            </a:r>
            <a:endParaRPr lang="en-US" sz="1200" dirty="0"/>
          </a:p>
        </p:txBody>
      </p:sp>
      <p:sp>
        <p:nvSpPr>
          <p:cNvPr id="15" name="Shape 12"/>
          <p:cNvSpPr/>
          <p:nvPr/>
        </p:nvSpPr>
        <p:spPr>
          <a:xfrm>
            <a:off x="8158277" y="1691640"/>
            <a:ext cx="3484778" cy="4206240"/>
          </a:xfrm>
          <a:prstGeom prst="rect">
            <a:avLst/>
          </a:prstGeom>
          <a:solidFill>
            <a:srgbClr val="FFFFFF"/>
          </a:solidFill>
          <a:ln w="12700">
            <a:solidFill>
              <a:srgbClr val="D5DCE3"/>
            </a:solidFill>
            <a:prstDash val="solid"/>
          </a:ln>
        </p:spPr>
      </p:sp>
      <p:sp>
        <p:nvSpPr>
          <p:cNvPr id="16" name="Text 13"/>
          <p:cNvSpPr txBox="1"/>
          <p:nvPr/>
        </p:nvSpPr>
        <p:spPr>
          <a:xfrm>
            <a:off x="8432597" y="1874520"/>
            <a:ext cx="2936138" cy="457200"/>
          </a:xfrm>
          <a:prstGeom prst="rect">
            <a:avLst/>
          </a:prstGeom>
          <a:noFill/>
          <a:ln/>
        </p:spPr>
        <p:txBody>
          <a:bodyPr wrap="square" lIns="0" tIns="0" rIns="0" bIns="0" rtlCol="0" anchor="ctr"/>
          <a:lstStyle/>
          <a:p>
            <a:pPr indent="0" marL="0">
              <a:buNone/>
            </a:pPr>
            <a:r>
              <a:rPr lang="en-US" sz="2400" b="1" dirty="0">
                <a:solidFill>
                  <a:srgbClr val="1F2933"/>
                </a:solidFill>
                <a:latin typeface="Calibri" pitchFamily="34" charset="0"/>
                <a:ea typeface="Calibri" pitchFamily="34" charset="-122"/>
                <a:cs typeface="Calibri" pitchFamily="34" charset="-120"/>
              </a:rPr>
              <a:t>HTO</a:t>
            </a:r>
            <a:endParaRPr lang="en-US" sz="2400" dirty="0"/>
          </a:p>
        </p:txBody>
      </p:sp>
      <p:sp>
        <p:nvSpPr>
          <p:cNvPr id="17" name="Text 14"/>
          <p:cNvSpPr txBox="1"/>
          <p:nvPr/>
        </p:nvSpPr>
        <p:spPr>
          <a:xfrm>
            <a:off x="8432597" y="2331720"/>
            <a:ext cx="2936138" cy="320040"/>
          </a:xfrm>
          <a:prstGeom prst="rect">
            <a:avLst/>
          </a:prstGeom>
          <a:noFill/>
          <a:ln/>
        </p:spPr>
        <p:txBody>
          <a:bodyPr wrap="square" lIns="0" tIns="0" rIns="0" bIns="0" rtlCol="0" anchor="ctr"/>
          <a:lstStyle/>
          <a:p>
            <a:pPr indent="0" marL="0">
              <a:buNone/>
            </a:pPr>
            <a:r>
              <a:rPr lang="en-US" sz="1400" dirty="0">
                <a:solidFill>
                  <a:srgbClr val="5F6B76"/>
                </a:solidFill>
                <a:latin typeface="Calibri" pitchFamily="34" charset="0"/>
                <a:ea typeface="Calibri" pitchFamily="34" charset="-122"/>
                <a:cs typeface="Calibri" pitchFamily="34" charset="-120"/>
              </a:rPr>
              <a:t>титановые ионные сита</a:t>
            </a:r>
            <a:endParaRPr lang="en-US" sz="1400" dirty="0"/>
          </a:p>
        </p:txBody>
      </p:sp>
      <p:sp>
        <p:nvSpPr>
          <p:cNvPr id="18" name="Text 15"/>
          <p:cNvSpPr txBox="1"/>
          <p:nvPr/>
        </p:nvSpPr>
        <p:spPr>
          <a:xfrm>
            <a:off x="8432597" y="2788920"/>
            <a:ext cx="2936138" cy="2971800"/>
          </a:xfrm>
          <a:prstGeom prst="rect">
            <a:avLst/>
          </a:prstGeom>
          <a:noFill/>
          <a:ln/>
        </p:spPr>
        <p:txBody>
          <a:bodyPr wrap="square" lIns="0" tIns="0" rIns="0" bIns="0" rtlCol="0" anchor="t"/>
          <a:lstStyle/>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Емкость</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20–50 мг/г</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В реальных водах</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20,1 мг/г</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Десорбент</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0,2 М HCl</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Риски</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растворение Ti, медленная кинетика, pH 10–12</a:t>
            </a:r>
            <a:endParaRPr lang="en-US" sz="1200" dirty="0"/>
          </a:p>
          <a:p>
            <a:pPr indent="0" marL="0">
              <a:spcAft>
                <a:spcPts val="500"/>
              </a:spcAft>
              <a:buNone/>
            </a:pPr>
            <a:r>
              <a:rPr lang="en-US" sz="1200" dirty="0">
                <a:solidFill>
                  <a:srgbClr val="8A96A3"/>
                </a:solidFill>
                <a:latin typeface="Calibri" pitchFamily="34" charset="0"/>
                <a:ea typeface="Calibri" pitchFamily="34" charset="-122"/>
                <a:cs typeface="Calibri" pitchFamily="34" charset="-120"/>
              </a:rPr>
              <a:t>Готовность</a:t>
            </a:r>
            <a:endParaRPr lang="en-US" sz="1200" dirty="0"/>
          </a:p>
          <a:p>
            <a:pPr indent="0" marL="0">
              <a:spcAft>
                <a:spcPts val="500"/>
              </a:spcAft>
              <a:buNone/>
            </a:pPr>
            <a:r>
              <a:rPr lang="en-US" sz="1500" dirty="0">
                <a:solidFill>
                  <a:srgbClr val="1F2933"/>
                </a:solidFill>
                <a:latin typeface="Calibri" pitchFamily="34" charset="0"/>
                <a:ea typeface="Calibri" pitchFamily="34" charset="-122"/>
                <a:cs typeface="Calibri" pitchFamily="34" charset="-120"/>
              </a:rPr>
              <a:t>пилотная</a:t>
            </a:r>
            <a:endParaRPr lang="en-US" sz="1200" dirty="0"/>
          </a:p>
        </p:txBody>
      </p:sp>
      <p:sp>
        <p:nvSpPr>
          <p:cNvPr id="19" name="Text 16"/>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Менжерес и др., 2004; Seip et al., 2021; Tian et al., 2022; Farahbakhsh et al., 2024; Chang et al., 2025; Pan et al., 2025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РЕЗУЛЬТАТЫ · ТЕХНОЛОГИЧЕСКАЯ СХЕМА</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Схема «попутная вода — Li₂CO₃» с ограниченной предочисткой</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9 / 16</a:t>
            </a:r>
            <a:endParaRPr lang="en-US" sz="1000" dirty="0"/>
          </a:p>
        </p:txBody>
      </p:sp>
      <p:sp>
        <p:nvSpPr>
          <p:cNvPr id="7" name="Shape 4"/>
          <p:cNvSpPr/>
          <p:nvPr/>
        </p:nvSpPr>
        <p:spPr>
          <a:xfrm>
            <a:off x="548640" y="1783080"/>
            <a:ext cx="1344168" cy="1325880"/>
          </a:xfrm>
          <a:prstGeom prst="rect">
            <a:avLst/>
          </a:prstGeom>
          <a:solidFill>
            <a:srgbClr val="EEF2F5"/>
          </a:solidFill>
          <a:ln w="12700">
            <a:solidFill>
              <a:srgbClr val="B4C4D2"/>
            </a:solidFill>
            <a:prstDash val="solid"/>
          </a:ln>
        </p:spPr>
      </p:sp>
      <p:sp>
        <p:nvSpPr>
          <p:cNvPr id="8" name="Text 5"/>
          <p:cNvSpPr txBox="1"/>
          <p:nvPr/>
        </p:nvSpPr>
        <p:spPr>
          <a:xfrm>
            <a:off x="603504" y="1783080"/>
            <a:ext cx="1234440" cy="13258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Предочистка: нефть, взвеси, Fe, Mn, H</a:t>
            </a:r>
            <a:pPr algn="ctr" indent="0" marL="0">
              <a:buNone/>
            </a:pPr>
            <a:r>
              <a:rPr lang="en-US" sz="1300" baseline="-40000" dirty="0">
                <a:solidFill>
                  <a:srgbClr val="1F2933"/>
                </a:solidFill>
                <a:latin typeface="Calibri" pitchFamily="34" charset="0"/>
                <a:ea typeface="Calibri" pitchFamily="34" charset="-122"/>
                <a:cs typeface="Calibri" pitchFamily="34" charset="-120"/>
              </a:rPr>
              <a:t>2</a:t>
            </a:r>
            <a:pPr algn="ctr" indent="0" marL="0">
              <a:buNone/>
            </a:pPr>
            <a:r>
              <a:rPr lang="en-US" sz="1300" dirty="0">
                <a:solidFill>
                  <a:srgbClr val="1F2933"/>
                </a:solidFill>
                <a:latin typeface="Calibri" pitchFamily="34" charset="0"/>
                <a:ea typeface="Calibri" pitchFamily="34" charset="-122"/>
                <a:cs typeface="Calibri" pitchFamily="34" charset="-120"/>
              </a:rPr>
              <a:t>S</a:t>
            </a:r>
            <a:endParaRPr lang="en-US" sz="1300" dirty="0"/>
          </a:p>
        </p:txBody>
      </p:sp>
      <p:sp>
        <p:nvSpPr>
          <p:cNvPr id="9" name="Text 6"/>
          <p:cNvSpPr txBox="1"/>
          <p:nvPr/>
        </p:nvSpPr>
        <p:spPr>
          <a:xfrm>
            <a:off x="548640" y="1463040"/>
            <a:ext cx="1344168" cy="274320"/>
          </a:xfrm>
          <a:prstGeom prst="rect">
            <a:avLst/>
          </a:prstGeom>
          <a:noFill/>
          <a:ln/>
        </p:spPr>
        <p:txBody>
          <a:bodyPr wrap="square" lIns="0" tIns="0" rIns="0" bIns="0" rtlCol="0" anchor="ctr"/>
          <a:lstStyle/>
          <a:p>
            <a:pPr algn="ctr" indent="0" marL="0">
              <a:buNone/>
            </a:pPr>
            <a:r>
              <a:rPr lang="en-US" sz="1200" b="1" dirty="0">
                <a:solidFill>
                  <a:srgbClr val="2E5A77"/>
                </a:solidFill>
                <a:latin typeface="Calibri" pitchFamily="34" charset="0"/>
                <a:ea typeface="Calibri" pitchFamily="34" charset="-122"/>
                <a:cs typeface="Calibri" pitchFamily="34" charset="-120"/>
              </a:rPr>
              <a:t>1</a:t>
            </a:r>
            <a:endParaRPr lang="en-US" sz="1200" dirty="0"/>
          </a:p>
        </p:txBody>
      </p:sp>
      <p:sp>
        <p:nvSpPr>
          <p:cNvPr id="10" name="Shape 7"/>
          <p:cNvSpPr/>
          <p:nvPr/>
        </p:nvSpPr>
        <p:spPr>
          <a:xfrm>
            <a:off x="1929384" y="2446020"/>
            <a:ext cx="207721" cy="0"/>
          </a:xfrm>
          <a:prstGeom prst="line">
            <a:avLst/>
          </a:prstGeom>
          <a:noFill/>
          <a:ln w="15875">
            <a:solidFill>
              <a:srgbClr val="5F6B76"/>
            </a:solidFill>
            <a:prstDash val="solid"/>
            <a:tailEnd type="triangle"/>
          </a:ln>
        </p:spPr>
      </p:sp>
      <p:sp>
        <p:nvSpPr>
          <p:cNvPr id="11" name="Shape 8"/>
          <p:cNvSpPr/>
          <p:nvPr/>
        </p:nvSpPr>
        <p:spPr>
          <a:xfrm>
            <a:off x="1220724" y="3145536"/>
            <a:ext cx="0" cy="274320"/>
          </a:xfrm>
          <a:prstGeom prst="line">
            <a:avLst/>
          </a:prstGeom>
          <a:noFill/>
          <a:ln w="12700">
            <a:solidFill>
              <a:srgbClr val="B4C4D2"/>
            </a:solidFill>
            <a:prstDash val="dash"/>
          </a:ln>
        </p:spPr>
      </p:sp>
      <p:sp>
        <p:nvSpPr>
          <p:cNvPr id="12" name="Text 9"/>
          <p:cNvSpPr txBox="1"/>
          <p:nvPr/>
        </p:nvSpPr>
        <p:spPr>
          <a:xfrm>
            <a:off x="502920" y="3456432"/>
            <a:ext cx="1435608" cy="640080"/>
          </a:xfrm>
          <a:prstGeom prst="rect">
            <a:avLst/>
          </a:prstGeom>
          <a:noFill/>
          <a:ln/>
        </p:spPr>
        <p:txBody>
          <a:bodyPr wrap="square" lIns="0" tIns="0" rIns="0" bIns="0" rtlCol="0" anchor="t"/>
          <a:lstStyle/>
          <a:p>
            <a:pPr algn="ctr" indent="0" marL="0">
              <a:buNone/>
            </a:pPr>
            <a:r>
              <a:rPr lang="en-US" sz="1200" dirty="0">
                <a:solidFill>
                  <a:srgbClr val="5F6B76"/>
                </a:solidFill>
                <a:latin typeface="Calibri" pitchFamily="34" charset="0"/>
                <a:ea typeface="Calibri" pitchFamily="34" charset="-122"/>
                <a:cs typeface="Calibri" pitchFamily="34" charset="-120"/>
              </a:rPr>
              <a:t>нефтешлам</a:t>
            </a:r>
            <a:endParaRPr lang="en-US" sz="1200" dirty="0"/>
          </a:p>
        </p:txBody>
      </p:sp>
      <p:sp>
        <p:nvSpPr>
          <p:cNvPr id="13" name="Shape 10"/>
          <p:cNvSpPr/>
          <p:nvPr/>
        </p:nvSpPr>
        <p:spPr>
          <a:xfrm>
            <a:off x="2173681" y="1783080"/>
            <a:ext cx="1344168" cy="1325880"/>
          </a:xfrm>
          <a:prstGeom prst="rect">
            <a:avLst/>
          </a:prstGeom>
          <a:solidFill>
            <a:srgbClr val="EEF2F5"/>
          </a:solidFill>
          <a:ln w="12700">
            <a:solidFill>
              <a:srgbClr val="B4C4D2"/>
            </a:solidFill>
            <a:prstDash val="solid"/>
          </a:ln>
        </p:spPr>
      </p:sp>
      <p:sp>
        <p:nvSpPr>
          <p:cNvPr id="14" name="Text 11"/>
          <p:cNvSpPr txBox="1"/>
          <p:nvPr/>
        </p:nvSpPr>
        <p:spPr>
          <a:xfrm>
            <a:off x="2228545" y="1783080"/>
            <a:ext cx="1234440" cy="13258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Сорбция Li</a:t>
            </a:r>
            <a:pPr algn="ctr" indent="0" marL="0">
              <a:buNone/>
            </a:pPr>
            <a:r>
              <a:rPr lang="en-US" sz="1300" baseline="30000" dirty="0">
                <a:solidFill>
                  <a:srgbClr val="1F2933"/>
                </a:solidFill>
                <a:latin typeface="Calibri" pitchFamily="34" charset="0"/>
                <a:ea typeface="Calibri" pitchFamily="34" charset="-122"/>
                <a:cs typeface="Calibri" pitchFamily="34" charset="-120"/>
              </a:rPr>
              <a:t>+</a:t>
            </a:r>
            <a:pPr algn="ctr" indent="0" marL="0">
              <a:buNone/>
            </a:pPr>
            <a:r>
              <a:rPr lang="en-US" sz="1300" dirty="0">
                <a:solidFill>
                  <a:srgbClr val="1F2933"/>
                </a:solidFill>
                <a:latin typeface="Calibri" pitchFamily="34" charset="0"/>
                <a:ea typeface="Calibri" pitchFamily="34" charset="-122"/>
                <a:cs typeface="Calibri" pitchFamily="34" charset="-120"/>
              </a:rPr>
              <a:t> в колоннах ДГАЛ-Cl</a:t>
            </a:r>
            <a:endParaRPr lang="en-US" sz="1300" dirty="0"/>
          </a:p>
        </p:txBody>
      </p:sp>
      <p:sp>
        <p:nvSpPr>
          <p:cNvPr id="15" name="Text 12"/>
          <p:cNvSpPr txBox="1"/>
          <p:nvPr/>
        </p:nvSpPr>
        <p:spPr>
          <a:xfrm>
            <a:off x="2173681" y="1463040"/>
            <a:ext cx="1344168" cy="274320"/>
          </a:xfrm>
          <a:prstGeom prst="rect">
            <a:avLst/>
          </a:prstGeom>
          <a:noFill/>
          <a:ln/>
        </p:spPr>
        <p:txBody>
          <a:bodyPr wrap="square" lIns="0" tIns="0" rIns="0" bIns="0" rtlCol="0" anchor="ctr"/>
          <a:lstStyle/>
          <a:p>
            <a:pPr algn="ctr" indent="0" marL="0">
              <a:buNone/>
            </a:pPr>
            <a:r>
              <a:rPr lang="en-US" sz="1200" b="1" dirty="0">
                <a:solidFill>
                  <a:srgbClr val="2E5A77"/>
                </a:solidFill>
                <a:latin typeface="Calibri" pitchFamily="34" charset="0"/>
                <a:ea typeface="Calibri" pitchFamily="34" charset="-122"/>
                <a:cs typeface="Calibri" pitchFamily="34" charset="-120"/>
              </a:rPr>
              <a:t>2</a:t>
            </a:r>
            <a:endParaRPr lang="en-US" sz="1200" dirty="0"/>
          </a:p>
        </p:txBody>
      </p:sp>
      <p:sp>
        <p:nvSpPr>
          <p:cNvPr id="16" name="Shape 13"/>
          <p:cNvSpPr/>
          <p:nvPr/>
        </p:nvSpPr>
        <p:spPr>
          <a:xfrm>
            <a:off x="3554425" y="2446020"/>
            <a:ext cx="207721" cy="0"/>
          </a:xfrm>
          <a:prstGeom prst="line">
            <a:avLst/>
          </a:prstGeom>
          <a:noFill/>
          <a:ln w="15875">
            <a:solidFill>
              <a:srgbClr val="5F6B76"/>
            </a:solidFill>
            <a:prstDash val="solid"/>
            <a:tailEnd type="triangle"/>
          </a:ln>
        </p:spPr>
      </p:sp>
      <p:sp>
        <p:nvSpPr>
          <p:cNvPr id="17" name="Shape 14"/>
          <p:cNvSpPr/>
          <p:nvPr/>
        </p:nvSpPr>
        <p:spPr>
          <a:xfrm>
            <a:off x="2845765" y="3145536"/>
            <a:ext cx="0" cy="274320"/>
          </a:xfrm>
          <a:prstGeom prst="line">
            <a:avLst/>
          </a:prstGeom>
          <a:noFill/>
          <a:ln w="12700">
            <a:solidFill>
              <a:srgbClr val="B4C4D2"/>
            </a:solidFill>
            <a:prstDash val="dash"/>
          </a:ln>
        </p:spPr>
      </p:sp>
      <p:sp>
        <p:nvSpPr>
          <p:cNvPr id="18" name="Text 15"/>
          <p:cNvSpPr txBox="1"/>
          <p:nvPr/>
        </p:nvSpPr>
        <p:spPr>
          <a:xfrm>
            <a:off x="2127961" y="3456432"/>
            <a:ext cx="1435608" cy="640080"/>
          </a:xfrm>
          <a:prstGeom prst="rect">
            <a:avLst/>
          </a:prstGeom>
          <a:noFill/>
          <a:ln/>
        </p:spPr>
        <p:txBody>
          <a:bodyPr wrap="square" lIns="0" tIns="0" rIns="0" bIns="0" rtlCol="0" anchor="t"/>
          <a:lstStyle/>
          <a:p>
            <a:pPr algn="ctr" indent="0" marL="0">
              <a:buNone/>
            </a:pPr>
            <a:r>
              <a:rPr lang="en-US" sz="1200" dirty="0">
                <a:solidFill>
                  <a:srgbClr val="5F6B76"/>
                </a:solidFill>
                <a:latin typeface="Calibri" pitchFamily="34" charset="0"/>
                <a:ea typeface="Calibri" pitchFamily="34" charset="-122"/>
                <a:cs typeface="Calibri" pitchFamily="34" charset="-120"/>
              </a:rPr>
              <a:t>обедненный рассол → ППД</a:t>
            </a:r>
            <a:endParaRPr lang="en-US" sz="1200" dirty="0"/>
          </a:p>
        </p:txBody>
      </p:sp>
      <p:sp>
        <p:nvSpPr>
          <p:cNvPr id="19" name="Shape 16"/>
          <p:cNvSpPr/>
          <p:nvPr/>
        </p:nvSpPr>
        <p:spPr>
          <a:xfrm>
            <a:off x="3798722" y="1783080"/>
            <a:ext cx="1344168" cy="1325880"/>
          </a:xfrm>
          <a:prstGeom prst="rect">
            <a:avLst/>
          </a:prstGeom>
          <a:solidFill>
            <a:srgbClr val="EEF2F5"/>
          </a:solidFill>
          <a:ln w="12700">
            <a:solidFill>
              <a:srgbClr val="B4C4D2"/>
            </a:solidFill>
            <a:prstDash val="solid"/>
          </a:ln>
        </p:spPr>
      </p:sp>
      <p:sp>
        <p:nvSpPr>
          <p:cNvPr id="20" name="Text 17"/>
          <p:cNvSpPr txBox="1"/>
          <p:nvPr/>
        </p:nvSpPr>
        <p:spPr>
          <a:xfrm>
            <a:off x="3853586" y="1783080"/>
            <a:ext cx="1234440" cy="13258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Промывка слоя сорбента</a:t>
            </a:r>
            <a:endParaRPr lang="en-US" sz="1300" dirty="0"/>
          </a:p>
        </p:txBody>
      </p:sp>
      <p:sp>
        <p:nvSpPr>
          <p:cNvPr id="21" name="Text 18"/>
          <p:cNvSpPr txBox="1"/>
          <p:nvPr/>
        </p:nvSpPr>
        <p:spPr>
          <a:xfrm>
            <a:off x="3798722" y="1463040"/>
            <a:ext cx="1344168" cy="274320"/>
          </a:xfrm>
          <a:prstGeom prst="rect">
            <a:avLst/>
          </a:prstGeom>
          <a:noFill/>
          <a:ln/>
        </p:spPr>
        <p:txBody>
          <a:bodyPr wrap="square" lIns="0" tIns="0" rIns="0" bIns="0" rtlCol="0" anchor="ctr"/>
          <a:lstStyle/>
          <a:p>
            <a:pPr algn="ctr" indent="0" marL="0">
              <a:buNone/>
            </a:pPr>
            <a:r>
              <a:rPr lang="en-US" sz="1200" b="1" dirty="0">
                <a:solidFill>
                  <a:srgbClr val="2E5A77"/>
                </a:solidFill>
                <a:latin typeface="Calibri" pitchFamily="34" charset="0"/>
                <a:ea typeface="Calibri" pitchFamily="34" charset="-122"/>
                <a:cs typeface="Calibri" pitchFamily="34" charset="-120"/>
              </a:rPr>
              <a:t>3</a:t>
            </a:r>
            <a:endParaRPr lang="en-US" sz="1200" dirty="0"/>
          </a:p>
        </p:txBody>
      </p:sp>
      <p:sp>
        <p:nvSpPr>
          <p:cNvPr id="22" name="Shape 19"/>
          <p:cNvSpPr/>
          <p:nvPr/>
        </p:nvSpPr>
        <p:spPr>
          <a:xfrm>
            <a:off x="5179466" y="2446020"/>
            <a:ext cx="207721" cy="0"/>
          </a:xfrm>
          <a:prstGeom prst="line">
            <a:avLst/>
          </a:prstGeom>
          <a:noFill/>
          <a:ln w="15875">
            <a:solidFill>
              <a:srgbClr val="5F6B76"/>
            </a:solidFill>
            <a:prstDash val="solid"/>
            <a:tailEnd type="triangle"/>
          </a:ln>
        </p:spPr>
      </p:sp>
      <p:sp>
        <p:nvSpPr>
          <p:cNvPr id="23" name="Shape 20"/>
          <p:cNvSpPr/>
          <p:nvPr/>
        </p:nvSpPr>
        <p:spPr>
          <a:xfrm>
            <a:off x="4470806" y="3145536"/>
            <a:ext cx="0" cy="274320"/>
          </a:xfrm>
          <a:prstGeom prst="line">
            <a:avLst/>
          </a:prstGeom>
          <a:noFill/>
          <a:ln w="12700">
            <a:solidFill>
              <a:srgbClr val="B4C4D2"/>
            </a:solidFill>
            <a:prstDash val="dash"/>
          </a:ln>
        </p:spPr>
      </p:sp>
      <p:sp>
        <p:nvSpPr>
          <p:cNvPr id="24" name="Text 21"/>
          <p:cNvSpPr txBox="1"/>
          <p:nvPr/>
        </p:nvSpPr>
        <p:spPr>
          <a:xfrm>
            <a:off x="3753002" y="3456432"/>
            <a:ext cx="1435608" cy="640080"/>
          </a:xfrm>
          <a:prstGeom prst="rect">
            <a:avLst/>
          </a:prstGeom>
          <a:noFill/>
          <a:ln/>
        </p:spPr>
        <p:txBody>
          <a:bodyPr wrap="square" lIns="0" tIns="0" rIns="0" bIns="0" rtlCol="0" anchor="t"/>
          <a:lstStyle/>
          <a:p>
            <a:pPr algn="ctr" indent="0" marL="0">
              <a:buNone/>
            </a:pPr>
            <a:r>
              <a:rPr lang="en-US" sz="1200" dirty="0">
                <a:solidFill>
                  <a:srgbClr val="5F6B76"/>
                </a:solidFill>
                <a:latin typeface="Calibri" pitchFamily="34" charset="0"/>
                <a:ea typeface="Calibri" pitchFamily="34" charset="-122"/>
                <a:cs typeface="Calibri" pitchFamily="34" charset="-120"/>
              </a:rPr>
              <a:t>промывные воды → стадия 1</a:t>
            </a:r>
            <a:endParaRPr lang="en-US" sz="1200" dirty="0"/>
          </a:p>
        </p:txBody>
      </p:sp>
      <p:sp>
        <p:nvSpPr>
          <p:cNvPr id="25" name="Shape 22"/>
          <p:cNvSpPr/>
          <p:nvPr/>
        </p:nvSpPr>
        <p:spPr>
          <a:xfrm>
            <a:off x="5423764" y="1783080"/>
            <a:ext cx="1344168" cy="1325880"/>
          </a:xfrm>
          <a:prstGeom prst="rect">
            <a:avLst/>
          </a:prstGeom>
          <a:solidFill>
            <a:srgbClr val="EEF2F5"/>
          </a:solidFill>
          <a:ln w="12700">
            <a:solidFill>
              <a:srgbClr val="B4C4D2"/>
            </a:solidFill>
            <a:prstDash val="solid"/>
          </a:ln>
        </p:spPr>
      </p:sp>
      <p:sp>
        <p:nvSpPr>
          <p:cNvPr id="26" name="Text 23"/>
          <p:cNvSpPr txBox="1"/>
          <p:nvPr/>
        </p:nvSpPr>
        <p:spPr>
          <a:xfrm>
            <a:off x="5478628" y="1783080"/>
            <a:ext cx="1234440" cy="13258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Десорбция пресной водой</a:t>
            </a:r>
            <a:endParaRPr lang="en-US" sz="1300" dirty="0"/>
          </a:p>
        </p:txBody>
      </p:sp>
      <p:sp>
        <p:nvSpPr>
          <p:cNvPr id="27" name="Text 24"/>
          <p:cNvSpPr txBox="1"/>
          <p:nvPr/>
        </p:nvSpPr>
        <p:spPr>
          <a:xfrm>
            <a:off x="5423764" y="1463040"/>
            <a:ext cx="1344168" cy="274320"/>
          </a:xfrm>
          <a:prstGeom prst="rect">
            <a:avLst/>
          </a:prstGeom>
          <a:noFill/>
          <a:ln/>
        </p:spPr>
        <p:txBody>
          <a:bodyPr wrap="square" lIns="0" tIns="0" rIns="0" bIns="0" rtlCol="0" anchor="ctr"/>
          <a:lstStyle/>
          <a:p>
            <a:pPr algn="ctr" indent="0" marL="0">
              <a:buNone/>
            </a:pPr>
            <a:r>
              <a:rPr lang="en-US" sz="1200" b="1" dirty="0">
                <a:solidFill>
                  <a:srgbClr val="2E5A77"/>
                </a:solidFill>
                <a:latin typeface="Calibri" pitchFamily="34" charset="0"/>
                <a:ea typeface="Calibri" pitchFamily="34" charset="-122"/>
                <a:cs typeface="Calibri" pitchFamily="34" charset="-120"/>
              </a:rPr>
              <a:t>4</a:t>
            </a:r>
            <a:endParaRPr lang="en-US" sz="1200" dirty="0"/>
          </a:p>
        </p:txBody>
      </p:sp>
      <p:sp>
        <p:nvSpPr>
          <p:cNvPr id="28" name="Shape 25"/>
          <p:cNvSpPr/>
          <p:nvPr/>
        </p:nvSpPr>
        <p:spPr>
          <a:xfrm>
            <a:off x="6804508" y="2446020"/>
            <a:ext cx="207721" cy="0"/>
          </a:xfrm>
          <a:prstGeom prst="line">
            <a:avLst/>
          </a:prstGeom>
          <a:noFill/>
          <a:ln w="15875">
            <a:solidFill>
              <a:srgbClr val="5F6B76"/>
            </a:solidFill>
            <a:prstDash val="solid"/>
            <a:tailEnd type="triangle"/>
          </a:ln>
        </p:spPr>
      </p:sp>
      <p:sp>
        <p:nvSpPr>
          <p:cNvPr id="29" name="Shape 26"/>
          <p:cNvSpPr/>
          <p:nvPr/>
        </p:nvSpPr>
        <p:spPr>
          <a:xfrm>
            <a:off x="6095848" y="3145536"/>
            <a:ext cx="0" cy="274320"/>
          </a:xfrm>
          <a:prstGeom prst="line">
            <a:avLst/>
          </a:prstGeom>
          <a:noFill/>
          <a:ln w="12700">
            <a:solidFill>
              <a:srgbClr val="B4C4D2"/>
            </a:solidFill>
            <a:prstDash val="dash"/>
          </a:ln>
        </p:spPr>
      </p:sp>
      <p:sp>
        <p:nvSpPr>
          <p:cNvPr id="30" name="Text 27"/>
          <p:cNvSpPr txBox="1"/>
          <p:nvPr/>
        </p:nvSpPr>
        <p:spPr>
          <a:xfrm>
            <a:off x="5378044" y="3456432"/>
            <a:ext cx="1435608" cy="640080"/>
          </a:xfrm>
          <a:prstGeom prst="rect">
            <a:avLst/>
          </a:prstGeom>
          <a:noFill/>
          <a:ln/>
        </p:spPr>
        <p:txBody>
          <a:bodyPr wrap="square" lIns="0" tIns="0" rIns="0" bIns="0" rtlCol="0" anchor="t"/>
          <a:lstStyle/>
          <a:p>
            <a:pPr algn="ctr" indent="0" marL="0">
              <a:buNone/>
            </a:pPr>
            <a:r>
              <a:rPr lang="en-US" sz="1200" dirty="0">
                <a:solidFill>
                  <a:srgbClr val="5F6B76"/>
                </a:solidFill>
                <a:latin typeface="Calibri" pitchFamily="34" charset="0"/>
                <a:ea typeface="Calibri" pitchFamily="34" charset="-122"/>
                <a:cs typeface="Calibri" pitchFamily="34" charset="-120"/>
              </a:rPr>
              <a:t>вход: пресная вода</a:t>
            </a:r>
            <a:endParaRPr lang="en-US" sz="1200" dirty="0"/>
          </a:p>
        </p:txBody>
      </p:sp>
      <p:sp>
        <p:nvSpPr>
          <p:cNvPr id="31" name="Shape 28"/>
          <p:cNvSpPr/>
          <p:nvPr/>
        </p:nvSpPr>
        <p:spPr>
          <a:xfrm>
            <a:off x="7048805" y="1783080"/>
            <a:ext cx="1344168" cy="1325880"/>
          </a:xfrm>
          <a:prstGeom prst="rect">
            <a:avLst/>
          </a:prstGeom>
          <a:solidFill>
            <a:srgbClr val="EEF2F5"/>
          </a:solidFill>
          <a:ln w="12700">
            <a:solidFill>
              <a:srgbClr val="B4C4D2"/>
            </a:solidFill>
            <a:prstDash val="solid"/>
          </a:ln>
        </p:spPr>
      </p:sp>
      <p:sp>
        <p:nvSpPr>
          <p:cNvPr id="32" name="Text 29"/>
          <p:cNvSpPr txBox="1"/>
          <p:nvPr/>
        </p:nvSpPr>
        <p:spPr>
          <a:xfrm>
            <a:off x="7103669" y="1783080"/>
            <a:ext cx="1234440" cy="13258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Очистка элюата от Ca</a:t>
            </a:r>
            <a:pPr algn="ctr" indent="0" marL="0">
              <a:buNone/>
            </a:pPr>
            <a:r>
              <a:rPr lang="en-US" sz="1300" baseline="30000" dirty="0">
                <a:solidFill>
                  <a:srgbClr val="1F2933"/>
                </a:solidFill>
                <a:latin typeface="Calibri" pitchFamily="34" charset="0"/>
                <a:ea typeface="Calibri" pitchFamily="34" charset="-122"/>
                <a:cs typeface="Calibri" pitchFamily="34" charset="-120"/>
              </a:rPr>
              <a:t>2+</a:t>
            </a:r>
            <a:pPr algn="ctr" indent="0" marL="0">
              <a:buNone/>
            </a:pPr>
            <a:r>
              <a:rPr lang="en-US" sz="1300" dirty="0">
                <a:solidFill>
                  <a:srgbClr val="1F2933"/>
                </a:solidFill>
                <a:latin typeface="Calibri" pitchFamily="34" charset="0"/>
                <a:ea typeface="Calibri" pitchFamily="34" charset="-122"/>
                <a:cs typeface="Calibri" pitchFamily="34" charset="-120"/>
              </a:rPr>
              <a:t>, Mg</a:t>
            </a:r>
            <a:pPr algn="ctr" indent="0" marL="0">
              <a:buNone/>
            </a:pPr>
            <a:r>
              <a:rPr lang="en-US" sz="1300" baseline="30000" dirty="0">
                <a:solidFill>
                  <a:srgbClr val="1F2933"/>
                </a:solidFill>
                <a:latin typeface="Calibri" pitchFamily="34" charset="0"/>
                <a:ea typeface="Calibri" pitchFamily="34" charset="-122"/>
                <a:cs typeface="Calibri" pitchFamily="34" charset="-120"/>
              </a:rPr>
              <a:t>2+</a:t>
            </a:r>
            <a:endParaRPr lang="en-US" sz="1300" dirty="0"/>
          </a:p>
        </p:txBody>
      </p:sp>
      <p:sp>
        <p:nvSpPr>
          <p:cNvPr id="33" name="Text 30"/>
          <p:cNvSpPr txBox="1"/>
          <p:nvPr/>
        </p:nvSpPr>
        <p:spPr>
          <a:xfrm>
            <a:off x="7048805" y="1463040"/>
            <a:ext cx="1344168" cy="274320"/>
          </a:xfrm>
          <a:prstGeom prst="rect">
            <a:avLst/>
          </a:prstGeom>
          <a:noFill/>
          <a:ln/>
        </p:spPr>
        <p:txBody>
          <a:bodyPr wrap="square" lIns="0" tIns="0" rIns="0" bIns="0" rtlCol="0" anchor="ctr"/>
          <a:lstStyle/>
          <a:p>
            <a:pPr algn="ctr" indent="0" marL="0">
              <a:buNone/>
            </a:pPr>
            <a:r>
              <a:rPr lang="en-US" sz="1200" b="1" dirty="0">
                <a:solidFill>
                  <a:srgbClr val="2E5A77"/>
                </a:solidFill>
                <a:latin typeface="Calibri" pitchFamily="34" charset="0"/>
                <a:ea typeface="Calibri" pitchFamily="34" charset="-122"/>
                <a:cs typeface="Calibri" pitchFamily="34" charset="-120"/>
              </a:rPr>
              <a:t>5</a:t>
            </a:r>
            <a:endParaRPr lang="en-US" sz="1200" dirty="0"/>
          </a:p>
        </p:txBody>
      </p:sp>
      <p:sp>
        <p:nvSpPr>
          <p:cNvPr id="34" name="Shape 31"/>
          <p:cNvSpPr/>
          <p:nvPr/>
        </p:nvSpPr>
        <p:spPr>
          <a:xfrm>
            <a:off x="8429549" y="2446020"/>
            <a:ext cx="207721" cy="0"/>
          </a:xfrm>
          <a:prstGeom prst="line">
            <a:avLst/>
          </a:prstGeom>
          <a:noFill/>
          <a:ln w="15875">
            <a:solidFill>
              <a:srgbClr val="5F6B76"/>
            </a:solidFill>
            <a:prstDash val="solid"/>
            <a:tailEnd type="triangle"/>
          </a:ln>
        </p:spPr>
      </p:sp>
      <p:sp>
        <p:nvSpPr>
          <p:cNvPr id="35" name="Shape 32"/>
          <p:cNvSpPr/>
          <p:nvPr/>
        </p:nvSpPr>
        <p:spPr>
          <a:xfrm>
            <a:off x="7720889" y="3145536"/>
            <a:ext cx="0" cy="274320"/>
          </a:xfrm>
          <a:prstGeom prst="line">
            <a:avLst/>
          </a:prstGeom>
          <a:noFill/>
          <a:ln w="12700">
            <a:solidFill>
              <a:srgbClr val="B4C4D2"/>
            </a:solidFill>
            <a:prstDash val="dash"/>
          </a:ln>
        </p:spPr>
      </p:sp>
      <p:sp>
        <p:nvSpPr>
          <p:cNvPr id="36" name="Text 33"/>
          <p:cNvSpPr txBox="1"/>
          <p:nvPr/>
        </p:nvSpPr>
        <p:spPr>
          <a:xfrm>
            <a:off x="7003085" y="3456432"/>
            <a:ext cx="1435608" cy="640080"/>
          </a:xfrm>
          <a:prstGeom prst="rect">
            <a:avLst/>
          </a:prstGeom>
          <a:noFill/>
          <a:ln/>
        </p:spPr>
        <p:txBody>
          <a:bodyPr wrap="square" lIns="0" tIns="0" rIns="0" bIns="0" rtlCol="0" anchor="t"/>
          <a:lstStyle/>
          <a:p>
            <a:pPr algn="ctr" indent="0" marL="0">
              <a:buNone/>
            </a:pPr>
            <a:r>
              <a:rPr lang="en-US" sz="1200" dirty="0">
                <a:solidFill>
                  <a:srgbClr val="5F6B76"/>
                </a:solidFill>
                <a:latin typeface="Calibri" pitchFamily="34" charset="0"/>
                <a:ea typeface="Calibri" pitchFamily="34" charset="-122"/>
                <a:cs typeface="Calibri" pitchFamily="34" charset="-120"/>
              </a:rPr>
              <a:t>осадки CaCO</a:t>
            </a:r>
            <a:pPr algn="ctr" indent="0" marL="0">
              <a:buNone/>
            </a:pPr>
            <a:r>
              <a:rPr lang="en-US" sz="1200" baseline="-40000" dirty="0">
                <a:solidFill>
                  <a:srgbClr val="5F6B76"/>
                </a:solidFill>
                <a:latin typeface="Calibri" pitchFamily="34" charset="0"/>
                <a:ea typeface="Calibri" pitchFamily="34" charset="-122"/>
                <a:cs typeface="Calibri" pitchFamily="34" charset="-120"/>
              </a:rPr>
              <a:t>3</a:t>
            </a:r>
            <a:pPr algn="ctr" indent="0" marL="0">
              <a:buNone/>
            </a:pPr>
            <a:r>
              <a:rPr lang="en-US" sz="1200" dirty="0">
                <a:solidFill>
                  <a:srgbClr val="5F6B76"/>
                </a:solidFill>
                <a:latin typeface="Calibri" pitchFamily="34" charset="0"/>
                <a:ea typeface="Calibri" pitchFamily="34" charset="-122"/>
                <a:cs typeface="Calibri" pitchFamily="34" charset="-120"/>
              </a:rPr>
              <a:t>, Mg(OH)</a:t>
            </a:r>
            <a:pPr algn="ctr" indent="0" marL="0">
              <a:buNone/>
            </a:pPr>
            <a:r>
              <a:rPr lang="en-US" sz="1200" baseline="-40000" dirty="0">
                <a:solidFill>
                  <a:srgbClr val="5F6B76"/>
                </a:solidFill>
                <a:latin typeface="Calibri" pitchFamily="34" charset="0"/>
                <a:ea typeface="Calibri" pitchFamily="34" charset="-122"/>
                <a:cs typeface="Calibri" pitchFamily="34" charset="-120"/>
              </a:rPr>
              <a:t>2</a:t>
            </a:r>
            <a:endParaRPr lang="en-US" sz="1200" dirty="0"/>
          </a:p>
        </p:txBody>
      </p:sp>
      <p:sp>
        <p:nvSpPr>
          <p:cNvPr id="37" name="Shape 34"/>
          <p:cNvSpPr/>
          <p:nvPr/>
        </p:nvSpPr>
        <p:spPr>
          <a:xfrm>
            <a:off x="8673846" y="1783080"/>
            <a:ext cx="1344168" cy="1325880"/>
          </a:xfrm>
          <a:prstGeom prst="rect">
            <a:avLst/>
          </a:prstGeom>
          <a:solidFill>
            <a:srgbClr val="EEF2F5"/>
          </a:solidFill>
          <a:ln w="12700">
            <a:solidFill>
              <a:srgbClr val="B4C4D2"/>
            </a:solidFill>
            <a:prstDash val="solid"/>
          </a:ln>
        </p:spPr>
      </p:sp>
      <p:sp>
        <p:nvSpPr>
          <p:cNvPr id="38" name="Text 35"/>
          <p:cNvSpPr txBox="1"/>
          <p:nvPr/>
        </p:nvSpPr>
        <p:spPr>
          <a:xfrm>
            <a:off x="8728710" y="1783080"/>
            <a:ext cx="1234440" cy="132588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Концентри­рование LiCl (ОО, выпаривание)</a:t>
            </a:r>
            <a:endParaRPr lang="en-US" sz="1300" dirty="0"/>
          </a:p>
        </p:txBody>
      </p:sp>
      <p:sp>
        <p:nvSpPr>
          <p:cNvPr id="39" name="Text 36"/>
          <p:cNvSpPr txBox="1"/>
          <p:nvPr/>
        </p:nvSpPr>
        <p:spPr>
          <a:xfrm>
            <a:off x="8673846" y="1463040"/>
            <a:ext cx="1344168" cy="274320"/>
          </a:xfrm>
          <a:prstGeom prst="rect">
            <a:avLst/>
          </a:prstGeom>
          <a:noFill/>
          <a:ln/>
        </p:spPr>
        <p:txBody>
          <a:bodyPr wrap="square" lIns="0" tIns="0" rIns="0" bIns="0" rtlCol="0" anchor="ctr"/>
          <a:lstStyle/>
          <a:p>
            <a:pPr algn="ctr" indent="0" marL="0">
              <a:buNone/>
            </a:pPr>
            <a:r>
              <a:rPr lang="en-US" sz="1200" b="1" dirty="0">
                <a:solidFill>
                  <a:srgbClr val="2E5A77"/>
                </a:solidFill>
                <a:latin typeface="Calibri" pitchFamily="34" charset="0"/>
                <a:ea typeface="Calibri" pitchFamily="34" charset="-122"/>
                <a:cs typeface="Calibri" pitchFamily="34" charset="-120"/>
              </a:rPr>
              <a:t>6</a:t>
            </a:r>
            <a:endParaRPr lang="en-US" sz="1200" dirty="0"/>
          </a:p>
        </p:txBody>
      </p:sp>
      <p:sp>
        <p:nvSpPr>
          <p:cNvPr id="40" name="Shape 37"/>
          <p:cNvSpPr/>
          <p:nvPr/>
        </p:nvSpPr>
        <p:spPr>
          <a:xfrm>
            <a:off x="10054590" y="2446020"/>
            <a:ext cx="207721" cy="0"/>
          </a:xfrm>
          <a:prstGeom prst="line">
            <a:avLst/>
          </a:prstGeom>
          <a:noFill/>
          <a:ln w="15875">
            <a:solidFill>
              <a:srgbClr val="5F6B76"/>
            </a:solidFill>
            <a:prstDash val="solid"/>
            <a:tailEnd type="triangle"/>
          </a:ln>
        </p:spPr>
      </p:sp>
      <p:sp>
        <p:nvSpPr>
          <p:cNvPr id="41" name="Shape 38"/>
          <p:cNvSpPr/>
          <p:nvPr/>
        </p:nvSpPr>
        <p:spPr>
          <a:xfrm>
            <a:off x="9345930" y="3145536"/>
            <a:ext cx="0" cy="274320"/>
          </a:xfrm>
          <a:prstGeom prst="line">
            <a:avLst/>
          </a:prstGeom>
          <a:noFill/>
          <a:ln w="12700">
            <a:solidFill>
              <a:srgbClr val="B4C4D2"/>
            </a:solidFill>
            <a:prstDash val="dash"/>
          </a:ln>
        </p:spPr>
      </p:sp>
      <p:sp>
        <p:nvSpPr>
          <p:cNvPr id="42" name="Text 39"/>
          <p:cNvSpPr txBox="1"/>
          <p:nvPr/>
        </p:nvSpPr>
        <p:spPr>
          <a:xfrm>
            <a:off x="8628126" y="3456432"/>
            <a:ext cx="1435608" cy="640080"/>
          </a:xfrm>
          <a:prstGeom prst="rect">
            <a:avLst/>
          </a:prstGeom>
          <a:noFill/>
          <a:ln/>
        </p:spPr>
        <p:txBody>
          <a:bodyPr wrap="square" lIns="0" tIns="0" rIns="0" bIns="0" rtlCol="0" anchor="t"/>
          <a:lstStyle/>
          <a:p>
            <a:pPr algn="ctr" indent="0" marL="0">
              <a:buNone/>
            </a:pPr>
            <a:r>
              <a:rPr lang="en-US" sz="1200" dirty="0">
                <a:solidFill>
                  <a:srgbClr val="5F6B76"/>
                </a:solidFill>
                <a:latin typeface="Calibri" pitchFamily="34" charset="0"/>
                <a:ea typeface="Calibri" pitchFamily="34" charset="-122"/>
                <a:cs typeface="Calibri" pitchFamily="34" charset="-120"/>
              </a:rPr>
              <a:t>пермеат → десорбция</a:t>
            </a:r>
            <a:endParaRPr lang="en-US" sz="1200" dirty="0"/>
          </a:p>
        </p:txBody>
      </p:sp>
      <p:sp>
        <p:nvSpPr>
          <p:cNvPr id="43" name="Shape 40"/>
          <p:cNvSpPr/>
          <p:nvPr/>
        </p:nvSpPr>
        <p:spPr>
          <a:xfrm>
            <a:off x="10298887" y="1783080"/>
            <a:ext cx="1344168" cy="1325880"/>
          </a:xfrm>
          <a:prstGeom prst="rect">
            <a:avLst/>
          </a:prstGeom>
          <a:solidFill>
            <a:srgbClr val="2E5A77"/>
          </a:solidFill>
          <a:ln w="12700">
            <a:solidFill>
              <a:srgbClr val="2E5A77"/>
            </a:solidFill>
            <a:prstDash val="solid"/>
          </a:ln>
        </p:spPr>
      </p:sp>
      <p:sp>
        <p:nvSpPr>
          <p:cNvPr id="44" name="Text 41"/>
          <p:cNvSpPr txBox="1"/>
          <p:nvPr/>
        </p:nvSpPr>
        <p:spPr>
          <a:xfrm>
            <a:off x="10353751" y="1783080"/>
            <a:ext cx="1234440" cy="13258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Осаждение Li</a:t>
            </a:r>
            <a:pPr algn="ctr" indent="0" marL="0">
              <a:buNone/>
            </a:pPr>
            <a:r>
              <a:rPr lang="en-US" sz="1300" b="1" baseline="-40000" dirty="0">
                <a:solidFill>
                  <a:srgbClr val="FFFFFF"/>
                </a:solidFill>
                <a:latin typeface="Calibri" pitchFamily="34" charset="0"/>
                <a:ea typeface="Calibri" pitchFamily="34" charset="-122"/>
                <a:cs typeface="Calibri" pitchFamily="34" charset="-120"/>
              </a:rPr>
              <a:t>2</a:t>
            </a:r>
            <a:pPr algn="ctr" indent="0" marL="0">
              <a:buNone/>
            </a:pPr>
            <a:r>
              <a:rPr lang="en-US" sz="1300" b="1" dirty="0">
                <a:solidFill>
                  <a:srgbClr val="FFFFFF"/>
                </a:solidFill>
                <a:latin typeface="Calibri" pitchFamily="34" charset="0"/>
                <a:ea typeface="Calibri" pitchFamily="34" charset="-122"/>
                <a:cs typeface="Calibri" pitchFamily="34" charset="-120"/>
              </a:rPr>
              <a:t>CO</a:t>
            </a:r>
            <a:pPr algn="ctr" indent="0" marL="0">
              <a:buNone/>
            </a:pPr>
            <a:r>
              <a:rPr lang="en-US" sz="1300" b="1" baseline="-40000" dirty="0">
                <a:solidFill>
                  <a:srgbClr val="FFFFFF"/>
                </a:solidFill>
                <a:latin typeface="Calibri" pitchFamily="34" charset="0"/>
                <a:ea typeface="Calibri" pitchFamily="34" charset="-122"/>
                <a:cs typeface="Calibri" pitchFamily="34" charset="-120"/>
              </a:rPr>
              <a:t>3</a:t>
            </a:r>
            <a:pPr algn="ctr" indent="0" marL="0">
              <a:buNone/>
            </a:pPr>
            <a:r>
              <a:rPr lang="en-US" sz="1300" b="1" dirty="0">
                <a:solidFill>
                  <a:srgbClr val="FFFFFF"/>
                </a:solidFill>
                <a:latin typeface="Calibri" pitchFamily="34" charset="0"/>
                <a:ea typeface="Calibri" pitchFamily="34" charset="-122"/>
                <a:cs typeface="Calibri" pitchFamily="34" charset="-120"/>
              </a:rPr>
              <a:t> содой</a:t>
            </a:r>
            <a:endParaRPr lang="en-US" sz="1300" dirty="0"/>
          </a:p>
        </p:txBody>
      </p:sp>
      <p:sp>
        <p:nvSpPr>
          <p:cNvPr id="45" name="Text 42"/>
          <p:cNvSpPr txBox="1"/>
          <p:nvPr/>
        </p:nvSpPr>
        <p:spPr>
          <a:xfrm>
            <a:off x="10298887" y="1463040"/>
            <a:ext cx="1344168" cy="274320"/>
          </a:xfrm>
          <a:prstGeom prst="rect">
            <a:avLst/>
          </a:prstGeom>
          <a:noFill/>
          <a:ln/>
        </p:spPr>
        <p:txBody>
          <a:bodyPr wrap="square" lIns="0" tIns="0" rIns="0" bIns="0" rtlCol="0" anchor="ctr"/>
          <a:lstStyle/>
          <a:p>
            <a:pPr algn="ctr" indent="0" marL="0">
              <a:buNone/>
            </a:pPr>
            <a:r>
              <a:rPr lang="en-US" sz="1200" b="1" dirty="0">
                <a:solidFill>
                  <a:srgbClr val="2E5A77"/>
                </a:solidFill>
                <a:latin typeface="Calibri" pitchFamily="34" charset="0"/>
                <a:ea typeface="Calibri" pitchFamily="34" charset="-122"/>
                <a:cs typeface="Calibri" pitchFamily="34" charset="-120"/>
              </a:rPr>
              <a:t>7</a:t>
            </a:r>
            <a:endParaRPr lang="en-US" sz="1200" dirty="0"/>
          </a:p>
        </p:txBody>
      </p:sp>
      <p:sp>
        <p:nvSpPr>
          <p:cNvPr id="46" name="Shape 43"/>
          <p:cNvSpPr/>
          <p:nvPr/>
        </p:nvSpPr>
        <p:spPr>
          <a:xfrm>
            <a:off x="10970971" y="3145536"/>
            <a:ext cx="0" cy="274320"/>
          </a:xfrm>
          <a:prstGeom prst="line">
            <a:avLst/>
          </a:prstGeom>
          <a:noFill/>
          <a:ln w="12700">
            <a:solidFill>
              <a:srgbClr val="B4C4D2"/>
            </a:solidFill>
            <a:prstDash val="dash"/>
          </a:ln>
        </p:spPr>
      </p:sp>
      <p:sp>
        <p:nvSpPr>
          <p:cNvPr id="47" name="Text 44"/>
          <p:cNvSpPr txBox="1"/>
          <p:nvPr/>
        </p:nvSpPr>
        <p:spPr>
          <a:xfrm>
            <a:off x="10253167" y="3456432"/>
            <a:ext cx="1435608" cy="640080"/>
          </a:xfrm>
          <a:prstGeom prst="rect">
            <a:avLst/>
          </a:prstGeom>
          <a:noFill/>
          <a:ln/>
        </p:spPr>
        <p:txBody>
          <a:bodyPr wrap="square" lIns="0" tIns="0" rIns="0" bIns="0" rtlCol="0" anchor="t"/>
          <a:lstStyle/>
          <a:p>
            <a:pPr algn="ctr" indent="0" marL="0">
              <a:buNone/>
            </a:pPr>
            <a:r>
              <a:rPr lang="en-US" sz="1200" dirty="0">
                <a:solidFill>
                  <a:srgbClr val="5F6B76"/>
                </a:solidFill>
                <a:latin typeface="Calibri" pitchFamily="34" charset="0"/>
                <a:ea typeface="Calibri" pitchFamily="34" charset="-122"/>
                <a:cs typeface="Calibri" pitchFamily="34" charset="-120"/>
              </a:rPr>
              <a:t>маточный раствор → стадия 6</a:t>
            </a:r>
            <a:endParaRPr lang="en-US" sz="1200" dirty="0"/>
          </a:p>
        </p:txBody>
      </p:sp>
      <p:sp>
        <p:nvSpPr>
          <p:cNvPr id="48" name="Text 45"/>
          <p:cNvSpPr txBox="1"/>
          <p:nvPr/>
        </p:nvSpPr>
        <p:spPr>
          <a:xfrm>
            <a:off x="548640" y="4069080"/>
            <a:ext cx="11094415" cy="36576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Опытная колонна ДГАЛ-Cl на рассоле с 349 г/л MgCl₂ (Менжерес и др., 2004)</a:t>
            </a:r>
            <a:endParaRPr lang="en-US" sz="1600" dirty="0"/>
          </a:p>
        </p:txBody>
      </p:sp>
      <p:sp>
        <p:nvSpPr>
          <p:cNvPr id="49" name="Text 46"/>
          <p:cNvSpPr txBox="1"/>
          <p:nvPr/>
        </p:nvSpPr>
        <p:spPr>
          <a:xfrm>
            <a:off x="548640" y="4434840"/>
            <a:ext cx="2590724" cy="640080"/>
          </a:xfrm>
          <a:prstGeom prst="rect">
            <a:avLst/>
          </a:prstGeom>
          <a:noFill/>
          <a:ln/>
        </p:spPr>
        <p:txBody>
          <a:bodyPr wrap="square" lIns="0" tIns="0" rIns="0" bIns="0" rtlCol="0" anchor="b"/>
          <a:lstStyle/>
          <a:p>
            <a:pPr indent="0" marL="0">
              <a:buNone/>
            </a:pPr>
            <a:r>
              <a:rPr lang="en-US" sz="2800" b="1" dirty="0">
                <a:solidFill>
                  <a:srgbClr val="2E5A77"/>
                </a:solidFill>
                <a:latin typeface="Calibri" pitchFamily="34" charset="0"/>
                <a:ea typeface="Calibri" pitchFamily="34" charset="-122"/>
                <a:cs typeface="Calibri" pitchFamily="34" charset="-120"/>
              </a:rPr>
              <a:t>3,6 г/кг</a:t>
            </a:r>
            <a:endParaRPr lang="en-US" sz="2800" dirty="0"/>
          </a:p>
        </p:txBody>
      </p:sp>
      <p:sp>
        <p:nvSpPr>
          <p:cNvPr id="50" name="Text 47"/>
          <p:cNvSpPr txBox="1"/>
          <p:nvPr/>
        </p:nvSpPr>
        <p:spPr>
          <a:xfrm>
            <a:off x="548640" y="5120640"/>
            <a:ext cx="2590724" cy="685800"/>
          </a:xfrm>
          <a:prstGeom prst="rect">
            <a:avLst/>
          </a:prstGeom>
          <a:noFill/>
          <a:ln/>
        </p:spPr>
        <p:txBody>
          <a:bodyPr wrap="square" lIns="0" tIns="0" rIns="0" bIns="0" rtlCol="0" anchor="t"/>
          <a:lstStyle/>
          <a:p>
            <a:pPr indent="0" marL="0">
              <a:buNone/>
            </a:pPr>
            <a:r>
              <a:rPr lang="en-US" sz="1400" dirty="0">
                <a:solidFill>
                  <a:srgbClr val="5F6B76"/>
                </a:solidFill>
                <a:latin typeface="Calibri" pitchFamily="34" charset="0"/>
                <a:ea typeface="Calibri" pitchFamily="34" charset="-122"/>
                <a:cs typeface="Calibri" pitchFamily="34" charset="-120"/>
              </a:rPr>
              <a:t>динамическая емкость (51 % статической)</a:t>
            </a:r>
            <a:endParaRPr lang="en-US" sz="1400" dirty="0"/>
          </a:p>
        </p:txBody>
      </p:sp>
      <p:sp>
        <p:nvSpPr>
          <p:cNvPr id="51" name="Text 48"/>
          <p:cNvSpPr txBox="1"/>
          <p:nvPr/>
        </p:nvSpPr>
        <p:spPr>
          <a:xfrm>
            <a:off x="3322244" y="4434840"/>
            <a:ext cx="2590724" cy="640080"/>
          </a:xfrm>
          <a:prstGeom prst="rect">
            <a:avLst/>
          </a:prstGeom>
          <a:noFill/>
          <a:ln/>
        </p:spPr>
        <p:txBody>
          <a:bodyPr wrap="square" lIns="0" tIns="0" rIns="0" bIns="0" rtlCol="0" anchor="b"/>
          <a:lstStyle/>
          <a:p>
            <a:pPr indent="0" marL="0">
              <a:buNone/>
            </a:pPr>
            <a:r>
              <a:rPr lang="en-US" sz="2800" b="1" dirty="0">
                <a:solidFill>
                  <a:srgbClr val="2E5A77"/>
                </a:solidFill>
                <a:latin typeface="Calibri" pitchFamily="34" charset="0"/>
                <a:ea typeface="Calibri" pitchFamily="34" charset="-122"/>
                <a:cs typeface="Calibri" pitchFamily="34" charset="-120"/>
              </a:rPr>
              <a:t>80 %</a:t>
            </a:r>
            <a:endParaRPr lang="en-US" sz="2800" dirty="0"/>
          </a:p>
        </p:txBody>
      </p:sp>
      <p:sp>
        <p:nvSpPr>
          <p:cNvPr id="52" name="Text 49"/>
          <p:cNvSpPr txBox="1"/>
          <p:nvPr/>
        </p:nvSpPr>
        <p:spPr>
          <a:xfrm>
            <a:off x="3322244" y="5120640"/>
            <a:ext cx="2590724" cy="685800"/>
          </a:xfrm>
          <a:prstGeom prst="rect">
            <a:avLst/>
          </a:prstGeom>
          <a:noFill/>
          <a:ln/>
        </p:spPr>
        <p:txBody>
          <a:bodyPr wrap="square" lIns="0" tIns="0" rIns="0" bIns="0" rtlCol="0" anchor="t"/>
          <a:lstStyle/>
          <a:p>
            <a:pPr indent="0" marL="0">
              <a:buNone/>
            </a:pPr>
            <a:r>
              <a:rPr lang="en-US" sz="1400" dirty="0">
                <a:solidFill>
                  <a:srgbClr val="5F6B76"/>
                </a:solidFill>
                <a:latin typeface="Calibri" pitchFamily="34" charset="0"/>
                <a:ea typeface="Calibri" pitchFamily="34" charset="-122"/>
                <a:cs typeface="Calibri" pitchFamily="34" charset="-120"/>
              </a:rPr>
              <a:t>извлечение лития на стадии сорбции</a:t>
            </a:r>
            <a:endParaRPr lang="en-US" sz="1400" dirty="0"/>
          </a:p>
        </p:txBody>
      </p:sp>
      <p:sp>
        <p:nvSpPr>
          <p:cNvPr id="53" name="Text 50"/>
          <p:cNvSpPr txBox="1"/>
          <p:nvPr/>
        </p:nvSpPr>
        <p:spPr>
          <a:xfrm>
            <a:off x="6095848" y="4434840"/>
            <a:ext cx="2590724" cy="640080"/>
          </a:xfrm>
          <a:prstGeom prst="rect">
            <a:avLst/>
          </a:prstGeom>
          <a:noFill/>
          <a:ln/>
        </p:spPr>
        <p:txBody>
          <a:bodyPr wrap="square" lIns="0" tIns="0" rIns="0" bIns="0" rtlCol="0" anchor="b"/>
          <a:lstStyle/>
          <a:p>
            <a:pPr indent="0" marL="0">
              <a:buNone/>
            </a:pPr>
            <a:r>
              <a:rPr lang="en-US" sz="2800" b="1" dirty="0">
                <a:solidFill>
                  <a:srgbClr val="2E5A77"/>
                </a:solidFill>
                <a:latin typeface="Calibri" pitchFamily="34" charset="0"/>
                <a:ea typeface="Calibri" pitchFamily="34" charset="-122"/>
                <a:cs typeface="Calibri" pitchFamily="34" charset="-120"/>
              </a:rPr>
              <a:t>93 → 1,3–2,3</a:t>
            </a:r>
            <a:endParaRPr lang="en-US" sz="2800" dirty="0"/>
          </a:p>
        </p:txBody>
      </p:sp>
      <p:sp>
        <p:nvSpPr>
          <p:cNvPr id="54" name="Text 51"/>
          <p:cNvSpPr txBox="1"/>
          <p:nvPr/>
        </p:nvSpPr>
        <p:spPr>
          <a:xfrm>
            <a:off x="6095848" y="5120640"/>
            <a:ext cx="2590724" cy="685800"/>
          </a:xfrm>
          <a:prstGeom prst="rect">
            <a:avLst/>
          </a:prstGeom>
          <a:noFill/>
          <a:ln/>
        </p:spPr>
        <p:txBody>
          <a:bodyPr wrap="square" lIns="0" tIns="0" rIns="0" bIns="0" rtlCol="0" anchor="t"/>
          <a:lstStyle/>
          <a:p>
            <a:pPr indent="0" marL="0">
              <a:buNone/>
            </a:pPr>
            <a:r>
              <a:rPr lang="en-US" sz="1400" dirty="0">
                <a:solidFill>
                  <a:srgbClr val="5F6B76"/>
                </a:solidFill>
                <a:latin typeface="Calibri" pitchFamily="34" charset="0"/>
                <a:ea typeface="Calibri" pitchFamily="34" charset="-122"/>
                <a:cs typeface="Calibri" pitchFamily="34" charset="-120"/>
              </a:rPr>
              <a:t>отношение (Ca+Mg)/Li: снижение в 40–70 раз</a:t>
            </a:r>
            <a:endParaRPr lang="en-US" sz="1400" dirty="0"/>
          </a:p>
        </p:txBody>
      </p:sp>
      <p:sp>
        <p:nvSpPr>
          <p:cNvPr id="55" name="Text 52"/>
          <p:cNvSpPr txBox="1"/>
          <p:nvPr/>
        </p:nvSpPr>
        <p:spPr>
          <a:xfrm>
            <a:off x="8869451" y="4434840"/>
            <a:ext cx="2590724" cy="640080"/>
          </a:xfrm>
          <a:prstGeom prst="rect">
            <a:avLst/>
          </a:prstGeom>
          <a:noFill/>
          <a:ln/>
        </p:spPr>
        <p:txBody>
          <a:bodyPr wrap="square" lIns="0" tIns="0" rIns="0" bIns="0" rtlCol="0" anchor="b"/>
          <a:lstStyle/>
          <a:p>
            <a:pPr indent="0" marL="0">
              <a:buNone/>
            </a:pPr>
            <a:r>
              <a:rPr lang="en-US" sz="2800" b="1" dirty="0">
                <a:solidFill>
                  <a:srgbClr val="2E5A77"/>
                </a:solidFill>
                <a:latin typeface="Calibri" pitchFamily="34" charset="0"/>
                <a:ea typeface="Calibri" pitchFamily="34" charset="-122"/>
                <a:cs typeface="Calibri" pitchFamily="34" charset="-120"/>
              </a:rPr>
              <a:t>99,6 %</a:t>
            </a:r>
            <a:endParaRPr lang="en-US" sz="2800" dirty="0"/>
          </a:p>
        </p:txBody>
      </p:sp>
      <p:sp>
        <p:nvSpPr>
          <p:cNvPr id="56" name="Text 53"/>
          <p:cNvSpPr txBox="1"/>
          <p:nvPr/>
        </p:nvSpPr>
        <p:spPr>
          <a:xfrm>
            <a:off x="8869451" y="5120640"/>
            <a:ext cx="2590724" cy="685800"/>
          </a:xfrm>
          <a:prstGeom prst="rect">
            <a:avLst/>
          </a:prstGeom>
          <a:noFill/>
          <a:ln/>
        </p:spPr>
        <p:txBody>
          <a:bodyPr wrap="square" lIns="0" tIns="0" rIns="0" bIns="0" rtlCol="0" anchor="t"/>
          <a:lstStyle/>
          <a:p>
            <a:pPr indent="0" marL="0">
              <a:buNone/>
            </a:pPr>
            <a:r>
              <a:rPr lang="en-US" sz="1400" dirty="0">
                <a:solidFill>
                  <a:srgbClr val="5F6B76"/>
                </a:solidFill>
                <a:latin typeface="Calibri" pitchFamily="34" charset="0"/>
                <a:ea typeface="Calibri" pitchFamily="34" charset="-122"/>
                <a:cs typeface="Calibri" pitchFamily="34" charset="-120"/>
              </a:rPr>
              <a:t>чистота Li</a:t>
            </a:r>
            <a:pPr indent="0" marL="0">
              <a:buNone/>
            </a:pPr>
            <a:r>
              <a:rPr lang="en-US" sz="1400" baseline="-40000" dirty="0">
                <a:solidFill>
                  <a:srgbClr val="5F6B76"/>
                </a:solidFill>
                <a:latin typeface="Calibri" pitchFamily="34" charset="0"/>
                <a:ea typeface="Calibri" pitchFamily="34" charset="-122"/>
                <a:cs typeface="Calibri" pitchFamily="34" charset="-120"/>
              </a:rPr>
              <a:t>2</a:t>
            </a:r>
            <a:pPr indent="0" marL="0">
              <a:buNone/>
            </a:pPr>
            <a:r>
              <a:rPr lang="en-US" sz="1400" dirty="0">
                <a:solidFill>
                  <a:srgbClr val="5F6B76"/>
                </a:solidFill>
                <a:latin typeface="Calibri" pitchFamily="34" charset="0"/>
                <a:ea typeface="Calibri" pitchFamily="34" charset="-122"/>
                <a:cs typeface="Calibri" pitchFamily="34" charset="-120"/>
              </a:rPr>
              <a:t>CO</a:t>
            </a:r>
            <a:pPr indent="0" marL="0">
              <a:buNone/>
            </a:pPr>
            <a:r>
              <a:rPr lang="en-US" sz="1400" baseline="-40000" dirty="0">
                <a:solidFill>
                  <a:srgbClr val="5F6B76"/>
                </a:solidFill>
                <a:latin typeface="Calibri" pitchFamily="34" charset="0"/>
                <a:ea typeface="Calibri" pitchFamily="34" charset="-122"/>
                <a:cs typeface="Calibri" pitchFamily="34" charset="-120"/>
              </a:rPr>
              <a:t>3</a:t>
            </a:r>
            <a:pPr indent="0" marL="0">
              <a:buNone/>
            </a:pPr>
            <a:r>
              <a:rPr lang="en-US" sz="1400" dirty="0">
                <a:solidFill>
                  <a:srgbClr val="5F6B76"/>
                </a:solidFill>
                <a:latin typeface="Calibri" pitchFamily="34" charset="0"/>
                <a:ea typeface="Calibri" pitchFamily="34" charset="-122"/>
                <a:cs typeface="Calibri" pitchFamily="34" charset="-120"/>
              </a:rPr>
              <a:t> после очистки элюата</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РЕЗУЛЬТАТЫ · МАТЕРИАЛЬНЫЙ БАЛАНС</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Сквозное извлечение 0,44–0,78; основные потери — сорбция и продукт</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10 / 16</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309360" cy="914400"/>
        </p:xfrm>
        <a:graphic>
          <a:graphicData uri="http://schemas.openxmlformats.org/drawingml/2006/table">
            <a:tbl>
              <a:tblPr/>
              <a:tblGrid>
                <a:gridCol w="2011680"/>
                <a:gridCol w="1554480"/>
                <a:gridCol w="1188720"/>
                <a:gridCol w="1554480"/>
              </a:tblGrid>
              <a:tr h="512064">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Показатель</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Неблагоприятный</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Базовый</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Благоприятный</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r>
              <a:tr h="512064">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C</a:t>
                      </a:r>
                      <a:pPr algn="l" indent="0" marL="0">
                        <a:buNone/>
                      </a:pPr>
                      <a:r>
                        <a:rPr lang="en-US" sz="1400" baseline="-40000" dirty="0">
                          <a:solidFill>
                            <a:srgbClr val="1F2933"/>
                          </a:solidFill>
                          <a:latin typeface="Calibri" pitchFamily="34" charset="0"/>
                          <a:ea typeface="Calibri" pitchFamily="34" charset="-122"/>
                          <a:cs typeface="Calibri" pitchFamily="34" charset="-120"/>
                        </a:rPr>
                        <a:t>Li</a:t>
                      </a:r>
                      <a:pPr algn="l" indent="0" marL="0">
                        <a:buNone/>
                      </a:pPr>
                      <a:r>
                        <a:rPr lang="en-US" sz="1400" dirty="0">
                          <a:solidFill>
                            <a:srgbClr val="1F2933"/>
                          </a:solidFill>
                          <a:latin typeface="Calibri" pitchFamily="34" charset="0"/>
                          <a:ea typeface="Calibri" pitchFamily="34" charset="-122"/>
                          <a:cs typeface="Calibri" pitchFamily="34" charset="-120"/>
                        </a:rPr>
                        <a:t>, мг/л</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60</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380</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Q, млн м</a:t>
                      </a:r>
                      <a:pPr algn="l" indent="0" marL="0">
                        <a:buNone/>
                      </a:pPr>
                      <a:r>
                        <a:rPr lang="en-US" sz="1400" baseline="3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/год</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0,44</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1,50</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3,00</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Ресурс сорбента N, циклов</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Сквозное извлечение η</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0,44</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0,61</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0,78</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Li</a:t>
                      </a:r>
                      <a:pPr algn="l" indent="0" marL="0">
                        <a:buNone/>
                      </a:pPr>
                      <a:r>
                        <a:rPr lang="en-US" sz="1400" baseline="-40000" dirty="0">
                          <a:solidFill>
                            <a:srgbClr val="1F2933"/>
                          </a:solidFill>
                          <a:latin typeface="Calibri" pitchFamily="34" charset="0"/>
                          <a:ea typeface="Calibri" pitchFamily="34" charset="-122"/>
                          <a:cs typeface="Calibri" pitchFamily="34" charset="-120"/>
                        </a:rPr>
                        <a:t>2</a:t>
                      </a:r>
                      <a:pPr algn="l" indent="0" marL="0">
                        <a:buNone/>
                      </a:pPr>
                      <a:r>
                        <a:rPr lang="en-US" sz="1400" dirty="0">
                          <a:solidFill>
                            <a:srgbClr val="1F2933"/>
                          </a:solidFill>
                          <a:latin typeface="Calibri" pitchFamily="34" charset="0"/>
                          <a:ea typeface="Calibri" pitchFamily="34" charset="-122"/>
                          <a:cs typeface="Calibri" pitchFamily="34" charset="-120"/>
                        </a:rPr>
                        <a:t>CO</a:t>
                      </a:r>
                      <a:pPr algn="l" indent="0" marL="0">
                        <a:buNone/>
                      </a:pPr>
                      <a:r>
                        <a:rPr lang="en-US" sz="1400" baseline="-4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 т/год</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980</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4720</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Na</a:t>
                      </a:r>
                      <a:pPr algn="l" indent="0" marL="0">
                        <a:buNone/>
                      </a:pPr>
                      <a:r>
                        <a:rPr lang="en-US" sz="1400" baseline="-40000" dirty="0">
                          <a:solidFill>
                            <a:srgbClr val="1F2933"/>
                          </a:solidFill>
                          <a:latin typeface="Calibri" pitchFamily="34" charset="0"/>
                          <a:ea typeface="Calibri" pitchFamily="34" charset="-122"/>
                          <a:cs typeface="Calibri" pitchFamily="34" charset="-120"/>
                        </a:rPr>
                        <a:t>2</a:t>
                      </a:r>
                      <a:pPr algn="l" indent="0" marL="0">
                        <a:buNone/>
                      </a:pPr>
                      <a:r>
                        <a:rPr lang="en-US" sz="1400" dirty="0">
                          <a:solidFill>
                            <a:srgbClr val="1F2933"/>
                          </a:solidFill>
                          <a:latin typeface="Calibri" pitchFamily="34" charset="0"/>
                          <a:ea typeface="Calibri" pitchFamily="34" charset="-122"/>
                          <a:cs typeface="Calibri" pitchFamily="34" charset="-120"/>
                        </a:rPr>
                        <a:t>CO</a:t>
                      </a:r>
                      <a:pPr algn="l" indent="0" marL="0">
                        <a:buNone/>
                      </a:pPr>
                      <a:r>
                        <a:rPr lang="en-US" sz="1400" baseline="-4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 т/год</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1757</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8461</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12064">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Удельные затраты, тыс. долл./т</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62,1</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F2933"/>
                          </a:solidFill>
                          <a:latin typeface="Calibri" pitchFamily="34" charset="0"/>
                          <a:ea typeface="Calibri" pitchFamily="34" charset="-122"/>
                          <a:cs typeface="Calibri" pitchFamily="34" charset="-120"/>
                        </a:rPr>
                        <a:t>4,7</a:t>
                      </a:r>
                      <a:endParaRPr lang="en-US" sz="1400" dirty="0">
                        <a:latin typeface="Calibri" charset="0"/>
                        <a:ea typeface="Calibri" charset="0"/>
                        <a:cs typeface="Calibri" charset="0"/>
                      </a:endParaRPr>
                    </a:p>
                  </a:txBody>
                  <a:tcPr marL="73152" marR="73152" marT="27432" marB="2743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6F8FA"/>
                    </a:solidFill>
                  </a:tcPr>
                </a:tc>
              </a:tr>
            </a:tbl>
          </a:graphicData>
        </a:graphic>
      </p:graphicFrame>
      <p:sp>
        <p:nvSpPr>
          <p:cNvPr id="8" name="Text 4"/>
          <p:cNvSpPr txBox="1"/>
          <p:nvPr/>
        </p:nvSpPr>
        <p:spPr>
          <a:xfrm>
            <a:off x="7269480" y="1691640"/>
            <a:ext cx="4389120" cy="36576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Базовый сценарий: судьба 300 т Li/год, т</a:t>
            </a:r>
            <a:endParaRPr lang="en-US" sz="1600" dirty="0"/>
          </a:p>
        </p:txBody>
      </p:sp>
      <p:graphicFrame>
        <p:nvGraphicFramePr>
          <p:cNvPr id="9" name="Chart 0" descr=""/>
          <p:cNvGraphicFramePr/>
          <p:nvPr/>
        </p:nvGraphicFramePr>
        <p:xfrm>
          <a:off x="7178040" y="2103120"/>
          <a:ext cx="4526280" cy="3749040"/>
        </p:xfrm>
        <a:graphic xmlns:a="http://schemas.openxmlformats.org/drawingml/2006/main">
          <a:graphicData uri="http://schemas.openxmlformats.org/drawingml/2006/chart">
            <c:chart xmlns:c="http://schemas.openxmlformats.org/drawingml/2006/chart" r:id="rId1"/>
          </a:graphicData>
        </a:graphic>
      </p:graphicFrame>
      <p:sp>
        <p:nvSpPr>
          <p:cNvPr id="10" name="Text 5"/>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Расчет авторов по формулам (2)–(4); η</a:t>
            </a:r>
            <a:pPr indent="0" marL="0">
              <a:buNone/>
            </a:pPr>
            <a:r>
              <a:rPr lang="en-US" sz="1000" i="1" baseline="-40000" dirty="0">
                <a:solidFill>
                  <a:srgbClr val="8A96A3"/>
                </a:solidFill>
                <a:latin typeface="Calibri" pitchFamily="34" charset="0"/>
                <a:ea typeface="Calibri" pitchFamily="34" charset="-122"/>
                <a:cs typeface="Calibri" pitchFamily="34" charset="-120"/>
              </a:rPr>
              <a:t>sorp</a:t>
            </a:r>
            <a:pPr indent="0" marL="0">
              <a:buNone/>
            </a:pPr>
            <a:r>
              <a:rPr lang="en-US" sz="1000" i="1" dirty="0">
                <a:solidFill>
                  <a:srgbClr val="8A96A3"/>
                </a:solidFill>
                <a:latin typeface="Calibri" pitchFamily="34" charset="0"/>
                <a:ea typeface="Calibri" pitchFamily="34" charset="-122"/>
                <a:cs typeface="Calibri" pitchFamily="34" charset="-120"/>
              </a:rPr>
              <a:t>, η</a:t>
            </a:r>
            <a:pPr indent="0" marL="0">
              <a:buNone/>
            </a:pPr>
            <a:r>
              <a:rPr lang="en-US" sz="1000" i="1" baseline="-40000" dirty="0">
                <a:solidFill>
                  <a:srgbClr val="8A96A3"/>
                </a:solidFill>
                <a:latin typeface="Calibri" pitchFamily="34" charset="0"/>
                <a:ea typeface="Calibri" pitchFamily="34" charset="-122"/>
                <a:cs typeface="Calibri" pitchFamily="34" charset="-120"/>
              </a:rPr>
              <a:t>des</a:t>
            </a:r>
            <a:pPr indent="0" marL="0">
              <a:buNone/>
            </a:pPr>
            <a:r>
              <a:rPr lang="en-US" sz="1000" i="1" dirty="0">
                <a:solidFill>
                  <a:srgbClr val="8A96A3"/>
                </a:solidFill>
                <a:latin typeface="Calibri" pitchFamily="34" charset="0"/>
                <a:ea typeface="Calibri" pitchFamily="34" charset="-122"/>
                <a:cs typeface="Calibri" pitchFamily="34" charset="-120"/>
              </a:rPr>
              <a:t> — по Knapik et al., 2023; Менжерес и др., 2004; остальное — допущения</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РЕЗУЛЬТАТЫ · ГРАНИЧНЫЕ УСЛОВИЯ</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Пороговая концентрация лития зависит от объема воды и цены</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11 / 16</a:t>
            </a:r>
            <a:endParaRPr lang="en-US" sz="1000" dirty="0"/>
          </a:p>
        </p:txBody>
      </p:sp>
      <p:sp>
        <p:nvSpPr>
          <p:cNvPr id="7" name="Text 4"/>
          <p:cNvSpPr txBox="1"/>
          <p:nvPr/>
        </p:nvSpPr>
        <p:spPr>
          <a:xfrm>
            <a:off x="548640" y="1645920"/>
            <a:ext cx="2743200" cy="320040"/>
          </a:xfrm>
          <a:prstGeom prst="rect">
            <a:avLst/>
          </a:prstGeom>
          <a:noFill/>
          <a:ln/>
        </p:spPr>
        <p:txBody>
          <a:bodyPr wrap="square" lIns="0" tIns="0" rIns="0" bIns="0" rtlCol="0" anchor="ctr"/>
          <a:lstStyle/>
          <a:p>
            <a:pPr indent="0" marL="0">
              <a:buNone/>
            </a:pPr>
            <a:r>
              <a:rPr lang="en-US" sz="1400" dirty="0">
                <a:solidFill>
                  <a:srgbClr val="5F6B76"/>
                </a:solidFill>
                <a:latin typeface="Calibri" pitchFamily="34" charset="0"/>
                <a:ea typeface="Calibri" pitchFamily="34" charset="-122"/>
                <a:cs typeface="Calibri" pitchFamily="34" charset="-120"/>
              </a:rPr>
              <a:t>C</a:t>
            </a:r>
            <a:pPr indent="0" marL="0">
              <a:buNone/>
            </a:pPr>
            <a:r>
              <a:rPr lang="en-US" sz="1400" baseline="-40000" dirty="0">
                <a:solidFill>
                  <a:srgbClr val="5F6B76"/>
                </a:solidFill>
                <a:latin typeface="Calibri" pitchFamily="34" charset="0"/>
                <a:ea typeface="Calibri" pitchFamily="34" charset="-122"/>
                <a:cs typeface="Calibri" pitchFamily="34" charset="-120"/>
              </a:rPr>
              <a:t>Li</a:t>
            </a:r>
            <a:pPr indent="0" marL="0">
              <a:buNone/>
            </a:pPr>
            <a:r>
              <a:rPr lang="en-US" sz="1400" baseline="30000" dirty="0">
                <a:solidFill>
                  <a:srgbClr val="5F6B76"/>
                </a:solidFill>
                <a:latin typeface="Calibri" pitchFamily="34" charset="0"/>
                <a:ea typeface="Calibri" pitchFamily="34" charset="-122"/>
                <a:cs typeface="Calibri" pitchFamily="34" charset="-120"/>
              </a:rPr>
              <a:t>*</a:t>
            </a:r>
            <a:pPr indent="0" marL="0">
              <a:buNone/>
            </a:pPr>
            <a:r>
              <a:rPr lang="en-US" sz="1400" dirty="0">
                <a:solidFill>
                  <a:srgbClr val="5F6B76"/>
                </a:solidFill>
                <a:latin typeface="Calibri" pitchFamily="34" charset="0"/>
                <a:ea typeface="Calibri" pitchFamily="34" charset="-122"/>
                <a:cs typeface="Calibri" pitchFamily="34" charset="-120"/>
              </a:rPr>
              <a:t>, мг/л</a:t>
            </a:r>
            <a:endParaRPr lang="en-US" sz="1400" dirty="0"/>
          </a:p>
        </p:txBody>
      </p:sp>
      <p:graphicFrame>
        <p:nvGraphicFramePr>
          <p:cNvPr id="8" name="Chart 0" descr=""/>
          <p:cNvGraphicFramePr/>
          <p:nvPr/>
        </p:nvGraphicFramePr>
        <p:xfrm>
          <a:off x="457200" y="1920240"/>
          <a:ext cx="7132320" cy="379476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548640" y="5715000"/>
            <a:ext cx="6949440" cy="320040"/>
          </a:xfrm>
          <a:prstGeom prst="rect">
            <a:avLst/>
          </a:prstGeom>
          <a:noFill/>
          <a:ln/>
        </p:spPr>
        <p:txBody>
          <a:bodyPr wrap="square" lIns="0" tIns="0" rIns="0" bIns="0" rtlCol="0" anchor="ctr"/>
          <a:lstStyle/>
          <a:p>
            <a:pPr algn="ctr" indent="0" marL="0">
              <a:buNone/>
            </a:pPr>
            <a:r>
              <a:rPr lang="en-US" sz="1400" dirty="0">
                <a:solidFill>
                  <a:srgbClr val="5F6B76"/>
                </a:solidFill>
                <a:latin typeface="Calibri" pitchFamily="34" charset="0"/>
                <a:ea typeface="Calibri" pitchFamily="34" charset="-122"/>
                <a:cs typeface="Calibri" pitchFamily="34" charset="-120"/>
              </a:rPr>
              <a:t>Объем попутной воды Q, млн м</a:t>
            </a:r>
            <a:pPr algn="ctr" indent="0" marL="0">
              <a:buNone/>
            </a:pPr>
            <a:r>
              <a:rPr lang="en-US" sz="1400" baseline="30000" dirty="0">
                <a:solidFill>
                  <a:srgbClr val="5F6B76"/>
                </a:solidFill>
                <a:latin typeface="Calibri" pitchFamily="34" charset="0"/>
                <a:ea typeface="Calibri" pitchFamily="34" charset="-122"/>
                <a:cs typeface="Calibri" pitchFamily="34" charset="-120"/>
              </a:rPr>
              <a:t>3</a:t>
            </a:r>
            <a:pPr algn="ctr" indent="0" marL="0">
              <a:buNone/>
            </a:pPr>
            <a:r>
              <a:rPr lang="en-US" sz="1400" dirty="0">
                <a:solidFill>
                  <a:srgbClr val="5F6B76"/>
                </a:solidFill>
                <a:latin typeface="Calibri" pitchFamily="34" charset="0"/>
                <a:ea typeface="Calibri" pitchFamily="34" charset="-122"/>
                <a:cs typeface="Calibri" pitchFamily="34" charset="-120"/>
              </a:rPr>
              <a:t>/год</a:t>
            </a:r>
            <a:endParaRPr lang="en-US" sz="1400" dirty="0"/>
          </a:p>
        </p:txBody>
      </p:sp>
      <p:sp>
        <p:nvSpPr>
          <p:cNvPr id="10" name="Text 6"/>
          <p:cNvSpPr txBox="1"/>
          <p:nvPr/>
        </p:nvSpPr>
        <p:spPr>
          <a:xfrm>
            <a:off x="8001000" y="1691640"/>
            <a:ext cx="3642055" cy="36576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Положение объектов</a:t>
            </a:r>
            <a:endParaRPr lang="en-US" sz="1600" dirty="0"/>
          </a:p>
        </p:txBody>
      </p:sp>
      <p:sp>
        <p:nvSpPr>
          <p:cNvPr id="11" name="Shape 7"/>
          <p:cNvSpPr/>
          <p:nvPr/>
        </p:nvSpPr>
        <p:spPr>
          <a:xfrm>
            <a:off x="8001000" y="2148840"/>
            <a:ext cx="3642055" cy="1143000"/>
          </a:xfrm>
          <a:prstGeom prst="rect">
            <a:avLst/>
          </a:prstGeom>
          <a:solidFill>
            <a:srgbClr val="EEF2F5"/>
          </a:solidFill>
          <a:ln w="12700">
            <a:solidFill>
              <a:srgbClr val="EEF2F5"/>
            </a:solidFill>
            <a:prstDash val="solid"/>
          </a:ln>
        </p:spPr>
      </p:sp>
      <p:sp>
        <p:nvSpPr>
          <p:cNvPr id="12" name="Text 8"/>
          <p:cNvSpPr txBox="1"/>
          <p:nvPr/>
        </p:nvSpPr>
        <p:spPr>
          <a:xfrm>
            <a:off x="8183880" y="2240280"/>
            <a:ext cx="3276295" cy="292608"/>
          </a:xfrm>
          <a:prstGeom prst="rect">
            <a:avLst/>
          </a:prstGeom>
          <a:noFill/>
          <a:ln/>
        </p:spPr>
        <p:txBody>
          <a:bodyPr wrap="square" lIns="0" tIns="0" rIns="0" bIns="0" rtlCol="0" anchor="ctr"/>
          <a:lstStyle/>
          <a:p>
            <a:pPr indent="0" marL="0">
              <a:buNone/>
            </a:pPr>
            <a:r>
              <a:rPr lang="en-US" sz="1500" b="1" dirty="0">
                <a:solidFill>
                  <a:srgbClr val="2E5A77"/>
                </a:solidFill>
                <a:latin typeface="Calibri" pitchFamily="34" charset="0"/>
                <a:ea typeface="Calibri" pitchFamily="34" charset="-122"/>
                <a:cs typeface="Calibri" pitchFamily="34" charset="-120"/>
              </a:rPr>
              <a:t>Ярактинская УПН</a:t>
            </a:r>
            <a:endParaRPr lang="en-US" sz="1500" dirty="0"/>
          </a:p>
        </p:txBody>
      </p:sp>
      <p:sp>
        <p:nvSpPr>
          <p:cNvPr id="13" name="Text 9"/>
          <p:cNvSpPr txBox="1"/>
          <p:nvPr/>
        </p:nvSpPr>
        <p:spPr>
          <a:xfrm>
            <a:off x="8183880" y="2532888"/>
            <a:ext cx="3276295" cy="2743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60 мг/л · 0,44 млн м</a:t>
            </a:r>
            <a:pPr indent="0" marL="0">
              <a:buNone/>
            </a:pPr>
            <a:r>
              <a:rPr lang="en-US" sz="1300" baseline="30000" dirty="0">
                <a:solidFill>
                  <a:srgbClr val="1F2933"/>
                </a:solidFill>
                <a:latin typeface="Calibri" pitchFamily="34" charset="0"/>
                <a:ea typeface="Calibri" pitchFamily="34" charset="-122"/>
                <a:cs typeface="Calibri" pitchFamily="34" charset="-120"/>
              </a:rPr>
              <a:t>3</a:t>
            </a:r>
            <a:pPr indent="0" marL="0">
              <a:buNone/>
            </a:pPr>
            <a:r>
              <a:rPr lang="en-US" sz="1300" dirty="0">
                <a:solidFill>
                  <a:srgbClr val="1F2933"/>
                </a:solidFill>
                <a:latin typeface="Calibri" pitchFamily="34" charset="0"/>
                <a:ea typeface="Calibri" pitchFamily="34" charset="-122"/>
                <a:cs typeface="Calibri" pitchFamily="34" charset="-120"/>
              </a:rPr>
              <a:t>/год</a:t>
            </a:r>
            <a:endParaRPr lang="en-US" sz="1300" dirty="0"/>
          </a:p>
        </p:txBody>
      </p:sp>
      <p:sp>
        <p:nvSpPr>
          <p:cNvPr id="14" name="Text 10"/>
          <p:cNvSpPr txBox="1"/>
          <p:nvPr/>
        </p:nvSpPr>
        <p:spPr>
          <a:xfrm>
            <a:off x="8183880" y="2807208"/>
            <a:ext cx="3276295" cy="438912"/>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порог 141 мг/л даже при 20 тыс. долл./т — нерентабельно</a:t>
            </a:r>
            <a:endParaRPr lang="en-US" sz="1300" dirty="0"/>
          </a:p>
        </p:txBody>
      </p:sp>
      <p:sp>
        <p:nvSpPr>
          <p:cNvPr id="15" name="Shape 11"/>
          <p:cNvSpPr/>
          <p:nvPr/>
        </p:nvSpPr>
        <p:spPr>
          <a:xfrm>
            <a:off x="8001000" y="3410712"/>
            <a:ext cx="3642055" cy="1143000"/>
          </a:xfrm>
          <a:prstGeom prst="rect">
            <a:avLst/>
          </a:prstGeom>
          <a:solidFill>
            <a:srgbClr val="EEF2F5"/>
          </a:solidFill>
          <a:ln w="12700">
            <a:solidFill>
              <a:srgbClr val="EEF2F5"/>
            </a:solidFill>
            <a:prstDash val="solid"/>
          </a:ln>
        </p:spPr>
      </p:sp>
      <p:sp>
        <p:nvSpPr>
          <p:cNvPr id="16" name="Text 12"/>
          <p:cNvSpPr txBox="1"/>
          <p:nvPr/>
        </p:nvSpPr>
        <p:spPr>
          <a:xfrm>
            <a:off x="8183880" y="3502152"/>
            <a:ext cx="3276295" cy="292608"/>
          </a:xfrm>
          <a:prstGeom prst="rect">
            <a:avLst/>
          </a:prstGeom>
          <a:noFill/>
          <a:ln/>
        </p:spPr>
        <p:txBody>
          <a:bodyPr wrap="square" lIns="0" tIns="0" rIns="0" bIns="0" rtlCol="0" anchor="ctr"/>
          <a:lstStyle/>
          <a:p>
            <a:pPr indent="0" marL="0">
              <a:buNone/>
            </a:pPr>
            <a:r>
              <a:rPr lang="en-US" sz="1500" b="1" dirty="0">
                <a:solidFill>
                  <a:srgbClr val="2E5A77"/>
                </a:solidFill>
                <a:latin typeface="Calibri" pitchFamily="34" charset="0"/>
                <a:ea typeface="Calibri" pitchFamily="34" charset="-122"/>
                <a:cs typeface="Calibri" pitchFamily="34" charset="-120"/>
              </a:rPr>
              <a:t>Оренбургское НГКМ</a:t>
            </a:r>
            <a:endParaRPr lang="en-US" sz="1500" dirty="0"/>
          </a:p>
        </p:txBody>
      </p:sp>
      <p:sp>
        <p:nvSpPr>
          <p:cNvPr id="17" name="Text 13"/>
          <p:cNvSpPr txBox="1"/>
          <p:nvPr/>
        </p:nvSpPr>
        <p:spPr>
          <a:xfrm>
            <a:off x="8183880" y="3794760"/>
            <a:ext cx="3276295" cy="2743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граница 200 мг/л · 1,5 млн м</a:t>
            </a:r>
            <a:pPr indent="0" marL="0">
              <a:buNone/>
            </a:pPr>
            <a:r>
              <a:rPr lang="en-US" sz="1300" baseline="30000" dirty="0">
                <a:solidFill>
                  <a:srgbClr val="1F2933"/>
                </a:solidFill>
                <a:latin typeface="Calibri" pitchFamily="34" charset="0"/>
                <a:ea typeface="Calibri" pitchFamily="34" charset="-122"/>
                <a:cs typeface="Calibri" pitchFamily="34" charset="-120"/>
              </a:rPr>
              <a:t>3</a:t>
            </a:r>
            <a:pPr indent="0" marL="0">
              <a:buNone/>
            </a:pPr>
            <a:r>
              <a:rPr lang="en-US" sz="1300" dirty="0">
                <a:solidFill>
                  <a:srgbClr val="1F2933"/>
                </a:solidFill>
                <a:latin typeface="Calibri" pitchFamily="34" charset="0"/>
                <a:ea typeface="Calibri" pitchFamily="34" charset="-122"/>
                <a:cs typeface="Calibri" pitchFamily="34" charset="-120"/>
              </a:rPr>
              <a:t>/год</a:t>
            </a:r>
            <a:endParaRPr lang="en-US" sz="1300" dirty="0"/>
          </a:p>
        </p:txBody>
      </p:sp>
      <p:sp>
        <p:nvSpPr>
          <p:cNvPr id="18" name="Text 14"/>
          <p:cNvSpPr txBox="1"/>
          <p:nvPr/>
        </p:nvSpPr>
        <p:spPr>
          <a:xfrm>
            <a:off x="8183880" y="4069080"/>
            <a:ext cx="3276295" cy="438912"/>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соответствует цене ≈ 11 тыс. долл./т — модель согласуется</a:t>
            </a:r>
            <a:endParaRPr lang="en-US" sz="1300" dirty="0"/>
          </a:p>
        </p:txBody>
      </p:sp>
      <p:sp>
        <p:nvSpPr>
          <p:cNvPr id="19" name="Shape 15"/>
          <p:cNvSpPr/>
          <p:nvPr/>
        </p:nvSpPr>
        <p:spPr>
          <a:xfrm>
            <a:off x="8001000" y="4672584"/>
            <a:ext cx="3642055" cy="1143000"/>
          </a:xfrm>
          <a:prstGeom prst="rect">
            <a:avLst/>
          </a:prstGeom>
          <a:solidFill>
            <a:srgbClr val="EEF2F5"/>
          </a:solidFill>
          <a:ln w="12700">
            <a:solidFill>
              <a:srgbClr val="EEF2F5"/>
            </a:solidFill>
            <a:prstDash val="solid"/>
          </a:ln>
        </p:spPr>
      </p:sp>
      <p:sp>
        <p:nvSpPr>
          <p:cNvPr id="20" name="Text 16"/>
          <p:cNvSpPr txBox="1"/>
          <p:nvPr/>
        </p:nvSpPr>
        <p:spPr>
          <a:xfrm>
            <a:off x="8183880" y="4764024"/>
            <a:ext cx="3276295" cy="292608"/>
          </a:xfrm>
          <a:prstGeom prst="rect">
            <a:avLst/>
          </a:prstGeom>
          <a:noFill/>
          <a:ln/>
        </p:spPr>
        <p:txBody>
          <a:bodyPr wrap="square" lIns="0" tIns="0" rIns="0" bIns="0" rtlCol="0" anchor="ctr"/>
          <a:lstStyle/>
          <a:p>
            <a:pPr indent="0" marL="0">
              <a:buNone/>
            </a:pPr>
            <a:r>
              <a:rPr lang="en-US" sz="1500" b="1" dirty="0">
                <a:solidFill>
                  <a:srgbClr val="2E5A77"/>
                </a:solidFill>
                <a:latin typeface="Calibri" pitchFamily="34" charset="0"/>
                <a:ea typeface="Calibri" pitchFamily="34" charset="-122"/>
                <a:cs typeface="Calibri" pitchFamily="34" charset="-120"/>
              </a:rPr>
              <a:t>М-е им. Кокорина</a:t>
            </a:r>
            <a:endParaRPr lang="en-US" sz="1500" dirty="0"/>
          </a:p>
        </p:txBody>
      </p:sp>
      <p:sp>
        <p:nvSpPr>
          <p:cNvPr id="21" name="Text 17"/>
          <p:cNvSpPr txBox="1"/>
          <p:nvPr/>
        </p:nvSpPr>
        <p:spPr>
          <a:xfrm>
            <a:off x="8183880" y="5056632"/>
            <a:ext cx="3276295" cy="2743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169–383 мг/л · 6,2 млн м</a:t>
            </a:r>
            <a:pPr indent="0" marL="0">
              <a:buNone/>
            </a:pPr>
            <a:r>
              <a:rPr lang="en-US" sz="1300" baseline="30000" dirty="0">
                <a:solidFill>
                  <a:srgbClr val="1F2933"/>
                </a:solidFill>
                <a:latin typeface="Calibri" pitchFamily="34" charset="0"/>
                <a:ea typeface="Calibri" pitchFamily="34" charset="-122"/>
                <a:cs typeface="Calibri" pitchFamily="34" charset="-120"/>
              </a:rPr>
              <a:t>3</a:t>
            </a:r>
            <a:pPr indent="0" marL="0">
              <a:buNone/>
            </a:pPr>
            <a:r>
              <a:rPr lang="en-US" sz="1300" dirty="0">
                <a:solidFill>
                  <a:srgbClr val="1F2933"/>
                </a:solidFill>
                <a:latin typeface="Calibri" pitchFamily="34" charset="0"/>
                <a:ea typeface="Calibri" pitchFamily="34" charset="-122"/>
                <a:cs typeface="Calibri" pitchFamily="34" charset="-120"/>
              </a:rPr>
              <a:t>/год</a:t>
            </a:r>
            <a:endParaRPr lang="en-US" sz="1300" dirty="0"/>
          </a:p>
        </p:txBody>
      </p:sp>
      <p:sp>
        <p:nvSpPr>
          <p:cNvPr id="22" name="Text 18"/>
          <p:cNvSpPr txBox="1"/>
          <p:nvPr/>
        </p:nvSpPr>
        <p:spPr>
          <a:xfrm>
            <a:off x="8183880" y="5330952"/>
            <a:ext cx="3276295" cy="438912"/>
          </a:xfrm>
          <a:prstGeom prst="rect">
            <a:avLst/>
          </a:prstGeom>
          <a:noFill/>
          <a:ln/>
        </p:spPr>
        <p:txBody>
          <a:bodyPr wrap="square" lIns="0" tIns="0" rIns="0" bIns="0" rtlCol="0" anchor="t"/>
          <a:lstStyle/>
          <a:p>
            <a:pPr indent="0" marL="0">
              <a:buNone/>
            </a:pPr>
            <a:r>
              <a:rPr lang="en-US" sz="1300" dirty="0">
                <a:solidFill>
                  <a:srgbClr val="5F6B76"/>
                </a:solidFill>
                <a:latin typeface="Calibri" pitchFamily="34" charset="0"/>
                <a:ea typeface="Calibri" pitchFamily="34" charset="-122"/>
                <a:cs typeface="Calibri" pitchFamily="34" charset="-120"/>
              </a:rPr>
              <a:t>порог 185 мг/л — реализуемо уже при цене 2025 г.</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РЕЗУЛЬТАТЫ · ЧУВСТВИТЕЛЬНОСТЬ</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Главные факторы — цена, извлечение и капитальные затраты</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12 / 16</a:t>
            </a:r>
            <a:endParaRPr lang="en-US" sz="1000" dirty="0"/>
          </a:p>
        </p:txBody>
      </p:sp>
      <p:sp>
        <p:nvSpPr>
          <p:cNvPr id="7" name="Text 4"/>
          <p:cNvSpPr txBox="1"/>
          <p:nvPr/>
        </p:nvSpPr>
        <p:spPr>
          <a:xfrm>
            <a:off x="548640" y="1645920"/>
            <a:ext cx="7498080" cy="54864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Изменение пороговой концентрации при изменении параметра на ±30 %, мг/л (база 270 мг/л, 9 тыс. долл./т)</a:t>
            </a:r>
            <a:endParaRPr lang="en-US" sz="1500" dirty="0"/>
          </a:p>
        </p:txBody>
      </p:sp>
      <p:graphicFrame>
        <p:nvGraphicFramePr>
          <p:cNvPr id="8" name="Chart 0" descr=""/>
          <p:cNvGraphicFramePr/>
          <p:nvPr/>
        </p:nvGraphicFramePr>
        <p:xfrm>
          <a:off x="457200" y="2194560"/>
          <a:ext cx="7680960" cy="37947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412480" y="1691640"/>
            <a:ext cx="3230575" cy="4206240"/>
          </a:xfrm>
          <a:prstGeom prst="rect">
            <a:avLst/>
          </a:prstGeom>
          <a:solidFill>
            <a:srgbClr val="EEF2F5"/>
          </a:solidFill>
          <a:ln w="12700">
            <a:solidFill>
              <a:srgbClr val="EEF2F5"/>
            </a:solidFill>
            <a:prstDash val="solid"/>
          </a:ln>
        </p:spPr>
      </p:sp>
      <p:sp>
        <p:nvSpPr>
          <p:cNvPr id="10" name="Text 6"/>
          <p:cNvSpPr txBox="1"/>
          <p:nvPr/>
        </p:nvSpPr>
        <p:spPr>
          <a:xfrm>
            <a:off x="8641080" y="1874520"/>
            <a:ext cx="2773375" cy="365760"/>
          </a:xfrm>
          <a:prstGeom prst="rect">
            <a:avLst/>
          </a:prstGeom>
          <a:noFill/>
          <a:ln/>
        </p:spPr>
        <p:txBody>
          <a:bodyPr wrap="square" lIns="0" tIns="0" rIns="0" bIns="0" rtlCol="0" anchor="ctr"/>
          <a:lstStyle/>
          <a:p>
            <a:pPr indent="0" marL="0">
              <a:buNone/>
            </a:pPr>
            <a:r>
              <a:rPr lang="en-US" sz="1600" b="1" dirty="0">
                <a:solidFill>
                  <a:srgbClr val="2E5A77"/>
                </a:solidFill>
                <a:latin typeface="Calibri" pitchFamily="34" charset="0"/>
                <a:ea typeface="Calibri" pitchFamily="34" charset="-122"/>
                <a:cs typeface="Calibri" pitchFamily="34" charset="-120"/>
              </a:rPr>
              <a:t>Ресурс сорбента</a:t>
            </a:r>
            <a:endParaRPr lang="en-US" sz="1600" dirty="0"/>
          </a:p>
        </p:txBody>
      </p:sp>
      <p:sp>
        <p:nvSpPr>
          <p:cNvPr id="11" name="Text 7"/>
          <p:cNvSpPr txBox="1"/>
          <p:nvPr/>
        </p:nvSpPr>
        <p:spPr>
          <a:xfrm>
            <a:off x="8641080" y="2286000"/>
            <a:ext cx="2773375" cy="59436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1,9 → 4,7</a:t>
            </a:r>
            <a:endParaRPr lang="en-US" sz="2800" dirty="0"/>
          </a:p>
        </p:txBody>
      </p:sp>
      <p:sp>
        <p:nvSpPr>
          <p:cNvPr id="12" name="Text 8"/>
          <p:cNvSpPr txBox="1"/>
          <p:nvPr/>
        </p:nvSpPr>
        <p:spPr>
          <a:xfrm>
            <a:off x="8641080" y="2926080"/>
            <a:ext cx="2773375" cy="914400"/>
          </a:xfrm>
          <a:prstGeom prst="rect">
            <a:avLst/>
          </a:prstGeom>
          <a:noFill/>
          <a:ln/>
        </p:spPr>
        <p:txBody>
          <a:bodyPr wrap="square" lIns="0" tIns="0" rIns="0" bIns="0" rtlCol="0" anchor="t"/>
          <a:lstStyle/>
          <a:p>
            <a:pPr indent="0" marL="0">
              <a:buNone/>
            </a:pPr>
            <a:r>
              <a:rPr lang="en-US" sz="1400" dirty="0">
                <a:solidFill>
                  <a:srgbClr val="5F6B76"/>
                </a:solidFill>
                <a:latin typeface="Calibri" pitchFamily="34" charset="0"/>
                <a:ea typeface="Calibri" pitchFamily="34" charset="-122"/>
                <a:cs typeface="Calibri" pitchFamily="34" charset="-120"/>
              </a:rPr>
              <a:t>тыс. долл./т — затраты на замену сорбента при снижении N с 500 до 200 циклов</a:t>
            </a:r>
            <a:endParaRPr lang="en-US" sz="1400" dirty="0"/>
          </a:p>
        </p:txBody>
      </p:sp>
      <p:sp>
        <p:nvSpPr>
          <p:cNvPr id="13" name="Text 9"/>
          <p:cNvSpPr txBox="1"/>
          <p:nvPr/>
        </p:nvSpPr>
        <p:spPr>
          <a:xfrm>
            <a:off x="8641080" y="3931920"/>
            <a:ext cx="2773375" cy="594360"/>
          </a:xfrm>
          <a:prstGeom prst="rect">
            <a:avLst/>
          </a:prstGeom>
          <a:noFill/>
          <a:ln/>
        </p:spPr>
        <p:txBody>
          <a:bodyPr wrap="square" lIns="0" tIns="0" rIns="0" bIns="0" rtlCol="0" anchor="ctr"/>
          <a:lstStyle/>
          <a:p>
            <a:pPr indent="0" marL="0">
              <a:buNone/>
            </a:pPr>
            <a:r>
              <a:rPr lang="en-US" sz="2800" b="1" dirty="0">
                <a:solidFill>
                  <a:srgbClr val="1F2933"/>
                </a:solidFill>
                <a:latin typeface="Calibri" pitchFamily="34" charset="0"/>
                <a:ea typeface="Calibri" pitchFamily="34" charset="-122"/>
                <a:cs typeface="Calibri" pitchFamily="34" charset="-120"/>
              </a:rPr>
              <a:t>≤ 20 циклов</a:t>
            </a:r>
            <a:endParaRPr lang="en-US" sz="2800" dirty="0"/>
          </a:p>
        </p:txBody>
      </p:sp>
      <p:sp>
        <p:nvSpPr>
          <p:cNvPr id="14" name="Text 10"/>
          <p:cNvSpPr txBox="1"/>
          <p:nvPr/>
        </p:nvSpPr>
        <p:spPr>
          <a:xfrm>
            <a:off x="8641080" y="4572000"/>
            <a:ext cx="2773375" cy="1097280"/>
          </a:xfrm>
          <a:prstGeom prst="rect">
            <a:avLst/>
          </a:prstGeom>
          <a:noFill/>
          <a:ln/>
        </p:spPr>
        <p:txBody>
          <a:bodyPr wrap="square" lIns="0" tIns="0" rIns="0" bIns="0" rtlCol="0" anchor="t"/>
          <a:lstStyle/>
          <a:p>
            <a:pPr indent="0" marL="0">
              <a:buNone/>
            </a:pPr>
            <a:r>
              <a:rPr lang="en-US" sz="1400" dirty="0">
                <a:solidFill>
                  <a:srgbClr val="5F6B76"/>
                </a:solidFill>
                <a:latin typeface="Calibri" pitchFamily="34" charset="0"/>
                <a:ea typeface="Calibri" pitchFamily="34" charset="-122"/>
                <a:cs typeface="Calibri" pitchFamily="34" charset="-120"/>
              </a:rPr>
              <a:t>самые длинные опубликованные серии на реальных попутных водах (Pan et al., 2025)</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ОБСУЖДЕНИЕ</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Водопотребление и обратная закачка — условия, а не детали</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13 / 16</a:t>
            </a:r>
            <a:endParaRPr lang="en-US" sz="1000" dirty="0"/>
          </a:p>
        </p:txBody>
      </p:sp>
      <p:sp>
        <p:nvSpPr>
          <p:cNvPr id="7" name="Text 4"/>
          <p:cNvSpPr txBox="1"/>
          <p:nvPr/>
        </p:nvSpPr>
        <p:spPr>
          <a:xfrm>
            <a:off x="548640" y="1645920"/>
            <a:ext cx="6675120" cy="36576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Расход пресной воды, м³ на 1 т Li₂CO₃</a:t>
            </a:r>
            <a:endParaRPr lang="en-US" sz="1600" dirty="0"/>
          </a:p>
        </p:txBody>
      </p:sp>
      <p:sp>
        <p:nvSpPr>
          <p:cNvPr id="8" name="Shape 5"/>
          <p:cNvSpPr/>
          <p:nvPr/>
        </p:nvSpPr>
        <p:spPr>
          <a:xfrm>
            <a:off x="3246120" y="2194560"/>
            <a:ext cx="0" cy="2926080"/>
          </a:xfrm>
          <a:prstGeom prst="line">
            <a:avLst/>
          </a:prstGeom>
          <a:noFill/>
          <a:ln w="9525">
            <a:solidFill>
              <a:srgbClr val="E5E9ED"/>
            </a:solidFill>
            <a:prstDash val="solid"/>
          </a:ln>
        </p:spPr>
      </p:sp>
      <p:sp>
        <p:nvSpPr>
          <p:cNvPr id="9" name="Text 6"/>
          <p:cNvSpPr txBox="1"/>
          <p:nvPr/>
        </p:nvSpPr>
        <p:spPr>
          <a:xfrm>
            <a:off x="2971800" y="5166360"/>
            <a:ext cx="548640" cy="274320"/>
          </a:xfrm>
          <a:prstGeom prst="rect">
            <a:avLst/>
          </a:prstGeom>
          <a:noFill/>
          <a:ln/>
        </p:spPr>
        <p:txBody>
          <a:bodyPr wrap="square" lIns="0" tIns="0" rIns="0" bIns="0" rtlCol="0" anchor="ctr"/>
          <a:lstStyle/>
          <a:p>
            <a:pPr algn="ctr" indent="0" marL="0">
              <a:buNone/>
            </a:pPr>
            <a:r>
              <a:rPr lang="en-US" sz="1200" dirty="0">
                <a:solidFill>
                  <a:srgbClr val="5F6B76"/>
                </a:solidFill>
                <a:latin typeface="Calibri" pitchFamily="34" charset="0"/>
                <a:ea typeface="Calibri" pitchFamily="34" charset="-122"/>
                <a:cs typeface="Calibri" pitchFamily="34" charset="-120"/>
              </a:rPr>
              <a:t>0</a:t>
            </a:r>
            <a:endParaRPr lang="en-US" sz="1200" dirty="0"/>
          </a:p>
        </p:txBody>
      </p:sp>
      <p:sp>
        <p:nvSpPr>
          <p:cNvPr id="10" name="Shape 7"/>
          <p:cNvSpPr/>
          <p:nvPr/>
        </p:nvSpPr>
        <p:spPr>
          <a:xfrm>
            <a:off x="3886200" y="2194560"/>
            <a:ext cx="0" cy="2926080"/>
          </a:xfrm>
          <a:prstGeom prst="line">
            <a:avLst/>
          </a:prstGeom>
          <a:noFill/>
          <a:ln w="9525">
            <a:solidFill>
              <a:srgbClr val="E5E9ED"/>
            </a:solidFill>
            <a:prstDash val="solid"/>
          </a:ln>
        </p:spPr>
      </p:sp>
      <p:sp>
        <p:nvSpPr>
          <p:cNvPr id="11" name="Text 8"/>
          <p:cNvSpPr txBox="1"/>
          <p:nvPr/>
        </p:nvSpPr>
        <p:spPr>
          <a:xfrm>
            <a:off x="3611880" y="5166360"/>
            <a:ext cx="548640" cy="274320"/>
          </a:xfrm>
          <a:prstGeom prst="rect">
            <a:avLst/>
          </a:prstGeom>
          <a:noFill/>
          <a:ln/>
        </p:spPr>
        <p:txBody>
          <a:bodyPr wrap="square" lIns="0" tIns="0" rIns="0" bIns="0" rtlCol="0" anchor="ctr"/>
          <a:lstStyle/>
          <a:p>
            <a:pPr algn="ctr" indent="0" marL="0">
              <a:buNone/>
            </a:pPr>
            <a:r>
              <a:rPr lang="en-US" sz="1200" dirty="0">
                <a:solidFill>
                  <a:srgbClr val="5F6B76"/>
                </a:solidFill>
                <a:latin typeface="Calibri" pitchFamily="34" charset="0"/>
                <a:ea typeface="Calibri" pitchFamily="34" charset="-122"/>
                <a:cs typeface="Calibri" pitchFamily="34" charset="-120"/>
              </a:rPr>
              <a:t>100</a:t>
            </a:r>
            <a:endParaRPr lang="en-US" sz="1200" dirty="0"/>
          </a:p>
        </p:txBody>
      </p:sp>
      <p:sp>
        <p:nvSpPr>
          <p:cNvPr id="12" name="Shape 9"/>
          <p:cNvSpPr/>
          <p:nvPr/>
        </p:nvSpPr>
        <p:spPr>
          <a:xfrm>
            <a:off x="4526280" y="2194560"/>
            <a:ext cx="0" cy="2926080"/>
          </a:xfrm>
          <a:prstGeom prst="line">
            <a:avLst/>
          </a:prstGeom>
          <a:noFill/>
          <a:ln w="9525">
            <a:solidFill>
              <a:srgbClr val="E5E9ED"/>
            </a:solidFill>
            <a:prstDash val="solid"/>
          </a:ln>
        </p:spPr>
      </p:sp>
      <p:sp>
        <p:nvSpPr>
          <p:cNvPr id="13" name="Text 10"/>
          <p:cNvSpPr txBox="1"/>
          <p:nvPr/>
        </p:nvSpPr>
        <p:spPr>
          <a:xfrm>
            <a:off x="4251960" y="5166360"/>
            <a:ext cx="548640" cy="274320"/>
          </a:xfrm>
          <a:prstGeom prst="rect">
            <a:avLst/>
          </a:prstGeom>
          <a:noFill/>
          <a:ln/>
        </p:spPr>
        <p:txBody>
          <a:bodyPr wrap="square" lIns="0" tIns="0" rIns="0" bIns="0" rtlCol="0" anchor="ctr"/>
          <a:lstStyle/>
          <a:p>
            <a:pPr algn="ctr" indent="0" marL="0">
              <a:buNone/>
            </a:pPr>
            <a:r>
              <a:rPr lang="en-US" sz="1200" dirty="0">
                <a:solidFill>
                  <a:srgbClr val="5F6B76"/>
                </a:solidFill>
                <a:latin typeface="Calibri" pitchFamily="34" charset="0"/>
                <a:ea typeface="Calibri" pitchFamily="34" charset="-122"/>
                <a:cs typeface="Calibri" pitchFamily="34" charset="-120"/>
              </a:rPr>
              <a:t>200</a:t>
            </a:r>
            <a:endParaRPr lang="en-US" sz="1200" dirty="0"/>
          </a:p>
        </p:txBody>
      </p:sp>
      <p:sp>
        <p:nvSpPr>
          <p:cNvPr id="14" name="Shape 11"/>
          <p:cNvSpPr/>
          <p:nvPr/>
        </p:nvSpPr>
        <p:spPr>
          <a:xfrm>
            <a:off x="5166360" y="2194560"/>
            <a:ext cx="0" cy="2926080"/>
          </a:xfrm>
          <a:prstGeom prst="line">
            <a:avLst/>
          </a:prstGeom>
          <a:noFill/>
          <a:ln w="9525">
            <a:solidFill>
              <a:srgbClr val="E5E9ED"/>
            </a:solidFill>
            <a:prstDash val="solid"/>
          </a:ln>
        </p:spPr>
      </p:sp>
      <p:sp>
        <p:nvSpPr>
          <p:cNvPr id="15" name="Text 12"/>
          <p:cNvSpPr txBox="1"/>
          <p:nvPr/>
        </p:nvSpPr>
        <p:spPr>
          <a:xfrm>
            <a:off x="4892040" y="5166360"/>
            <a:ext cx="548640" cy="274320"/>
          </a:xfrm>
          <a:prstGeom prst="rect">
            <a:avLst/>
          </a:prstGeom>
          <a:noFill/>
          <a:ln/>
        </p:spPr>
        <p:txBody>
          <a:bodyPr wrap="square" lIns="0" tIns="0" rIns="0" bIns="0" rtlCol="0" anchor="ctr"/>
          <a:lstStyle/>
          <a:p>
            <a:pPr algn="ctr" indent="0" marL="0">
              <a:buNone/>
            </a:pPr>
            <a:r>
              <a:rPr lang="en-US" sz="1200" dirty="0">
                <a:solidFill>
                  <a:srgbClr val="5F6B76"/>
                </a:solidFill>
                <a:latin typeface="Calibri" pitchFamily="34" charset="0"/>
                <a:ea typeface="Calibri" pitchFamily="34" charset="-122"/>
                <a:cs typeface="Calibri" pitchFamily="34" charset="-120"/>
              </a:rPr>
              <a:t>300</a:t>
            </a:r>
            <a:endParaRPr lang="en-US" sz="1200" dirty="0"/>
          </a:p>
        </p:txBody>
      </p:sp>
      <p:sp>
        <p:nvSpPr>
          <p:cNvPr id="16" name="Shape 13"/>
          <p:cNvSpPr/>
          <p:nvPr/>
        </p:nvSpPr>
        <p:spPr>
          <a:xfrm>
            <a:off x="5806440" y="2194560"/>
            <a:ext cx="0" cy="2926080"/>
          </a:xfrm>
          <a:prstGeom prst="line">
            <a:avLst/>
          </a:prstGeom>
          <a:noFill/>
          <a:ln w="9525">
            <a:solidFill>
              <a:srgbClr val="E5E9ED"/>
            </a:solidFill>
            <a:prstDash val="solid"/>
          </a:ln>
        </p:spPr>
      </p:sp>
      <p:sp>
        <p:nvSpPr>
          <p:cNvPr id="17" name="Text 14"/>
          <p:cNvSpPr txBox="1"/>
          <p:nvPr/>
        </p:nvSpPr>
        <p:spPr>
          <a:xfrm>
            <a:off x="5532120" y="5166360"/>
            <a:ext cx="548640" cy="274320"/>
          </a:xfrm>
          <a:prstGeom prst="rect">
            <a:avLst/>
          </a:prstGeom>
          <a:noFill/>
          <a:ln/>
        </p:spPr>
        <p:txBody>
          <a:bodyPr wrap="square" lIns="0" tIns="0" rIns="0" bIns="0" rtlCol="0" anchor="ctr"/>
          <a:lstStyle/>
          <a:p>
            <a:pPr algn="ctr" indent="0" marL="0">
              <a:buNone/>
            </a:pPr>
            <a:r>
              <a:rPr lang="en-US" sz="1200" dirty="0">
                <a:solidFill>
                  <a:srgbClr val="5F6B76"/>
                </a:solidFill>
                <a:latin typeface="Calibri" pitchFamily="34" charset="0"/>
                <a:ea typeface="Calibri" pitchFamily="34" charset="-122"/>
                <a:cs typeface="Calibri" pitchFamily="34" charset="-120"/>
              </a:rPr>
              <a:t>400</a:t>
            </a:r>
            <a:endParaRPr lang="en-US" sz="1200" dirty="0"/>
          </a:p>
        </p:txBody>
      </p:sp>
      <p:sp>
        <p:nvSpPr>
          <p:cNvPr id="18" name="Shape 15"/>
          <p:cNvSpPr/>
          <p:nvPr/>
        </p:nvSpPr>
        <p:spPr>
          <a:xfrm>
            <a:off x="6446520" y="2194560"/>
            <a:ext cx="0" cy="2926080"/>
          </a:xfrm>
          <a:prstGeom prst="line">
            <a:avLst/>
          </a:prstGeom>
          <a:noFill/>
          <a:ln w="9525">
            <a:solidFill>
              <a:srgbClr val="E5E9ED"/>
            </a:solidFill>
            <a:prstDash val="solid"/>
          </a:ln>
        </p:spPr>
      </p:sp>
      <p:sp>
        <p:nvSpPr>
          <p:cNvPr id="19" name="Text 16"/>
          <p:cNvSpPr txBox="1"/>
          <p:nvPr/>
        </p:nvSpPr>
        <p:spPr>
          <a:xfrm>
            <a:off x="6172200" y="5166360"/>
            <a:ext cx="548640" cy="274320"/>
          </a:xfrm>
          <a:prstGeom prst="rect">
            <a:avLst/>
          </a:prstGeom>
          <a:noFill/>
          <a:ln/>
        </p:spPr>
        <p:txBody>
          <a:bodyPr wrap="square" lIns="0" tIns="0" rIns="0" bIns="0" rtlCol="0" anchor="ctr"/>
          <a:lstStyle/>
          <a:p>
            <a:pPr algn="ctr" indent="0" marL="0">
              <a:buNone/>
            </a:pPr>
            <a:r>
              <a:rPr lang="en-US" sz="1200" dirty="0">
                <a:solidFill>
                  <a:srgbClr val="5F6B76"/>
                </a:solidFill>
                <a:latin typeface="Calibri" pitchFamily="34" charset="0"/>
                <a:ea typeface="Calibri" pitchFamily="34" charset="-122"/>
                <a:cs typeface="Calibri" pitchFamily="34" charset="-120"/>
              </a:rPr>
              <a:t>500</a:t>
            </a:r>
            <a:endParaRPr lang="en-US" sz="1200" dirty="0"/>
          </a:p>
        </p:txBody>
      </p:sp>
      <p:sp>
        <p:nvSpPr>
          <p:cNvPr id="20" name="Shape 17"/>
          <p:cNvSpPr/>
          <p:nvPr/>
        </p:nvSpPr>
        <p:spPr>
          <a:xfrm>
            <a:off x="7086600" y="2194560"/>
            <a:ext cx="0" cy="2926080"/>
          </a:xfrm>
          <a:prstGeom prst="line">
            <a:avLst/>
          </a:prstGeom>
          <a:noFill/>
          <a:ln w="9525">
            <a:solidFill>
              <a:srgbClr val="E5E9ED"/>
            </a:solidFill>
            <a:prstDash val="solid"/>
          </a:ln>
        </p:spPr>
      </p:sp>
      <p:sp>
        <p:nvSpPr>
          <p:cNvPr id="21" name="Text 18"/>
          <p:cNvSpPr txBox="1"/>
          <p:nvPr/>
        </p:nvSpPr>
        <p:spPr>
          <a:xfrm>
            <a:off x="6812280" y="5166360"/>
            <a:ext cx="548640" cy="274320"/>
          </a:xfrm>
          <a:prstGeom prst="rect">
            <a:avLst/>
          </a:prstGeom>
          <a:noFill/>
          <a:ln/>
        </p:spPr>
        <p:txBody>
          <a:bodyPr wrap="square" lIns="0" tIns="0" rIns="0" bIns="0" rtlCol="0" anchor="ctr"/>
          <a:lstStyle/>
          <a:p>
            <a:pPr algn="ctr" indent="0" marL="0">
              <a:buNone/>
            </a:pPr>
            <a:r>
              <a:rPr lang="en-US" sz="1200" dirty="0">
                <a:solidFill>
                  <a:srgbClr val="5F6B76"/>
                </a:solidFill>
                <a:latin typeface="Calibri" pitchFamily="34" charset="0"/>
                <a:ea typeface="Calibri" pitchFamily="34" charset="-122"/>
                <a:cs typeface="Calibri" pitchFamily="34" charset="-120"/>
              </a:rPr>
              <a:t>600</a:t>
            </a:r>
            <a:endParaRPr lang="en-US" sz="1200" dirty="0"/>
          </a:p>
        </p:txBody>
      </p:sp>
      <p:sp>
        <p:nvSpPr>
          <p:cNvPr id="22" name="Text 19"/>
          <p:cNvSpPr txBox="1"/>
          <p:nvPr/>
        </p:nvSpPr>
        <p:spPr>
          <a:xfrm>
            <a:off x="548640" y="2240280"/>
            <a:ext cx="2560320" cy="594360"/>
          </a:xfrm>
          <a:prstGeom prst="rect">
            <a:avLst/>
          </a:prstGeom>
          <a:noFill/>
          <a:ln/>
        </p:spPr>
        <p:txBody>
          <a:bodyPr wrap="square" lIns="0" tIns="0" rIns="0" bIns="0" rtlCol="0" anchor="ctr"/>
          <a:lstStyle/>
          <a:p>
            <a:pPr algn="r" indent="0" marL="0">
              <a:buNone/>
            </a:pPr>
            <a:r>
              <a:rPr lang="en-US" sz="1400" dirty="0">
                <a:solidFill>
                  <a:srgbClr val="1F2933"/>
                </a:solidFill>
                <a:latin typeface="Calibri" pitchFamily="34" charset="0"/>
                <a:ea typeface="Calibri" pitchFamily="34" charset="-122"/>
                <a:cs typeface="Calibri" pitchFamily="34" charset="-120"/>
              </a:rPr>
              <a:t>Испарительная технология</a:t>
            </a:r>
            <a:endParaRPr lang="en-US" sz="1400" dirty="0"/>
          </a:p>
        </p:txBody>
      </p:sp>
      <p:sp>
        <p:nvSpPr>
          <p:cNvPr id="23" name="Shape 20"/>
          <p:cNvSpPr/>
          <p:nvPr/>
        </p:nvSpPr>
        <p:spPr>
          <a:xfrm>
            <a:off x="3390138" y="2377440"/>
            <a:ext cx="176022" cy="320040"/>
          </a:xfrm>
          <a:prstGeom prst="rect">
            <a:avLst/>
          </a:prstGeom>
          <a:solidFill>
            <a:srgbClr val="B4C4D2"/>
          </a:solidFill>
          <a:ln w="12700">
            <a:solidFill>
              <a:srgbClr val="B4C4D2"/>
            </a:solidFill>
            <a:prstDash val="solid"/>
          </a:ln>
        </p:spPr>
      </p:sp>
      <p:sp>
        <p:nvSpPr>
          <p:cNvPr id="24" name="Text 21"/>
          <p:cNvSpPr txBox="1"/>
          <p:nvPr/>
        </p:nvSpPr>
        <p:spPr>
          <a:xfrm>
            <a:off x="3639312" y="2240280"/>
            <a:ext cx="914400" cy="59436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22,5–50</a:t>
            </a:r>
            <a:endParaRPr lang="en-US" sz="1400" dirty="0"/>
          </a:p>
        </p:txBody>
      </p:sp>
      <p:sp>
        <p:nvSpPr>
          <p:cNvPr id="25" name="Text 22"/>
          <p:cNvSpPr txBox="1"/>
          <p:nvPr/>
        </p:nvSpPr>
        <p:spPr>
          <a:xfrm>
            <a:off x="548640" y="2971800"/>
            <a:ext cx="2560320" cy="594360"/>
          </a:xfrm>
          <a:prstGeom prst="rect">
            <a:avLst/>
          </a:prstGeom>
          <a:noFill/>
          <a:ln/>
        </p:spPr>
        <p:txBody>
          <a:bodyPr wrap="square" lIns="0" tIns="0" rIns="0" bIns="0" rtlCol="0" anchor="ctr"/>
          <a:lstStyle/>
          <a:p>
            <a:pPr algn="r" indent="0" marL="0">
              <a:buNone/>
            </a:pPr>
            <a:r>
              <a:rPr lang="en-US" sz="1400" dirty="0">
                <a:solidFill>
                  <a:srgbClr val="1F2933"/>
                </a:solidFill>
                <a:latin typeface="Calibri" pitchFamily="34" charset="0"/>
                <a:ea typeface="Calibri" pitchFamily="34" charset="-122"/>
                <a:cs typeface="Calibri" pitchFamily="34" charset="-120"/>
              </a:rPr>
              <a:t>DLE, Омбре-Муэрто (пром.)</a:t>
            </a:r>
            <a:endParaRPr lang="en-US" sz="1400" dirty="0"/>
          </a:p>
        </p:txBody>
      </p:sp>
      <p:sp>
        <p:nvSpPr>
          <p:cNvPr id="26" name="Shape 23"/>
          <p:cNvSpPr/>
          <p:nvPr/>
        </p:nvSpPr>
        <p:spPr>
          <a:xfrm>
            <a:off x="3668573" y="3108960"/>
            <a:ext cx="64008" cy="320040"/>
          </a:xfrm>
          <a:prstGeom prst="rect">
            <a:avLst/>
          </a:prstGeom>
          <a:solidFill>
            <a:srgbClr val="B4C4D2"/>
          </a:solidFill>
          <a:ln w="12700">
            <a:solidFill>
              <a:srgbClr val="B4C4D2"/>
            </a:solidFill>
            <a:prstDash val="solid"/>
          </a:ln>
        </p:spPr>
      </p:sp>
      <p:sp>
        <p:nvSpPr>
          <p:cNvPr id="27" name="Text 24"/>
          <p:cNvSpPr txBox="1"/>
          <p:nvPr/>
        </p:nvSpPr>
        <p:spPr>
          <a:xfrm>
            <a:off x="3805733" y="2971800"/>
            <a:ext cx="914400" cy="59436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71</a:t>
            </a:r>
            <a:endParaRPr lang="en-US" sz="1400" dirty="0"/>
          </a:p>
        </p:txBody>
      </p:sp>
      <p:sp>
        <p:nvSpPr>
          <p:cNvPr id="28" name="Text 25"/>
          <p:cNvSpPr txBox="1"/>
          <p:nvPr/>
        </p:nvSpPr>
        <p:spPr>
          <a:xfrm>
            <a:off x="548640" y="3703320"/>
            <a:ext cx="2560320" cy="594360"/>
          </a:xfrm>
          <a:prstGeom prst="rect">
            <a:avLst/>
          </a:prstGeom>
          <a:noFill/>
          <a:ln/>
        </p:spPr>
        <p:txBody>
          <a:bodyPr wrap="square" lIns="0" tIns="0" rIns="0" bIns="0" rtlCol="0" anchor="ctr"/>
          <a:lstStyle/>
          <a:p>
            <a:pPr algn="r" indent="0" marL="0">
              <a:buNone/>
            </a:pPr>
            <a:r>
              <a:rPr lang="en-US" sz="1400" dirty="0">
                <a:solidFill>
                  <a:srgbClr val="1F2933"/>
                </a:solidFill>
                <a:latin typeface="Calibri" pitchFamily="34" charset="0"/>
                <a:ea typeface="Calibri" pitchFamily="34" charset="-122"/>
                <a:cs typeface="Calibri" pitchFamily="34" charset="-120"/>
              </a:rPr>
              <a:t>ДГАЛ-Cl, расчет без рециркуляции</a:t>
            </a:r>
            <a:endParaRPr lang="en-US" sz="1400" dirty="0"/>
          </a:p>
        </p:txBody>
      </p:sp>
      <p:sp>
        <p:nvSpPr>
          <p:cNvPr id="29" name="Shape 26"/>
          <p:cNvSpPr/>
          <p:nvPr/>
        </p:nvSpPr>
        <p:spPr>
          <a:xfrm>
            <a:off x="4590288" y="3840480"/>
            <a:ext cx="704088" cy="320040"/>
          </a:xfrm>
          <a:prstGeom prst="rect">
            <a:avLst/>
          </a:prstGeom>
          <a:solidFill>
            <a:srgbClr val="2E5A77"/>
          </a:solidFill>
          <a:ln w="12700">
            <a:solidFill>
              <a:srgbClr val="2E5A77"/>
            </a:solidFill>
            <a:prstDash val="solid"/>
          </a:ln>
        </p:spPr>
      </p:sp>
      <p:sp>
        <p:nvSpPr>
          <p:cNvPr id="30" name="Text 27"/>
          <p:cNvSpPr txBox="1"/>
          <p:nvPr/>
        </p:nvSpPr>
        <p:spPr>
          <a:xfrm>
            <a:off x="5367528" y="3703320"/>
            <a:ext cx="914400" cy="59436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210–320</a:t>
            </a:r>
            <a:endParaRPr lang="en-US" sz="1400" dirty="0"/>
          </a:p>
        </p:txBody>
      </p:sp>
      <p:sp>
        <p:nvSpPr>
          <p:cNvPr id="31" name="Text 28"/>
          <p:cNvSpPr txBox="1"/>
          <p:nvPr/>
        </p:nvSpPr>
        <p:spPr>
          <a:xfrm>
            <a:off x="548640" y="4434840"/>
            <a:ext cx="2560320" cy="594360"/>
          </a:xfrm>
          <a:prstGeom prst="rect">
            <a:avLst/>
          </a:prstGeom>
          <a:noFill/>
          <a:ln/>
        </p:spPr>
        <p:txBody>
          <a:bodyPr wrap="square" lIns="0" tIns="0" rIns="0" bIns="0" rtlCol="0" anchor="ctr"/>
          <a:lstStyle/>
          <a:p>
            <a:pPr algn="r" indent="0" marL="0">
              <a:buNone/>
            </a:pPr>
            <a:r>
              <a:rPr lang="en-US" sz="1400" dirty="0">
                <a:solidFill>
                  <a:srgbClr val="1F2933"/>
                </a:solidFill>
                <a:latin typeface="Calibri" pitchFamily="34" charset="0"/>
                <a:ea typeface="Calibri" pitchFamily="34" charset="-122"/>
                <a:cs typeface="Calibri" pitchFamily="34" charset="-120"/>
              </a:rPr>
              <a:t>Четверть DLE-процессов</a:t>
            </a:r>
            <a:endParaRPr lang="en-US" sz="1400" dirty="0"/>
          </a:p>
        </p:txBody>
      </p:sp>
      <p:sp>
        <p:nvSpPr>
          <p:cNvPr id="32" name="Shape 29"/>
          <p:cNvSpPr/>
          <p:nvPr/>
        </p:nvSpPr>
        <p:spPr>
          <a:xfrm>
            <a:off x="6446520" y="4572000"/>
            <a:ext cx="640080" cy="320040"/>
          </a:xfrm>
          <a:prstGeom prst="rect">
            <a:avLst/>
          </a:prstGeom>
          <a:solidFill>
            <a:srgbClr val="6F8FA8"/>
          </a:solidFill>
          <a:ln w="12700">
            <a:solidFill>
              <a:srgbClr val="6F8FA8"/>
            </a:solidFill>
            <a:prstDash val="solid"/>
          </a:ln>
        </p:spPr>
      </p:sp>
      <p:sp>
        <p:nvSpPr>
          <p:cNvPr id="33" name="Text 30"/>
          <p:cNvSpPr txBox="1"/>
          <p:nvPr/>
        </p:nvSpPr>
        <p:spPr>
          <a:xfrm>
            <a:off x="7159752" y="4434840"/>
            <a:ext cx="914400" cy="59436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&gt; 500</a:t>
            </a:r>
            <a:endParaRPr lang="en-US" sz="1400" dirty="0"/>
          </a:p>
        </p:txBody>
      </p:sp>
      <p:sp>
        <p:nvSpPr>
          <p:cNvPr id="34" name="Text 31"/>
          <p:cNvSpPr txBox="1"/>
          <p:nvPr/>
        </p:nvSpPr>
        <p:spPr>
          <a:xfrm>
            <a:off x="548640" y="5440680"/>
            <a:ext cx="6766560" cy="457200"/>
          </a:xfrm>
          <a:prstGeom prst="rect">
            <a:avLst/>
          </a:prstGeom>
          <a:noFill/>
          <a:ln/>
        </p:spPr>
        <p:txBody>
          <a:bodyPr wrap="square" lIns="0" tIns="0" rIns="0" bIns="0" rtlCol="0" anchor="t"/>
          <a:lstStyle/>
          <a:p>
            <a:pPr indent="0" marL="0">
              <a:buNone/>
            </a:pPr>
            <a:r>
              <a:rPr lang="en-US" sz="1500" b="1" dirty="0">
                <a:solidFill>
                  <a:srgbClr val="2E5A77"/>
                </a:solidFill>
                <a:latin typeface="Calibri" pitchFamily="34" charset="0"/>
                <a:ea typeface="Calibri" pitchFamily="34" charset="-122"/>
                <a:cs typeface="Calibri" pitchFamily="34" charset="-120"/>
              </a:rPr>
              <a:t>→ замкнутый контур с возвратом пермеата обратного осмоса на десорбцию обязателен</a:t>
            </a:r>
            <a:endParaRPr lang="en-US" sz="1500" dirty="0"/>
          </a:p>
        </p:txBody>
      </p:sp>
      <p:sp>
        <p:nvSpPr>
          <p:cNvPr id="35" name="Shape 32"/>
          <p:cNvSpPr/>
          <p:nvPr/>
        </p:nvSpPr>
        <p:spPr>
          <a:xfrm>
            <a:off x="7863840" y="1691640"/>
            <a:ext cx="3779215" cy="4206240"/>
          </a:xfrm>
          <a:prstGeom prst="rect">
            <a:avLst/>
          </a:prstGeom>
          <a:solidFill>
            <a:srgbClr val="EEF2F5"/>
          </a:solidFill>
          <a:ln w="12700">
            <a:solidFill>
              <a:srgbClr val="EEF2F5"/>
            </a:solidFill>
            <a:prstDash val="solid"/>
          </a:ln>
        </p:spPr>
      </p:sp>
      <p:sp>
        <p:nvSpPr>
          <p:cNvPr id="36" name="Text 33"/>
          <p:cNvSpPr txBox="1"/>
          <p:nvPr/>
        </p:nvSpPr>
        <p:spPr>
          <a:xfrm>
            <a:off x="8092440" y="1874520"/>
            <a:ext cx="3322015" cy="365760"/>
          </a:xfrm>
          <a:prstGeom prst="rect">
            <a:avLst/>
          </a:prstGeom>
          <a:noFill/>
          <a:ln/>
        </p:spPr>
        <p:txBody>
          <a:bodyPr wrap="square" lIns="0" tIns="0" rIns="0" bIns="0" rtlCol="0" anchor="ctr"/>
          <a:lstStyle/>
          <a:p>
            <a:pPr indent="0" marL="0">
              <a:buNone/>
            </a:pPr>
            <a:r>
              <a:rPr lang="en-US" sz="1600" b="1" dirty="0">
                <a:solidFill>
                  <a:srgbClr val="2E5A77"/>
                </a:solidFill>
                <a:latin typeface="Calibri" pitchFamily="34" charset="0"/>
                <a:ea typeface="Calibri" pitchFamily="34" charset="-122"/>
                <a:cs typeface="Calibri" pitchFamily="34" charset="-120"/>
              </a:rPr>
              <a:t>Обратная закачка в ППД</a:t>
            </a:r>
            <a:endParaRPr lang="en-US" sz="1600" dirty="0"/>
          </a:p>
        </p:txBody>
      </p:sp>
      <p:sp>
        <p:nvSpPr>
          <p:cNvPr id="37" name="Text 34"/>
          <p:cNvSpPr txBox="1"/>
          <p:nvPr/>
        </p:nvSpPr>
        <p:spPr>
          <a:xfrm>
            <a:off x="8092440" y="2331720"/>
            <a:ext cx="3367735" cy="34290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F2933"/>
                </a:solidFill>
                <a:latin typeface="Calibri" pitchFamily="34" charset="0"/>
                <a:ea typeface="Calibri" pitchFamily="34" charset="-122"/>
                <a:cs typeface="Calibri" pitchFamily="34" charset="-120"/>
              </a:rPr>
              <a:t>ДГАЛ-Cl работает при естественном pH без умягчения — состав возвращаемой воды меняется минимально</a:t>
            </a:r>
            <a:endParaRPr lang="en-US" sz="1500" dirty="0"/>
          </a:p>
          <a:p>
            <a:pPr marL="228600" indent="-228600">
              <a:spcAft>
                <a:spcPts val="1000"/>
              </a:spcAft>
              <a:buSzPct val="100000"/>
              <a:buChar char="•"/>
            </a:pPr>
            <a:r>
              <a:rPr lang="en-US" sz="1500" dirty="0">
                <a:solidFill>
                  <a:srgbClr val="1F2933"/>
                </a:solidFill>
                <a:latin typeface="Calibri" pitchFamily="34" charset="0"/>
                <a:ea typeface="Calibri" pitchFamily="34" charset="-122"/>
                <a:cs typeface="Calibri" pitchFamily="34" charset="-120"/>
              </a:rPr>
              <a:t>Ионные сита требуют подщелачивания — риск выпадения карбонатов и гидроксидов</a:t>
            </a:r>
            <a:endParaRPr lang="en-US" sz="1500" dirty="0"/>
          </a:p>
          <a:p>
            <a:pPr marL="228600" indent="-228600">
              <a:spcAft>
                <a:spcPts val="1000"/>
              </a:spcAft>
              <a:buSzPct val="100000"/>
              <a:buChar char="•"/>
            </a:pPr>
            <a:r>
              <a:rPr lang="en-US" sz="1500" dirty="0">
                <a:solidFill>
                  <a:srgbClr val="1F2933"/>
                </a:solidFill>
                <a:latin typeface="Calibri" pitchFamily="34" charset="0"/>
                <a:ea typeface="Calibri" pitchFamily="34" charset="-122"/>
                <a:cs typeface="Calibri" pitchFamily="34" charset="-120"/>
              </a:rPr>
              <a:t>Закачка в тот же пласт разбавляет ресурс: снижение концентрации лития оценивать гидродинамическим моделированием</a:t>
            </a:r>
            <a:endParaRPr lang="en-US" sz="1500" dirty="0"/>
          </a:p>
        </p:txBody>
      </p:sp>
      <p:sp>
        <p:nvSpPr>
          <p:cNvPr id="38" name="Text 35"/>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Vera et al., 2023; Knapik et al., 2023; расчет авторов</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ПРАКТИЧЕСКИЙ РЕЗУЛЬТАТ</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Критерии выбора объектов для опытно-промышленной проверки</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14 / 16</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286000"/>
                <a:gridCol w="4206240"/>
                <a:gridCol w="4599432"/>
              </a:tblGrid>
              <a:tr h="411480">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Параметр</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Граничное значение</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400" b="1" dirty="0">
                          <a:solidFill>
                            <a:srgbClr val="1F2933"/>
                          </a:solidFill>
                          <a:latin typeface="Calibri" pitchFamily="34" charset="0"/>
                          <a:ea typeface="Calibri" pitchFamily="34" charset="-122"/>
                          <a:cs typeface="Calibri" pitchFamily="34" charset="-120"/>
                        </a:rPr>
                        <a:t>Следствие для схемы</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r>
              <a:tr h="73152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Концентрация лития</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 200 мг/л при 1,5 млн м</a:t>
                      </a:r>
                      <a:pPr algn="l" indent="0" marL="0">
                        <a:buNone/>
                      </a:pPr>
                      <a:r>
                        <a:rPr lang="en-US" sz="1400" baseline="3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/год; 170–190 мг/л при 6–10 млн м</a:t>
                      </a:r>
                      <a:pPr algn="l" indent="0" marL="0">
                        <a:buNone/>
                      </a:pPr>
                      <a:r>
                        <a:rPr lang="en-US" sz="1400" baseline="3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/год (9 тыс. долл./т)</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100–200 мг/л — только при цене &gt; 15 тыс. долл./т; подтоварные воды УПН непригодны</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9436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Годовой объем воды</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 1,5 млн м</a:t>
                      </a:r>
                      <a:pPr algn="l" indent="0" marL="0">
                        <a:buNone/>
                      </a:pPr>
                      <a:r>
                        <a:rPr lang="en-US" sz="1400" baseline="3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/год (≈ 4 тыс. м</a:t>
                      </a:r>
                      <a:pPr algn="l" indent="0" marL="0">
                        <a:buNone/>
                      </a:pPr>
                      <a:r>
                        <a:rPr lang="en-US" sz="1400" baseline="3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/сут)</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объединение потоков нескольких УПН или целевой отбор глубинных рассолов</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9436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Mg/Li и Ca/Li</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Mg/Li &lt; 10, Ca &lt; 1 масс. %</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ионные сита после умягчения; при Mg/Li &gt; 10 и Ca/Li &gt; 100 — ДГАЛ-Cl без умягчения</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9436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Минерализация</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&gt; 200 г/л — параметр высокого влияния</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устойчивость гранул, риск солеотложения при изменении pH и температуры</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9436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Пресная вода</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210–320 м</a:t>
                      </a:r>
                      <a:pPr algn="l" indent="0" marL="0">
                        <a:buNone/>
                      </a:pPr>
                      <a:r>
                        <a:rPr lang="en-US" sz="1400" baseline="3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/т Li</a:t>
                      </a:r>
                      <a:pPr algn="l" indent="0" marL="0">
                        <a:buNone/>
                      </a:pPr>
                      <a:r>
                        <a:rPr lang="en-US" sz="1400" baseline="-40000" dirty="0">
                          <a:solidFill>
                            <a:srgbClr val="1F2933"/>
                          </a:solidFill>
                          <a:latin typeface="Calibri" pitchFamily="34" charset="0"/>
                          <a:ea typeface="Calibri" pitchFamily="34" charset="-122"/>
                          <a:cs typeface="Calibri" pitchFamily="34" charset="-120"/>
                        </a:rPr>
                        <a:t>2</a:t>
                      </a:r>
                      <a:pPr algn="l" indent="0" marL="0">
                        <a:buNone/>
                      </a:pPr>
                      <a:r>
                        <a:rPr lang="en-US" sz="1400" dirty="0">
                          <a:solidFill>
                            <a:srgbClr val="1F2933"/>
                          </a:solidFill>
                          <a:latin typeface="Calibri" pitchFamily="34" charset="0"/>
                          <a:ea typeface="Calibri" pitchFamily="34" charset="-122"/>
                          <a:cs typeface="Calibri" pitchFamily="34" charset="-120"/>
                        </a:rPr>
                        <a:t>CO</a:t>
                      </a:r>
                      <a:pPr algn="l" indent="0" marL="0">
                        <a:buNone/>
                      </a:pPr>
                      <a:r>
                        <a:rPr lang="en-US" sz="1400" baseline="-40000" dirty="0">
                          <a:solidFill>
                            <a:srgbClr val="1F2933"/>
                          </a:solidFill>
                          <a:latin typeface="Calibri" pitchFamily="34" charset="0"/>
                          <a:ea typeface="Calibri" pitchFamily="34" charset="-122"/>
                          <a:cs typeface="Calibri" pitchFamily="34" charset="-120"/>
                        </a:rPr>
                        <a:t>3</a:t>
                      </a:r>
                      <a:pPr algn="l" indent="0" marL="0">
                        <a:buNone/>
                      </a:pPr>
                      <a:r>
                        <a:rPr lang="en-US" sz="1400" dirty="0">
                          <a:solidFill>
                            <a:srgbClr val="1F2933"/>
                          </a:solidFill>
                          <a:latin typeface="Calibri" pitchFamily="34" charset="0"/>
                          <a:ea typeface="Calibri" pitchFamily="34" charset="-122"/>
                          <a:cs typeface="Calibri" pitchFamily="34" charset="-120"/>
                        </a:rPr>
                        <a:t> (ДГАЛ-Cl)</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замкнутый контур с возвратом пермеата</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594360">
                <a:tc>
                  <a:txBody>
                    <a:bodyPr/>
                    <a:lstStyle/>
                    <a:p>
                      <a:pPr algn="l" indent="0" marL="0">
                        <a:buNone/>
                      </a:pPr>
                      <a:r>
                        <a:rPr lang="en-US" sz="1400" b="1" dirty="0">
                          <a:solidFill>
                            <a:srgbClr val="1F2933"/>
                          </a:solidFill>
                          <a:latin typeface="Calibri" pitchFamily="34" charset="0"/>
                          <a:ea typeface="Calibri" pitchFamily="34" charset="-122"/>
                          <a:cs typeface="Calibri" pitchFamily="34" charset="-120"/>
                        </a:rPr>
                        <a:t>Инфраструктура</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действующие УПН, система ППД, энергоснабжение</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400" dirty="0">
                          <a:solidFill>
                            <a:srgbClr val="1F2933"/>
                          </a:solidFill>
                          <a:latin typeface="Calibri" pitchFamily="34" charset="0"/>
                          <a:ea typeface="Calibri" pitchFamily="34" charset="-122"/>
                          <a:cs typeface="Calibri" pitchFamily="34" charset="-120"/>
                        </a:rPr>
                        <a:t>снижение капитальных затрат; без нее основная статья — бурение</a:t>
                      </a:r>
                      <a:endParaRPr lang="en-US" sz="1400" dirty="0">
                        <a:latin typeface="Calibri" charset="0"/>
                        <a:ea typeface="Calibri" charset="0"/>
                        <a:cs typeface="Calibri" charset="0"/>
                      </a:endParaRPr>
                    </a:p>
                  </a:txBody>
                  <a:tcPr marL="91440" marR="91440" marT="36576" marB="36576"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
        <p:nvSpPr>
          <p:cNvPr id="8" name="Text 4"/>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rgbClr val="8A96A3"/>
                </a:solidFill>
                <a:latin typeface="Calibri" pitchFamily="34" charset="0"/>
                <a:ea typeface="Calibri" pitchFamily="34" charset="-122"/>
                <a:cs typeface="Calibri" pitchFamily="34" charset="-120"/>
              </a:rPr>
              <a:t>Составлено авторами по результатам расчетов и данным Knapik et al., 2023; Farahbakhsh et al., 2024; Бандалетова и др., 2021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200" b="1" spc="150" kern="0" dirty="0">
                <a:solidFill>
                  <a:srgbClr val="2E5A77"/>
                </a:solidFill>
                <a:latin typeface="Calibri" pitchFamily="34" charset="0"/>
                <a:ea typeface="Calibri" pitchFamily="34" charset="-122"/>
                <a:cs typeface="Calibri" pitchFamily="34" charset="-120"/>
              </a:rPr>
              <a:t>ЗАКЛЮЧЕНИЕ</a:t>
            </a:r>
            <a:endParaRPr lang="en-US" sz="1200" dirty="0"/>
          </a:p>
        </p:txBody>
      </p:sp>
      <p:sp>
        <p:nvSpPr>
          <p:cNvPr id="3" name="Text 1"/>
          <p:cNvSpPr txBox="1"/>
          <p:nvPr/>
        </p:nvSpPr>
        <p:spPr>
          <a:xfrm>
            <a:off x="548640" y="621792"/>
            <a:ext cx="11094415" cy="731520"/>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Выводы</a:t>
            </a:r>
            <a:endParaRPr lang="en-US" sz="28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8A96A3"/>
                </a:solidFill>
                <a:latin typeface="Calibri" pitchFamily="34" charset="0"/>
                <a:ea typeface="Calibri" pitchFamily="34" charset="-122"/>
                <a:cs typeface="Calibri" pitchFamily="34" charset="-120"/>
              </a:rPr>
              <a:t>Мкртичян М. А., Мкртичян Н. А. · Сорбционное извлечение лития из попутных вод</a:t>
            </a:r>
            <a:endParaRPr lang="en-US" sz="10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000" dirty="0">
                <a:solidFill>
                  <a:srgbClr val="8A96A3"/>
                </a:solidFill>
                <a:latin typeface="Calibri" pitchFamily="34" charset="0"/>
                <a:ea typeface="Calibri" pitchFamily="34" charset="-122"/>
                <a:cs typeface="Calibri" pitchFamily="34" charset="-120"/>
              </a:rPr>
              <a:t>15 / 16</a:t>
            </a:r>
            <a:endParaRPr lang="en-US" sz="1000" dirty="0"/>
          </a:p>
        </p:txBody>
      </p:sp>
      <p:sp>
        <p:nvSpPr>
          <p:cNvPr id="7" name="Shape 4"/>
          <p:cNvSpPr/>
          <p:nvPr/>
        </p:nvSpPr>
        <p:spPr>
          <a:xfrm>
            <a:off x="548640" y="1691640"/>
            <a:ext cx="457200" cy="457200"/>
          </a:xfrm>
          <a:prstGeom prst="ellipse">
            <a:avLst/>
          </a:prstGeom>
          <a:solidFill>
            <a:srgbClr val="2E5A77"/>
          </a:solidFill>
          <a:ln w="12700">
            <a:solidFill>
              <a:srgbClr val="2E5A77"/>
            </a:solidFill>
            <a:prstDash val="solid"/>
          </a:ln>
        </p:spPr>
      </p:sp>
      <p:sp>
        <p:nvSpPr>
          <p:cNvPr id="8" name="Text 5"/>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234440" y="1645920"/>
            <a:ext cx="10408615" cy="77724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Литий не коррелирует с минерализацией: в Восточной Сибири разделять подтоварные воды УПН (30–70 мг/л) и глубинные рассолы (170–410 мг/л)</a:t>
            </a:r>
            <a:endParaRPr lang="en-US" sz="1700" dirty="0"/>
          </a:p>
        </p:txBody>
      </p:sp>
      <p:sp>
        <p:nvSpPr>
          <p:cNvPr id="10" name="Shape 7"/>
          <p:cNvSpPr/>
          <p:nvPr/>
        </p:nvSpPr>
        <p:spPr>
          <a:xfrm>
            <a:off x="548640" y="2560320"/>
            <a:ext cx="457200" cy="457200"/>
          </a:xfrm>
          <a:prstGeom prst="ellipse">
            <a:avLst/>
          </a:prstGeom>
          <a:solidFill>
            <a:srgbClr val="2E5A77"/>
          </a:solidFill>
          <a:ln w="12700">
            <a:solidFill>
              <a:srgbClr val="2E5A77"/>
            </a:solidFill>
            <a:prstDash val="solid"/>
          </a:ln>
        </p:spPr>
      </p:sp>
      <p:sp>
        <p:nvSpPr>
          <p:cNvPr id="11" name="Text 8"/>
          <p:cNvSpPr txBox="1"/>
          <p:nvPr/>
        </p:nvSpPr>
        <p:spPr>
          <a:xfrm>
            <a:off x="548640"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234440" y="2514600"/>
            <a:ext cx="10408615" cy="77724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Для рассолов с Ca 121–154 г/л и Mg/Li ≈ 72 полное умягчение исключено (реагенты в 4,7–5,5 раза дороже лития); рациональна ограниченная предочистка и сорбент ДГАЛ-Cl</a:t>
            </a:r>
            <a:endParaRPr lang="en-US" sz="1700" dirty="0"/>
          </a:p>
        </p:txBody>
      </p:sp>
      <p:sp>
        <p:nvSpPr>
          <p:cNvPr id="13" name="Shape 10"/>
          <p:cNvSpPr/>
          <p:nvPr/>
        </p:nvSpPr>
        <p:spPr>
          <a:xfrm>
            <a:off x="548640" y="3429000"/>
            <a:ext cx="457200" cy="457200"/>
          </a:xfrm>
          <a:prstGeom prst="ellipse">
            <a:avLst/>
          </a:prstGeom>
          <a:solidFill>
            <a:srgbClr val="2E5A77"/>
          </a:solidFill>
          <a:ln w="12700">
            <a:solidFill>
              <a:srgbClr val="2E5A77"/>
            </a:solidFill>
            <a:prstDash val="solid"/>
          </a:ln>
        </p:spPr>
      </p:sp>
      <p:sp>
        <p:nvSpPr>
          <p:cNvPr id="14" name="Text 11"/>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234440" y="3383280"/>
            <a:ext cx="10408615" cy="77724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Сквозное извлечение 0,44–0,78; порог C</a:t>
            </a:r>
            <a:pPr indent="0" marL="0">
              <a:buNone/>
            </a:pPr>
            <a:r>
              <a:rPr lang="en-US" sz="1700" baseline="-40000" dirty="0">
                <a:solidFill>
                  <a:srgbClr val="1F2933"/>
                </a:solidFill>
                <a:latin typeface="Calibri" pitchFamily="34" charset="0"/>
                <a:ea typeface="Calibri" pitchFamily="34" charset="-122"/>
                <a:cs typeface="Calibri" pitchFamily="34" charset="-120"/>
              </a:rPr>
              <a:t>Li</a:t>
            </a:r>
            <a:pPr indent="0" marL="0">
              <a:buNone/>
            </a:pPr>
            <a:r>
              <a:rPr lang="en-US" sz="1700" baseline="30000" dirty="0">
                <a:solidFill>
                  <a:srgbClr val="1F2933"/>
                </a:solidFill>
                <a:latin typeface="Calibri" pitchFamily="34" charset="0"/>
                <a:ea typeface="Calibri" pitchFamily="34" charset="-122"/>
                <a:cs typeface="Calibri" pitchFamily="34" charset="-120"/>
              </a:rPr>
              <a:t>*</a:t>
            </a:r>
            <a:pPr indent="0" marL="0">
              <a:buNone/>
            </a:pPr>
            <a:r>
              <a:rPr lang="en-US" sz="1700" dirty="0">
                <a:solidFill>
                  <a:srgbClr val="1F2933"/>
                </a:solidFill>
                <a:latin typeface="Calibri" pitchFamily="34" charset="0"/>
                <a:ea typeface="Calibri" pitchFamily="34" charset="-122"/>
                <a:cs typeface="Calibri" pitchFamily="34" charset="-120"/>
              </a:rPr>
              <a:t> ≈ 270 мг/л при 1,5 млн м</a:t>
            </a:r>
            <a:pPr indent="0" marL="0">
              <a:buNone/>
            </a:pPr>
            <a:r>
              <a:rPr lang="en-US" sz="1700" baseline="30000" dirty="0">
                <a:solidFill>
                  <a:srgbClr val="1F2933"/>
                </a:solidFill>
                <a:latin typeface="Calibri" pitchFamily="34" charset="0"/>
                <a:ea typeface="Calibri" pitchFamily="34" charset="-122"/>
                <a:cs typeface="Calibri" pitchFamily="34" charset="-120"/>
              </a:rPr>
              <a:t>3</a:t>
            </a:r>
            <a:pPr indent="0" marL="0">
              <a:buNone/>
            </a:pPr>
            <a:r>
              <a:rPr lang="en-US" sz="1700" dirty="0">
                <a:solidFill>
                  <a:srgbClr val="1F2933"/>
                </a:solidFill>
                <a:latin typeface="Calibri" pitchFamily="34" charset="0"/>
                <a:ea typeface="Calibri" pitchFamily="34" charset="-122"/>
                <a:cs typeface="Calibri" pitchFamily="34" charset="-120"/>
              </a:rPr>
              <a:t>/год и 166 мг/л при 10 млн м</a:t>
            </a:r>
            <a:pPr indent="0" marL="0">
              <a:buNone/>
            </a:pPr>
            <a:r>
              <a:rPr lang="en-US" sz="1700" baseline="30000" dirty="0">
                <a:solidFill>
                  <a:srgbClr val="1F2933"/>
                </a:solidFill>
                <a:latin typeface="Calibri" pitchFamily="34" charset="0"/>
                <a:ea typeface="Calibri" pitchFamily="34" charset="-122"/>
                <a:cs typeface="Calibri" pitchFamily="34" charset="-120"/>
              </a:rPr>
              <a:t>3</a:t>
            </a:r>
            <a:pPr indent="0" marL="0">
              <a:buNone/>
            </a:pPr>
            <a:r>
              <a:rPr lang="en-US" sz="1700" dirty="0">
                <a:solidFill>
                  <a:srgbClr val="1F2933"/>
                </a:solidFill>
                <a:latin typeface="Calibri" pitchFamily="34" charset="0"/>
                <a:ea typeface="Calibri" pitchFamily="34" charset="-122"/>
                <a:cs typeface="Calibri" pitchFamily="34" charset="-120"/>
              </a:rPr>
              <a:t>/год (9 тыс. долл./т); 97 и 60 мг/л при 20 тыс. долл./т</a:t>
            </a:r>
            <a:endParaRPr lang="en-US" sz="1700" dirty="0"/>
          </a:p>
        </p:txBody>
      </p:sp>
      <p:sp>
        <p:nvSpPr>
          <p:cNvPr id="16" name="Shape 13"/>
          <p:cNvSpPr/>
          <p:nvPr/>
        </p:nvSpPr>
        <p:spPr>
          <a:xfrm>
            <a:off x="548640" y="4297680"/>
            <a:ext cx="457200" cy="457200"/>
          </a:xfrm>
          <a:prstGeom prst="ellipse">
            <a:avLst/>
          </a:prstGeom>
          <a:solidFill>
            <a:srgbClr val="2E5A77"/>
          </a:solidFill>
          <a:ln w="12700">
            <a:solidFill>
              <a:srgbClr val="2E5A77"/>
            </a:solidFill>
            <a:prstDash val="solid"/>
          </a:ln>
        </p:spPr>
      </p:sp>
      <p:sp>
        <p:nvSpPr>
          <p:cNvPr id="17" name="Text 14"/>
          <p:cNvSpPr txBox="1"/>
          <p:nvPr/>
        </p:nvSpPr>
        <p:spPr>
          <a:xfrm>
            <a:off x="548640" y="4297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5"/>
          <p:cNvSpPr txBox="1"/>
          <p:nvPr/>
        </p:nvSpPr>
        <p:spPr>
          <a:xfrm>
            <a:off x="1234440" y="4251960"/>
            <a:ext cx="10408615" cy="77724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Определяющие факторы — цена, сквозное извлечение и капзатраты; главная неопределенность — ресурс сорбента на реальных водах</a:t>
            </a:r>
            <a:endParaRPr lang="en-US" sz="1700" dirty="0"/>
          </a:p>
        </p:txBody>
      </p:sp>
      <p:sp>
        <p:nvSpPr>
          <p:cNvPr id="19" name="Shape 16"/>
          <p:cNvSpPr/>
          <p:nvPr/>
        </p:nvSpPr>
        <p:spPr>
          <a:xfrm>
            <a:off x="548640" y="5166360"/>
            <a:ext cx="457200" cy="457200"/>
          </a:xfrm>
          <a:prstGeom prst="ellipse">
            <a:avLst/>
          </a:prstGeom>
          <a:solidFill>
            <a:srgbClr val="2E5A77"/>
          </a:solidFill>
          <a:ln w="12700">
            <a:solidFill>
              <a:srgbClr val="2E5A77"/>
            </a:solidFill>
            <a:prstDash val="solid"/>
          </a:ln>
        </p:spPr>
      </p:sp>
      <p:sp>
        <p:nvSpPr>
          <p:cNvPr id="20" name="Text 17"/>
          <p:cNvSpPr txBox="1"/>
          <p:nvPr/>
        </p:nvSpPr>
        <p:spPr>
          <a:xfrm>
            <a:off x="548640" y="5166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1" name="Text 18"/>
          <p:cNvSpPr txBox="1"/>
          <p:nvPr/>
        </p:nvSpPr>
        <p:spPr>
          <a:xfrm>
            <a:off x="1234440" y="5120640"/>
            <a:ext cx="10408615" cy="77724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Приоритет для опытно-промышленной проверки: глубинные рассолы ≥ 200 мг/л, отбор ≥ 1,5–3 млн м</a:t>
            </a:r>
            <a:pPr indent="0" marL="0">
              <a:buNone/>
            </a:pPr>
            <a:r>
              <a:rPr lang="en-US" sz="1700" baseline="30000" dirty="0">
                <a:solidFill>
                  <a:srgbClr val="1F2933"/>
                </a:solidFill>
                <a:latin typeface="Calibri" pitchFamily="34" charset="0"/>
                <a:ea typeface="Calibri" pitchFamily="34" charset="-122"/>
                <a:cs typeface="Calibri" pitchFamily="34" charset="-120"/>
              </a:rPr>
              <a:t>3</a:t>
            </a:r>
            <a:pPr indent="0" marL="0">
              <a:buNone/>
            </a:pPr>
            <a:r>
              <a:rPr lang="en-US" sz="1700" dirty="0">
                <a:solidFill>
                  <a:srgbClr val="1F2933"/>
                </a:solidFill>
                <a:latin typeface="Calibri" pitchFamily="34" charset="0"/>
                <a:ea typeface="Calibri" pitchFamily="34" charset="-122"/>
                <a:cs typeface="Calibri" pitchFamily="34" charset="-120"/>
              </a:rPr>
              <a:t>/год, действующая система ППД</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B37"/>
        </a:solidFill>
      </p:bgPr>
    </p:bg>
    <p:spTree>
      <p:nvGrpSpPr>
        <p:cNvPr id="1" name=""/>
        <p:cNvGrpSpPr/>
        <p:nvPr/>
      </p:nvGrpSpPr>
      <p:grpSpPr>
        <a:xfrm>
          <a:off x="0" y="0"/>
          <a:ext cx="0" cy="0"/>
          <a:chOff x="0" y="0"/>
          <a:chExt cx="0" cy="0"/>
        </a:xfrm>
      </p:grpSpPr>
      <p:sp>
        <p:nvSpPr>
          <p:cNvPr id="2" name="Text 0"/>
          <p:cNvSpPr txBox="1"/>
          <p:nvPr/>
        </p:nvSpPr>
        <p:spPr>
          <a:xfrm>
            <a:off x="822960" y="210312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Спасибо за внимание</a:t>
            </a:r>
            <a:endParaRPr lang="en-US" sz="4400" dirty="0"/>
          </a:p>
        </p:txBody>
      </p:sp>
      <p:sp>
        <p:nvSpPr>
          <p:cNvPr id="3" name="Text 1"/>
          <p:cNvSpPr txBox="1"/>
          <p:nvPr/>
        </p:nvSpPr>
        <p:spPr>
          <a:xfrm>
            <a:off x="822960" y="3017520"/>
            <a:ext cx="10515600" cy="548640"/>
          </a:xfrm>
          <a:prstGeom prst="rect">
            <a:avLst/>
          </a:prstGeom>
          <a:noFill/>
          <a:ln/>
        </p:spPr>
        <p:txBody>
          <a:bodyPr wrap="square" lIns="0" tIns="0" rIns="0" bIns="0" rtlCol="0" anchor="ctr"/>
          <a:lstStyle/>
          <a:p>
            <a:pPr indent="0" marL="0">
              <a:buNone/>
            </a:pPr>
            <a:r>
              <a:rPr lang="en-US" sz="2200" dirty="0">
                <a:solidFill>
                  <a:srgbClr val="D3DDE6"/>
                </a:solidFill>
                <a:latin typeface="Calibri" pitchFamily="34" charset="0"/>
                <a:ea typeface="Calibri" pitchFamily="34" charset="-122"/>
                <a:cs typeface="Calibri" pitchFamily="34" charset="-120"/>
              </a:rPr>
              <a:t>Готовы ответить на вопросы</a:t>
            </a:r>
            <a:endParaRPr lang="en-US" sz="2200" dirty="0"/>
          </a:p>
        </p:txBody>
      </p:sp>
      <p:sp>
        <p:nvSpPr>
          <p:cNvPr id="4" name="Text 2"/>
          <p:cNvSpPr txBox="1"/>
          <p:nvPr/>
        </p:nvSpPr>
        <p:spPr>
          <a:xfrm>
            <a:off x="822960" y="4663440"/>
            <a:ext cx="10515600" cy="82296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Мкртичян Нина Андраниковна</a:t>
            </a:r>
            <a:pPr indent="0" marL="0">
              <a:spcAft>
                <a:spcPts val="400"/>
              </a:spcAft>
              <a:buNone/>
            </a:pPr>
            <a:r>
              <a:rPr lang="en-US" sz="1600" dirty="0">
                <a:solidFill>
                  <a:srgbClr val="AFC0CF"/>
                </a:solidFill>
                <a:latin typeface="Calibri" pitchFamily="34" charset="0"/>
                <a:ea typeface="Calibri" pitchFamily="34" charset="-122"/>
                <a:cs typeface="Calibri" pitchFamily="34" charset="-120"/>
              </a:rPr>
              <a:t> — СПбГУ, «Нефтегазовое дело» · st129824@student.spbu.ru</a:t>
            </a:r>
            <a:endParaRPr lang="en-US" sz="1600" dirty="0"/>
          </a:p>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Мкртичян Мария Андраниковна</a:t>
            </a:r>
            <a:pPr indent="0" marL="0">
              <a:spcAft>
                <a:spcPts val="400"/>
              </a:spcAft>
              <a:buNone/>
            </a:pPr>
            <a:r>
              <a:rPr lang="en-US" sz="1600" dirty="0">
                <a:solidFill>
                  <a:srgbClr val="AFC0CF"/>
                </a:solidFill>
                <a:latin typeface="Calibri" pitchFamily="34" charset="0"/>
                <a:ea typeface="Calibri" pitchFamily="34" charset="-122"/>
                <a:cs typeface="Calibri" pitchFamily="34" charset="-120"/>
              </a:rPr>
              <a:t> — Горный университет, «Горное дело» · marimkr21@gmail.com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Сорбционное извлечение лития из попутных вод</dc:title>
  <dc:subject>PptxGenJS Presentation</dc:subject>
  <dc:creator>М. А. Мкртичян, Н. А. Мкртичян</dc:creator>
  <cp:lastModifiedBy>М. А. Мкртичян, Н. А. Мкртичян</cp:lastModifiedBy>
  <cp:revision>1</cp:revision>
  <dcterms:created xsi:type="dcterms:W3CDTF">2026-09-28T19:08:09Z</dcterms:created>
  <dcterms:modified xsi:type="dcterms:W3CDTF">2026-09-28T19:08:09Z</dcterms:modified>
</cp:coreProperties>
</file>