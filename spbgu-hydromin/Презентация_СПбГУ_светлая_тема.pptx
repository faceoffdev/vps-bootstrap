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6" r:id="rId2"/>
    <p:sldMasterId id="2147483652" r:id="rId3"/>
  </p:sldMasterIdLst>
  <p:sldIdLst>
    <p:sldId id="256" r:id="rId6"/>
    <p:sldId id="257" r:id="rId4"/>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9" autoAdjust="0"/>
    <p:restoredTop sz="94660"/>
  </p:normalViewPr>
  <p:slideViewPr>
    <p:cSldViewPr snapToGrid="0" showGuides="1">
      <p:cViewPr varScale="1">
        <p:scale>
          <a:sx n="122" d="100"/>
          <a:sy n="122" d="100"/>
        </p:scale>
        <p:origin x="108" y="3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Цена</c:v>
                </c:pt>
              </c:strCache>
            </c:strRef>
          </c:tx>
          <c:spPr>
            <a:solidFill>
              <a:srgbClr val="7F7F7F"/>
            </a:solidFill>
            <a:ln>
              <a:noFill/>
            </a:ln>
          </c:spPr>
          <c:dPt>
            <c:idx val="3"/>
            <c:spPr>
              <a:solidFill>
                <a:srgbClr val="C00000"/>
              </a:solidFill>
            </c:spPr>
          </c:dPt>
          <c:cat>
            <c:strRef>
              <c:f>Sheet1!$A$2:$A$5</c:f>
              <c:strCache>
                <c:ptCount val="4"/>
                <c:pt idx="0">
                  <c:v>2022</c:v>
                </c:pt>
                <c:pt idx="1">
                  <c:v>2024</c:v>
                </c:pt>
                <c:pt idx="2">
                  <c:v>2025</c:v>
                </c:pt>
                <c:pt idx="3">
                  <c:v>сентябрь 2026</c:v>
                </c:pt>
              </c:strCache>
            </c:strRef>
          </c:cat>
          <c:val>
            <c:numRef>
              <c:f>Sheet1!$B$2:$B$5</c:f>
              <c:numCache>
                <c:formatCode>General</c:formatCode>
                <c:ptCount val="4"/>
                <c:pt idx="0">
                  <c:v>63.7</c:v>
                </c:pt>
                <c:pt idx="1">
                  <c:v>11.8</c:v>
                </c:pt>
                <c:pt idx="2">
                  <c:v>9.0</c:v>
                </c:pt>
                <c:pt idx="3">
                  <c:v>19.8</c:v>
                </c:pt>
              </c:numCache>
            </c:numRef>
          </c:val>
        </c:ser>
        <c:dLbls>
          <c:numFmt formatCode="0.0" sourceLinked="0"/>
          <c:txPr>
            <a:bodyPr/>
            <a:lstStyle/>
            <a:p>
              <a:pPr>
                <a:defRPr sz="13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9D9D9"/>
            </a:solidFill>
          </a:ln>
        </c:sp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spPr>
    <a:noFill/>
    <a:ln>
      <a:noFill/>
    </a:ln>
  </c:spPr>
  <c:txPr>
    <a:bodyPr/>
    <a:lstStyle/>
    <a:p>
      <a:pPr>
        <a:defRPr sz="1300">
          <a:solidFill>
            <a:srgbClr val="262626"/>
          </a:solidFill>
          <a:latin typeface="Open San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Отношение</c:v>
                </c:pt>
              </c:strCache>
            </c:strRef>
          </c:tx>
          <c:spPr>
            <a:solidFill>
              <a:srgbClr val="BFBFBF"/>
            </a:solidFill>
            <a:ln>
              <a:noFill/>
            </a:ln>
          </c:spPr>
          <c:dPt>
            <c:idx val="4"/>
            <c:spPr>
              <a:solidFill>
                <a:srgbClr val="C00000"/>
              </a:solidFill>
            </c:spPr>
          </c:dPt>
          <c:dPt>
            <c:idx val="5"/>
            <c:spPr>
              <a:solidFill>
                <a:srgbClr val="C00000"/>
              </a:solidFill>
            </c:spPr>
          </c:dPt>
          <c:cat>
            <c:strRef>
              <c:f>Sheet1!$A$2:$A$7</c:f>
              <c:strCache>
                <c:ptCount val="6"/>
                <c:pt idx="0">
                  <c:v>Вэйюань, Китай</c:v>
                </c:pt>
                <c:pt idx="1">
                  <c:v>Smackover, США</c:v>
                </c:pt>
                <c:pt idx="2">
                  <c:v>Marcellus, США</c:v>
                </c:pt>
                <c:pt idx="3">
                  <c:v>Leduc, Канада</c:v>
                </c:pt>
                <c:pt idx="4">
                  <c:v>Знаменское</c:v>
                </c:pt>
                <c:pt idx="5">
                  <c:v>Ковыктинское</c:v>
                </c:pt>
              </c:strCache>
            </c:strRef>
          </c:cat>
          <c:val>
            <c:numRef>
              <c:f>Sheet1!$B$2:$B$7</c:f>
              <c:numCache>
                <c:formatCode>General</c:formatCode>
                <c:ptCount val="6"/>
                <c:pt idx="0">
                  <c:v>0.22</c:v>
                </c:pt>
                <c:pt idx="1">
                  <c:v>1.06</c:v>
                </c:pt>
                <c:pt idx="2">
                  <c:v>1.64</c:v>
                </c:pt>
                <c:pt idx="3">
                  <c:v>1.79</c:v>
                </c:pt>
                <c:pt idx="4">
                  <c:v>4.68</c:v>
                </c:pt>
                <c:pt idx="5">
                  <c:v>5.49</c:v>
                </c:pt>
              </c:numCache>
            </c:numRef>
          </c:val>
        </c:ser>
        <c:dLbls>
          <c:numFmt formatCode="0.00" sourceLinked="0"/>
          <c:txPr>
            <a:bodyPr/>
            <a:lstStyle/>
            <a:p>
              <a:pPr>
                <a:defRPr sz="12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solidFill>
              <a:srgbClr val="D9D9D9"/>
            </a:solidFill>
          </a:ln>
        </c:spPr>
        <c:crossAx val="-2113994440"/>
        <c:crosses val="autoZero"/>
        <c:auto val="1"/>
        <c:lblAlgn val="ctr"/>
        <c:lblOffset val="100"/>
        <c:noMultiLvlLbl val="0"/>
      </c:catAx>
      <c:valAx>
        <c:axId val="-2113994440"/>
        <c:scaling>
          <c:max val="6.3"/>
          <c:min val="0.0"/>
        </c:scaling>
        <c:delete/>
        <c:axPos val="b"/>
        <c:majorTickMark val="out"/>
        <c:minorTickMark val="none"/>
        <c:tickLblPos val="nextTo"/>
        <c:crossAx val="-2068027336"/>
        <c:crosses val="autoZero"/>
      </c:valAx>
    </c:plotArea>
    <c:dispBlanksAs val="gap"/>
  </c:chart>
  <c:spPr>
    <a:noFill/>
    <a:ln>
      <a:noFill/>
    </a:ln>
  </c:spPr>
  <c:txPr>
    <a:bodyPr/>
    <a:lstStyle/>
    <a:p>
      <a:pPr>
        <a:defRPr sz="1200">
          <a:solidFill>
            <a:srgbClr val="262626"/>
          </a:solidFill>
          <a:latin typeface="Open San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т/год</c:v>
                </c:pt>
              </c:strCache>
            </c:strRef>
          </c:tx>
          <c:spPr>
            <a:solidFill>
              <a:srgbClr val="BFBFBF"/>
            </a:solidFill>
            <a:ln>
              <a:noFill/>
            </a:ln>
          </c:spPr>
          <c:dPt>
            <c:idx val="4"/>
            <c:spPr>
              <a:solidFill>
                <a:srgbClr val="C00000"/>
              </a:solidFill>
            </c:spPr>
          </c:dPt>
          <c:dPt>
            <c:idx val="1"/>
            <c:spPr>
              <a:solidFill>
                <a:srgbClr val="7F7F7F"/>
              </a:solidFill>
            </c:spPr>
          </c:dPt>
          <c:dPt>
            <c:idx val="3"/>
            <c:spPr>
              <a:solidFill>
                <a:srgbClr val="7F7F7F"/>
              </a:solidFill>
            </c:spPr>
          </c:dPt>
          <c:cat>
            <c:strRef>
              <c:f>Sheet1!$A$2:$A$6</c:f>
              <c:strCache>
                <c:ptCount val="5"/>
                <c:pt idx="0">
                  <c:v>Потери: предочистка</c:v>
                </c:pt>
                <c:pt idx="1">
                  <c:v>Потери: сорбция</c:v>
                </c:pt>
                <c:pt idx="2">
                  <c:v>Потери: десорбция</c:v>
                </c:pt>
                <c:pt idx="3">
                  <c:v>Потери: продукт</c:v>
                </c:pt>
                <c:pt idx="4">
                  <c:v>Извлечено</c:v>
                </c:pt>
              </c:strCache>
            </c:strRef>
          </c:cat>
          <c:val>
            <c:numRef>
              <c:f>Sheet1!$B$2:$B$6</c:f>
              <c:numCache>
                <c:formatCode>General</c:formatCode>
                <c:ptCount val="5"/>
                <c:pt idx="0">
                  <c:v>15.0</c:v>
                </c:pt>
                <c:pt idx="1">
                  <c:v>57.0</c:v>
                </c:pt>
                <c:pt idx="2">
                  <c:v>11.4</c:v>
                </c:pt>
                <c:pt idx="3">
                  <c:v>32.5</c:v>
                </c:pt>
                <c:pt idx="4">
                  <c:v>184.1</c:v>
                </c:pt>
              </c:numCache>
            </c:numRef>
          </c:val>
        </c:ser>
        <c:dLbls>
          <c:numFmt formatCode="0.0" sourceLinked="0"/>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D9D9D9"/>
            </a:solidFill>
          </a:ln>
        </c:spPr>
        <c:crossAx val="-2113994440"/>
        <c:crosses val="autoZero"/>
        <c:auto val="1"/>
        <c:lblAlgn val="ctr"/>
        <c:lblOffset val="100"/>
        <c:noMultiLvlLbl val="0"/>
      </c:catAx>
      <c:valAx>
        <c:axId val="-2113994440"/>
        <c:scaling>
          <c:max val="235.0"/>
          <c:min val="0.0"/>
        </c:scaling>
        <c:delete/>
        <c:axPos val="b"/>
        <c:majorTickMark val="out"/>
        <c:minorTickMark val="none"/>
        <c:tickLblPos val="nextTo"/>
        <c:crossAx val="-2068027336"/>
        <c:crosses val="autoZero"/>
      </c:valAx>
    </c:plotArea>
    <c:dispBlanksAs val="gap"/>
  </c:chart>
  <c:spPr>
    <a:noFill/>
    <a:ln>
      <a:noFill/>
    </a:ln>
  </c:spPr>
  <c:txPr>
    <a:bodyPr/>
    <a:lstStyle/>
    <a:p>
      <a:pPr>
        <a:defRPr sz="1200">
          <a:solidFill>
            <a:srgbClr val="262626"/>
          </a:solidFill>
          <a:latin typeface="Open San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9 тыс. долл./т (2025 г.)</c:v>
                </c:pt>
              </c:strCache>
            </c:strRef>
          </c:tx>
          <c:spPr>
            <a:ln w="34925">
              <a:solidFill>
                <a:srgbClr val="C00000"/>
              </a:solidFill>
            </a:ln>
          </c:spPr>
          <c:marker>
            <c:symbol val="none"/>
          </c:marker>
          <c:cat>
            <c:strRef>
              <c:f>Sheet1!$A$2:$A$21</c:f>
              <c:strCache>
                <c:ptCount val="20"/>
                <c:pt idx="0">
                  <c:v>0,5</c:v>
                </c:pt>
                <c:pt idx="1">
                  <c:v>1</c:v>
                </c:pt>
                <c:pt idx="2">
                  <c:v>1,5</c:v>
                </c:pt>
                <c:pt idx="3">
                  <c:v>2</c:v>
                </c:pt>
                <c:pt idx="4">
                  <c:v>2,5</c:v>
                </c:pt>
                <c:pt idx="5">
                  <c:v>3</c:v>
                </c:pt>
                <c:pt idx="6">
                  <c:v>3,5</c:v>
                </c:pt>
                <c:pt idx="7">
                  <c:v>4</c:v>
                </c:pt>
                <c:pt idx="8">
                  <c:v>4,5</c:v>
                </c:pt>
                <c:pt idx="9">
                  <c:v>5</c:v>
                </c:pt>
                <c:pt idx="10">
                  <c:v>5,5</c:v>
                </c:pt>
                <c:pt idx="11">
                  <c:v>6</c:v>
                </c:pt>
                <c:pt idx="12">
                  <c:v>6,5</c:v>
                </c:pt>
                <c:pt idx="13">
                  <c:v>7</c:v>
                </c:pt>
                <c:pt idx="14">
                  <c:v>7,5</c:v>
                </c:pt>
                <c:pt idx="15">
                  <c:v>8</c:v>
                </c:pt>
                <c:pt idx="16">
                  <c:v>8,5</c:v>
                </c:pt>
                <c:pt idx="17">
                  <c:v>9</c:v>
                </c:pt>
                <c:pt idx="18">
                  <c:v>9,5</c:v>
                </c:pt>
                <c:pt idx="19">
                  <c:v>10</c:v>
                </c:pt>
              </c:strCache>
            </c:strRef>
          </c:cat>
          <c:val>
            <c:numRef>
              <c:f>Sheet1!$B$2:$B$21</c:f>
              <c:numCache>
                <c:formatCode>General</c:formatCode>
                <c:ptCount val="20"/>
                <c:pt idx="0">
                  <c:v>378</c:v>
                </c:pt>
                <c:pt idx="1">
                  <c:v>305</c:v>
                </c:pt>
                <c:pt idx="2">
                  <c:v>270</c:v>
                </c:pt>
                <c:pt idx="3">
                  <c:v>249</c:v>
                </c:pt>
                <c:pt idx="4">
                  <c:v>234</c:v>
                </c:pt>
                <c:pt idx="5">
                  <c:v>223</c:v>
                </c:pt>
                <c:pt idx="6">
                  <c:v>214</c:v>
                </c:pt>
                <c:pt idx="7">
                  <c:v>207</c:v>
                </c:pt>
                <c:pt idx="8">
                  <c:v>201</c:v>
                </c:pt>
                <c:pt idx="9">
                  <c:v>196</c:v>
                </c:pt>
                <c:pt idx="10">
                  <c:v>191</c:v>
                </c:pt>
                <c:pt idx="11">
                  <c:v>187</c:v>
                </c:pt>
                <c:pt idx="12">
                  <c:v>184</c:v>
                </c:pt>
                <c:pt idx="13">
                  <c:v>180</c:v>
                </c:pt>
                <c:pt idx="14">
                  <c:v>177</c:v>
                </c:pt>
                <c:pt idx="15">
                  <c:v>175</c:v>
                </c:pt>
                <c:pt idx="16">
                  <c:v>172</c:v>
                </c:pt>
                <c:pt idx="17">
                  <c:v>170</c:v>
                </c:pt>
                <c:pt idx="18">
                  <c:v>168</c:v>
                </c:pt>
                <c:pt idx="19">
                  <c:v>166</c:v>
                </c:pt>
              </c:numCache>
            </c:numRef>
          </c:val>
          <c:smooth val="0"/>
        </c:ser>
        <c:ser>
          <c:idx val="1"/>
          <c:order val="1"/>
          <c:tx>
            <c:strRef>
              <c:f>Sheet1!$C$1</c:f>
              <c:strCache>
                <c:ptCount val="1"/>
                <c:pt idx="0">
                  <c:v>15 тыс. долл./т</c:v>
                </c:pt>
              </c:strCache>
            </c:strRef>
          </c:tx>
          <c:spPr>
            <a:ln w="34925">
              <a:solidFill>
                <a:srgbClr val="7F7F7F"/>
              </a:solidFill>
            </a:ln>
          </c:spPr>
          <c:marker>
            <c:symbol val="none"/>
          </c:marker>
          <c:cat>
            <c:strRef>
              <c:f>Sheet1!$A$2:$A$21</c:f>
              <c:strCache>
                <c:ptCount val="20"/>
                <c:pt idx="0">
                  <c:v>0,5</c:v>
                </c:pt>
                <c:pt idx="1">
                  <c:v>1</c:v>
                </c:pt>
                <c:pt idx="2">
                  <c:v>1,5</c:v>
                </c:pt>
                <c:pt idx="3">
                  <c:v>2</c:v>
                </c:pt>
                <c:pt idx="4">
                  <c:v>2,5</c:v>
                </c:pt>
                <c:pt idx="5">
                  <c:v>3</c:v>
                </c:pt>
                <c:pt idx="6">
                  <c:v>3,5</c:v>
                </c:pt>
                <c:pt idx="7">
                  <c:v>4</c:v>
                </c:pt>
                <c:pt idx="8">
                  <c:v>4,5</c:v>
                </c:pt>
                <c:pt idx="9">
                  <c:v>5</c:v>
                </c:pt>
                <c:pt idx="10">
                  <c:v>5,5</c:v>
                </c:pt>
                <c:pt idx="11">
                  <c:v>6</c:v>
                </c:pt>
                <c:pt idx="12">
                  <c:v>6,5</c:v>
                </c:pt>
                <c:pt idx="13">
                  <c:v>7</c:v>
                </c:pt>
                <c:pt idx="14">
                  <c:v>7,5</c:v>
                </c:pt>
                <c:pt idx="15">
                  <c:v>8</c:v>
                </c:pt>
                <c:pt idx="16">
                  <c:v>8,5</c:v>
                </c:pt>
                <c:pt idx="17">
                  <c:v>9</c:v>
                </c:pt>
                <c:pt idx="18">
                  <c:v>9,5</c:v>
                </c:pt>
                <c:pt idx="19">
                  <c:v>10</c:v>
                </c:pt>
              </c:strCache>
            </c:strRef>
          </c:cat>
          <c:val>
            <c:numRef>
              <c:f>Sheet1!$C$2:$C$21</c:f>
              <c:numCache>
                <c:formatCode>General</c:formatCode>
                <c:ptCount val="20"/>
                <c:pt idx="0">
                  <c:v>191</c:v>
                </c:pt>
                <c:pt idx="1">
                  <c:v>154</c:v>
                </c:pt>
                <c:pt idx="2">
                  <c:v>137</c:v>
                </c:pt>
                <c:pt idx="3">
                  <c:v>126</c:v>
                </c:pt>
                <c:pt idx="4">
                  <c:v>118</c:v>
                </c:pt>
                <c:pt idx="5">
                  <c:v>113</c:v>
                </c:pt>
                <c:pt idx="6">
                  <c:v>108</c:v>
                </c:pt>
                <c:pt idx="7">
                  <c:v>105</c:v>
                </c:pt>
                <c:pt idx="8">
                  <c:v>102</c:v>
                </c:pt>
                <c:pt idx="9">
                  <c:v>99</c:v>
                </c:pt>
                <c:pt idx="10">
                  <c:v>97</c:v>
                </c:pt>
                <c:pt idx="11">
                  <c:v>95</c:v>
                </c:pt>
                <c:pt idx="12">
                  <c:v>93</c:v>
                </c:pt>
                <c:pt idx="13">
                  <c:v>91</c:v>
                </c:pt>
                <c:pt idx="14">
                  <c:v>90</c:v>
                </c:pt>
                <c:pt idx="15">
                  <c:v>88</c:v>
                </c:pt>
                <c:pt idx="16">
                  <c:v>87</c:v>
                </c:pt>
                <c:pt idx="17">
                  <c:v>86</c:v>
                </c:pt>
                <c:pt idx="18">
                  <c:v>85</c:v>
                </c:pt>
                <c:pt idx="19">
                  <c:v>84</c:v>
                </c:pt>
              </c:numCache>
            </c:numRef>
          </c:val>
          <c:smooth val="0"/>
        </c:ser>
        <c:ser>
          <c:idx val="2"/>
          <c:order val="2"/>
          <c:tx>
            <c:strRef>
              <c:f>Sheet1!$D$1</c:f>
              <c:strCache>
                <c:ptCount val="1"/>
                <c:pt idx="0">
                  <c:v>20 тыс. долл./т (сент. 2026 г.)</c:v>
                </c:pt>
              </c:strCache>
            </c:strRef>
          </c:tx>
          <c:spPr>
            <a:ln w="34925">
              <a:solidFill>
                <a:srgbClr val="BFBFBF"/>
              </a:solidFill>
            </a:ln>
          </c:spPr>
          <c:marker>
            <c:symbol val="none"/>
          </c:marker>
          <c:cat>
            <c:strRef>
              <c:f>Sheet1!$A$2:$A$21</c:f>
              <c:strCache>
                <c:ptCount val="20"/>
                <c:pt idx="0">
                  <c:v>0,5</c:v>
                </c:pt>
                <c:pt idx="1">
                  <c:v>1</c:v>
                </c:pt>
                <c:pt idx="2">
                  <c:v>1,5</c:v>
                </c:pt>
                <c:pt idx="3">
                  <c:v>2</c:v>
                </c:pt>
                <c:pt idx="4">
                  <c:v>2,5</c:v>
                </c:pt>
                <c:pt idx="5">
                  <c:v>3</c:v>
                </c:pt>
                <c:pt idx="6">
                  <c:v>3,5</c:v>
                </c:pt>
                <c:pt idx="7">
                  <c:v>4</c:v>
                </c:pt>
                <c:pt idx="8">
                  <c:v>4,5</c:v>
                </c:pt>
                <c:pt idx="9">
                  <c:v>5</c:v>
                </c:pt>
                <c:pt idx="10">
                  <c:v>5,5</c:v>
                </c:pt>
                <c:pt idx="11">
                  <c:v>6</c:v>
                </c:pt>
                <c:pt idx="12">
                  <c:v>6,5</c:v>
                </c:pt>
                <c:pt idx="13">
                  <c:v>7</c:v>
                </c:pt>
                <c:pt idx="14">
                  <c:v>7,5</c:v>
                </c:pt>
                <c:pt idx="15">
                  <c:v>8</c:v>
                </c:pt>
                <c:pt idx="16">
                  <c:v>8,5</c:v>
                </c:pt>
                <c:pt idx="17">
                  <c:v>9</c:v>
                </c:pt>
                <c:pt idx="18">
                  <c:v>9,5</c:v>
                </c:pt>
                <c:pt idx="19">
                  <c:v>10</c:v>
                </c:pt>
              </c:strCache>
            </c:strRef>
          </c:cat>
          <c:val>
            <c:numRef>
              <c:f>Sheet1!$D$2:$D$21</c:f>
              <c:numCache>
                <c:formatCode>General</c:formatCode>
                <c:ptCount val="20"/>
                <c:pt idx="0">
                  <c:v>135</c:v>
                </c:pt>
                <c:pt idx="1">
                  <c:v>109</c:v>
                </c:pt>
                <c:pt idx="2">
                  <c:v>97</c:v>
                </c:pt>
                <c:pt idx="3">
                  <c:v>89</c:v>
                </c:pt>
                <c:pt idx="4">
                  <c:v>84</c:v>
                </c:pt>
                <c:pt idx="5">
                  <c:v>80</c:v>
                </c:pt>
                <c:pt idx="6">
                  <c:v>77</c:v>
                </c:pt>
                <c:pt idx="7">
                  <c:v>74</c:v>
                </c:pt>
                <c:pt idx="8">
                  <c:v>72</c:v>
                </c:pt>
                <c:pt idx="9">
                  <c:v>70</c:v>
                </c:pt>
                <c:pt idx="10">
                  <c:v>68</c:v>
                </c:pt>
                <c:pt idx="11">
                  <c:v>67</c:v>
                </c:pt>
                <c:pt idx="12">
                  <c:v>66</c:v>
                </c:pt>
                <c:pt idx="13">
                  <c:v>65</c:v>
                </c:pt>
                <c:pt idx="14">
                  <c:v>64</c:v>
                </c:pt>
                <c:pt idx="15">
                  <c:v>63</c:v>
                </c:pt>
                <c:pt idx="16">
                  <c:v>62</c:v>
                </c:pt>
                <c:pt idx="17">
                  <c:v>61</c:v>
                </c:pt>
                <c:pt idx="18">
                  <c:v>60</c:v>
                </c:pt>
                <c:pt idx="19">
                  <c:v>60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9D9D9"/>
            </a:solidFill>
          </a:ln>
        </c:spPr>
        <c:crossAx val="2140495176"/>
        <c:crosses val="autoZero"/>
        <c:auto val="1"/>
        <c:lblAlgn val="ctr"/>
        <c:lblOffset val="100"/>
        <c:noMultiLvlLbl val="0"/>
      </c:catAx>
      <c:valAx>
        <c:axId val="2140495176"/>
        <c:scaling>
          <c:max val="400.0"/>
          <c:min val="0.0"/>
        </c:scaling>
        <c:delete val="0"/>
        <c:axPos val="l"/>
        <c:majorGridlines>
          <c:spPr>
            <a:ln>
              <a:solidFill>
                <a:srgbClr val="E3E3E3"/>
              </a:solidFill>
            </a:ln>
          </c:spPr>
        </c:majorGridlines>
        <c:majorTickMark val="out"/>
        <c:minorTickMark val="none"/>
        <c:tickLblPos val="nextTo"/>
        <c:spPr>
          <a:ln>
            <a:noFill/>
          </a:ln>
        </c:spPr>
        <c:crossAx val="2118791784"/>
        <c:crosses val="autoZero"/>
        <c:majorUnit val="100.0"/>
      </c:valAx>
    </c:plotArea>
    <c:legend>
      <c:legendPos val="t"/>
      <c:layout/>
      <c:overlay val="0"/>
      <c:txPr>
        <a:bodyPr/>
        <a:lstStyle/>
        <a:p>
          <a:pPr>
            <a:defRPr sz="1100"/>
          </a:pPr>
        </a:p>
      </c:txPr>
    </c:legend>
    <c:plotVisOnly val="1"/>
    <c:dispBlanksAs val="gap"/>
    <c:showDLblsOverMax val="0"/>
  </c:chart>
  <c:spPr>
    <a:noFill/>
    <a:ln>
      <a:noFill/>
    </a:ln>
  </c:spPr>
  <c:txPr>
    <a:bodyPr/>
    <a:lstStyle/>
    <a:p>
      <a:pPr>
        <a:defRPr sz="1100">
          <a:solidFill>
            <a:srgbClr val="262626"/>
          </a:solidFill>
          <a:latin typeface="Open San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параметр −30 %</c:v>
                </c:pt>
              </c:strCache>
            </c:strRef>
          </c:tx>
          <c:spPr>
            <a:solidFill>
              <a:srgbClr val="BFBFBF"/>
            </a:solidFill>
            <a:ln>
              <a:noFill/>
            </a:ln>
          </c:spPr>
          <c:cat>
            <c:strRef>
              <c:f>Sheet1!$A$2:$A$8</c:f>
              <c:strCache>
                <c:ptCount val="7"/>
                <c:pt idx="0">
                  <c:v>Затраты на реагенты (258–284)</c:v>
                </c:pt>
                <c:pt idx="1">
                  <c:v>Затраты на 1 м³ воды (248–293)</c:v>
                </c:pt>
                <c:pt idx="2">
                  <c:v>Объем воды Q (251–300)</c:v>
                </c:pt>
                <c:pt idx="3">
                  <c:v>Ресурс сорбента N (253–311)</c:v>
                </c:pt>
                <c:pt idx="4">
                  <c:v>Капитальные затраты (211–329)</c:v>
                </c:pt>
                <c:pt idx="5">
                  <c:v>Сквозное извлечение η (208–386)</c:v>
                </c:pt>
                <c:pt idx="6">
                  <c:v>Цена Li₂CO₃ (188–482)</c:v>
                </c:pt>
              </c:strCache>
            </c:strRef>
          </c:cat>
          <c:val>
            <c:numRef>
              <c:f>Sheet1!$B$2:$B$8</c:f>
              <c:numCache>
                <c:formatCode>General</c:formatCode>
                <c:ptCount val="7"/>
                <c:pt idx="0">
                  <c:v>-13</c:v>
                </c:pt>
                <c:pt idx="1">
                  <c:v>-22</c:v>
                </c:pt>
                <c:pt idx="2">
                  <c:v>30</c:v>
                </c:pt>
                <c:pt idx="3">
                  <c:v>40</c:v>
                </c:pt>
                <c:pt idx="4">
                  <c:v>-59</c:v>
                </c:pt>
                <c:pt idx="5">
                  <c:v>116</c:v>
                </c:pt>
                <c:pt idx="6">
                  <c:v>212</c:v>
                </c:pt>
              </c:numCache>
            </c:numRef>
          </c:val>
        </c:ser>
        <c:ser>
          <c:idx val="1"/>
          <c:order val="1"/>
          <c:tx>
            <c:strRef>
              <c:f>Sheet1!$C$1</c:f>
              <c:strCache>
                <c:ptCount val="1"/>
                <c:pt idx="0">
                  <c:v>параметр +30 %</c:v>
                </c:pt>
              </c:strCache>
            </c:strRef>
          </c:tx>
          <c:spPr>
            <a:solidFill>
              <a:srgbClr val="C00000"/>
            </a:solidFill>
            <a:ln>
              <a:noFill/>
            </a:ln>
          </c:spPr>
          <c:cat>
            <c:strRef>
              <c:f>Sheet1!$A$2:$A$8</c:f>
              <c:strCache>
                <c:ptCount val="7"/>
                <c:pt idx="0">
                  <c:v>Затраты на реагенты (258–284)</c:v>
                </c:pt>
                <c:pt idx="1">
                  <c:v>Затраты на 1 м³ воды (248–293)</c:v>
                </c:pt>
                <c:pt idx="2">
                  <c:v>Объем воды Q (251–300)</c:v>
                </c:pt>
                <c:pt idx="3">
                  <c:v>Ресурс сорбента N (253–311)</c:v>
                </c:pt>
                <c:pt idx="4">
                  <c:v>Капитальные затраты (211–329)</c:v>
                </c:pt>
                <c:pt idx="5">
                  <c:v>Сквозное извлечение η (208–386)</c:v>
                </c:pt>
                <c:pt idx="6">
                  <c:v>Цена Li₂CO₃ (188–482)</c:v>
                </c:pt>
              </c:strCache>
            </c:strRef>
          </c:cat>
          <c:val>
            <c:numRef>
              <c:f>Sheet1!$C$2:$C$8</c:f>
              <c:numCache>
                <c:formatCode>General</c:formatCode>
                <c:ptCount val="7"/>
                <c:pt idx="0">
                  <c:v>14</c:v>
                </c:pt>
                <c:pt idx="1">
                  <c:v>22</c:v>
                </c:pt>
                <c:pt idx="2">
                  <c:v>-19</c:v>
                </c:pt>
                <c:pt idx="3">
                  <c:v>-18</c:v>
                </c:pt>
                <c:pt idx="4">
                  <c:v>59</c:v>
                </c:pt>
                <c:pt idx="5">
                  <c:v>-62</c:v>
                </c:pt>
                <c:pt idx="6">
                  <c:v>-83</c:v>
                </c:pt>
              </c:numCache>
            </c:numRef>
          </c:val>
        </c:ser>
        <c:gapWidth val="40"/>
        <c:overlap val="100"/>
        <c:axId val="-2068027336"/>
        <c:axId val="-2113994440"/>
      </c:barChart>
      <c:catAx>
        <c:axId val="-2068027336"/>
        <c:scaling>
          <c:orientation val="minMax"/>
        </c:scaling>
        <c:delete val="0"/>
        <c:axPos val="l"/>
        <c:majorTickMark val="out"/>
        <c:minorTickMark val="none"/>
        <c:tickLblPos val="low"/>
        <c:spPr>
          <a:ln>
            <a:solidFill>
              <a:srgbClr val="D9D9D9"/>
            </a:solidFill>
          </a:ln>
        </c:spPr>
        <c:crossAx val="-2113994440"/>
        <c:crosses val="autoZero"/>
        <c:auto val="1"/>
        <c:lblAlgn val="ctr"/>
        <c:lblOffset val="100"/>
        <c:noMultiLvlLbl val="0"/>
      </c:catAx>
      <c:valAx>
        <c:axId val="-2113994440"/>
        <c:scaling>
          <c:max val="250.0"/>
          <c:min val="-100.0"/>
        </c:scaling>
        <c:delete val="0"/>
        <c:axPos val="b"/>
        <c:majorGridlines>
          <c:spPr>
            <a:ln>
              <a:solidFill>
                <a:srgbClr val="E3E3E3"/>
              </a:solidFill>
            </a:ln>
          </c:spPr>
        </c:majorGridlines>
        <c:majorTickMark val="out"/>
        <c:minorTickMark val="none"/>
        <c:tickLblPos val="nextTo"/>
        <c:spPr>
          <a:ln>
            <a:noFill/>
          </a:ln>
        </c:spPr>
        <c:crossAx val="-2068027336"/>
        <c:crosses val="autoZero"/>
        <c:majorUnit val="50.0"/>
      </c:valAx>
    </c:plotArea>
    <c:legend>
      <c:legendPos val="b"/>
      <c:overlay val="0"/>
    </c:legend>
    <c:dispBlanksAs val="gap"/>
  </c:chart>
  <c:spPr>
    <a:noFill/>
    <a:ln>
      <a:noFill/>
    </a:ln>
  </c:spPr>
  <c:txPr>
    <a:bodyPr/>
    <a:lstStyle/>
    <a:p>
      <a:pPr>
        <a:defRPr sz="1100">
          <a:solidFill>
            <a:srgbClr val="262626"/>
          </a:solidFill>
          <a:latin typeface="Open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Добрый день, уважаемые коллеги. Меня зовут Нина Мкртичян, я студентка Санкт-Петербургского государственного университета, направление «Нефтегазовое дело». Доклад подготовлен совместно с Марией Мкртичян, выпускницей Горного университета. Тема — сорбционное извлечение лития из высокоминерализованных попутных вод нефтегазовых месторождений. Главный вопрос работы: при каком составе рассола и каком масштабе такое извлечение технологически устойчиво и экономически оправдано.</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Литий остается ключевым материалом энергетического перехода: по данным Геологической службы США, в 2025 году 88 процентов потребления пришлось на аккумуляторы, мировая добыча выросла на 31 процент — до 290 тысяч тонн. При этом рынок прошел резкий ценовой цикл: среднегодовая цена карбоната лития упала с 63,7 тысячи долларов за тонну в 2022 году до 9 тысяч в 2025-м, а к сентябрю 2026 года восстановилась почти до 20 тысяч. Поэтому любой новый источник мы проверяем во всем диапазоне цен последних лет, а не при пиковых значениях. Для России вопрос особенно важен: импорт карбоната лития — до 9 тысяч тонн в год, а основные поставщики, Чили и Аргентина, прекратили поставки.</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Попутно добываемые воды — крупнотоннажный поток: по оценке Produced Water Society, объем пластовых вод на традиционных месторождениях мира вырастет с 25 до 38,6 миллиарда кубометров в год к 2030 году. Большая часть этой воды уже собирается, подготавливается и закачивается обратно в пласт в системе поддержания пластового давления, поэтому часть инфраструктуры для извлечения лития уже существует. В России на Лено-Тунгусскую провинцию приходится около 72 процентов ресурсов лития в подземных рассолах, опытные работы ведут ИНК, Газпром, Роснефть и Сургутнефтегаз. Ограничение — концентрация: 28–505 миллиграммов на литр, на порядок ниже, чем в рассолах саларов. Испарительная технология здесь неприменима, нужны методы прямого извлечения, а промышленного уровня из них достигла только сорбция на алюминиевых сорбентах.</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Цель работы — определить, при каких сочетаниях концентрации лития, минерализации, отношений магний/литий и кальций/литий, годового объема воды и ресурса сорбента схема «предочистка — сорбция — десорбция — осаждение карбоната лития» будет технологически устойчивой и экономически оправданной. Рабочая гипотеза: определяет результат не сама концентрация лития, а ее сочетание с объемом воды, содержанием двухвалентных катионов, потребностью в реагентах и сроком службы сорбента. Работа выполнена в три этапа: обзор публикаций 2019–2026 годов с данными по реальным водам; расчет реагентной нагрузки полного умягчения; материальный баланс схемы и расчет пороговой концентрации лития.</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Пороговая концентрация лития — это концентрация, при которой выручка от карбоната лития покрывает затраты. В числителе — затраты, отнесенные к кубометру воды: операционные и капитальные, причем капитальные растут с объемом в степени 0,6. В знаменателе — выход продукта с учетом сквозного извлечения и чистая выручка с тонны: цена минус затраты на реагенты и замену сорбента. Затраты на сорбент зависят от его цены, рабочей емкости и числа циклов до замены. Параметры справа — расчетные допущения, поэтому результаты характеризуют порядок величин и не заменяют промысловых испытаний. Чувствительность оценивалась изменением каждого параметра на 30 процентов.</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Содержание лития в попутных водах практически не коррелирует с минерализацией и основными ионами, поэтому его нужно определять отдельно. В Восточной Сибири важно различать два типа вод. Подтоварные воды действующих установок подготовки нефти содержат 30–70 миллиграммов лития на литр; например, Ярактинская УПН дает всего около 26 тонн лития в год. Глубинные рассолы богаче — 170–410 миллиграммов на литр. Но в них очень много кальция, 121–154 грамма на литр, и магния: отношение магний/литий около 72, кальций/литий — 300–390. Это на порядок хуже, чем в водах формации Смаковер или газового промысла Вэйюань.</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Посчитаем, сколько стоит полностью убрать кальций и магний из исходной воды: кальций осаждается содой, магний — гидроксидом натрия. Для одного кубометра знаменского рассола нужно около 320 килограммов соды и 97 килограммов щелочи — это около 92 долларов, тогда как лития в этом кубометре даже при стопроцентном извлечении — примерно на 20 долларов. Отношение составляет 4,7 для Знаменского и 5,5 для Ковыктинского месторождения. Для вод натрий-хлоридного типа, как Вэйюань, умягчение, наоборот, допустимо — реагенты стоят около 22 процентов от лития. Отсюда главный технологический вывод: для сибирских рассолов предочистка ограничивается удалением нефти, взвесей, железа, марганца и сероводорода, а кальций и магний надо удалять уже из элюата, объем которого на порядок меньше.</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сравнили три класса неорганических сорбентов. Марганцевые и титановые ионные сита имеют высокую емкость — 15–50 миллиграммов на грамм, но требуют кислотной десорбции, теряют активную фазу и чувствительны к органике, которая всегда есть в попутной воде. Их готовность пока пилотная. Литий-алюминиевый сорбент ДГАЛ-хлор имеет наименьшую емкость, около 7 миллиграммов на грамм, зато десорбируется пресной водой без кислоты, мало деградирует и уже применяется в промышленности. Главное — он сохраняет селективность при содержании кальция более 100 граммов на литр без предварительного умягчения, что прямо следует из предыдущего вывода.</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слайде — предлагаемая технологическая схема. Предочистка удаляет нефть, взвеси, железо, марганец и сероводород. Затем литий сорбируется в колоннах ДГАЛ-хлора, обедненный рассол возвращается в систему поддержания пластового давления. Слой промывают и десорбируют литий пресной водой. Кальций и магний удаляются уже из элюата, после чего раствор хлорида лития концентрируют обратным осмосом или выпариванием и осаждают карбонат лития содой. Ключевое подтверждение — опытная колонна на рассоле с 349 граммами хлорида магния на литр: динамическая емкость 3,6 грамма на килограмм, извлечение 80 процентов, отношение щелочноземельных металлов к литию снижается с 93 до 1,3–2,3, то есть в 40–70 раз за одну операцию, а конечный продукт имеет чистоту 99,6 процента.</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Материальный баланс составлен для трех сценариев на российских данных. Неблагоприятный — подтоварная вода Ярактинской УПН: 60 миллиграммов на литр и 0,44 миллиона кубометров в год. Он дает всего 62 тонны карбоната лития в год при удельных затратах свыше 60 тысяч долларов за тонну — это масштаб опытной, а не промышленной установки. Базовый сценарий — 200 миллиграммов и 1,5 миллиона кубометров — дает 980 тонн при 11,2 тысячи долларов за тонну. Благоприятный — глубинный рассол — 4,7 тысячи тонн при 4,7 тысячи долларов за тонну, что согласуется с отраслевой оценкой 4–5 тысяч. На диаграмме справа видно, что в базовом сценарии основные потери лития — на стадии сорбции, 57 тонн, и получения продукта, 32,5 тонны; именно эти стадии определяют сквозное извлечение.</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графике — пороговая концентрация лития в зависимости от годового объема воды при трех уровнях цены карбоната. При средней цене 2025 года, 9 тысяч долларов за тонну, порог составляет около 270 миллиграммов на литр при 1,5 миллиона кубометров в год и снижается до 166 при 10 миллионах. При 20 тысячах — уровне сентября 2026 года — это 97 и 60 миллиграммов на литр. Модель проверена: граничное значение, опубликованное для Оренбургского месторождения, 200 миллиграммов при 1,5 миллиона кубометров, соответствует цене около 11 тысяч, то есть порядок совпадает. Подтоварная вода Ярактинской УПН лежит ниже всех кривых даже при ценах 2026 года, а рассолы месторождения имени Кокорина при утвержденном отборе попадают в область реализуемости уже при цене 2025 года.</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Анализ чувствительности показывает, какие параметры сильнее всего сдвигают порог. На первом месте цена карбоната лития: при изменении на 30 процентов порог меняется от 188 до 482 миллиграммов на литр. Далее — сквозное извлечение и капитальные затраты. Повышение сквозного извлечения на 10 процентных пунктов снижает порог примерно на 40 миллиграммов на литр. Ресурс сорбента в этом диапазоне влияет умеренно, но его роль нелинейна: при снижении срока службы с 500 до 200 циклов затраты на замену сорбента растут с 1,9 до 4,7 тысячи долларов на тонну — это больше половины цены продукта 2025 года. При этом самые длинные опубликованные серии испытаний на реальных попутных водах не превышают 20 циклов. Поэтому ресурс сорбента — главный источник неопределенности всей оценки.</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Экологический эффект сорбционного извлечения не безусловен. Отказ от испарительных прудов устраняет главный источник потерь воды, но появляется расход пресной воды на десорбцию. По данным обзора 57 работ, четверть процессов прямого извлечения требует более 500 кубометров пресной воды на тонну карбоната — более чем в десять раз больше, чем испарительная технология. Наша оценка для ДГАЛ-хлора — 210–320 кубометров на тонну до рециркуляции, поэтому замкнутый контур с возвратом пермеата обратного осмоса — обязательное условие. Второе условие — совместимость обедненного рассола с пластом при обратной закачке: схема с ДГАЛ-хлором работает при естественном pH без умягчения и меньше всего меняет состав воды. Кроме того, закачка обедненного рассола в тот же пласт со временем разбавляет ресурс, это нужно оценивать гидродинамическим моделированием.</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Итог работы сведен в матрицу критериев выбора объектов. Концентрация лития — не менее 200 миллиграммов на литр при 1,5 миллиона кубометров в год или 170–190 при 6–10 миллионах, при цене 9 тысяч долларов. Годовой объем — не менее 1,5 миллиона кубометров, то есть около 4 тысяч кубометров в сутки; этого можно достичь объединением потоков нескольких УПН или целевым отбором глубинных рассолов. По составу: при отношении магний/литий меньше 10 допустимы ионные сита после умягчения, а при высоких отношениях — ДГАЛ-хлор без умягчения с очисткой элюата. Отдельно учитываются минерализация, содержание нефтепродуктов, водопотребление и наличие инфраструктуры — действующих УПН и системы ППД.</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Подведу итоги. Первое: литий в попутных водах не коррелирует с минерализацией, и в Восточной Сибири нужно разделять подтоварные воды УПН и глубинные рассолы. Второе: для хлоридно-кальциевых рассолов полное умягчение экономически исключено, реагенты в 4,7–5,5 раза дороже лития; рациональна схема с ограниченной предочисткой и сорбентом ДГАЛ-хлор. Третье: сквозное извлечение составляет 0,44–0,78, а пороговая концентрация при цене 2025 года — около 270 миллиграммов на литр при 1,5 миллиона кубометров и 166 при 10 миллионах. Четвертое: главные факторы — цена, извлечение и капитальные затраты, а главная неопределенность — ресурс сорбента. И пятое: для опытно-промышленной проверки приоритетны глубинные рассолы с концентрацией не ниже 200 миллиграммов на литр, отбором от 1,5–3 миллиона кубометров в год и действующей системой ППД.</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Спасибо за внимание, готова ответить на вопросы.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135488-8D73-42E2-91D1-CD33181EE5FC}"/>
              </a:ext>
            </a:extLst>
          </p:cNvPr>
          <p:cNvSpPr>
            <a:spLocks noGrp="1"/>
          </p:cNvSpPr>
          <p:nvPr>
            <p:ph type="ctrTitle" hasCustomPrompt="1"/>
          </p:nvPr>
        </p:nvSpPr>
        <p:spPr>
          <a:xfrm>
            <a:off x="1766098" y="3056709"/>
            <a:ext cx="8663287" cy="961426"/>
          </a:xfrm>
        </p:spPr>
        <p:txBody>
          <a:bodyPr anchor="b"/>
          <a:lstStyle>
            <a:lvl1pPr algn="ctr">
              <a:defRPr sz="6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ru-RU" dirty="0">
                <a:effectLst/>
              </a:rPr>
              <a:t>Текст в одну строку</a:t>
            </a:r>
            <a:endParaRPr lang="ru-RU" dirty="0"/>
          </a:p>
        </p:txBody>
      </p:sp>
    </p:spTree>
    <p:extLst>
      <p:ext uri="{BB962C8B-B14F-4D97-AF65-F5344CB8AC3E}">
        <p14:creationId xmlns:p14="http://schemas.microsoft.com/office/powerpoint/2010/main" val="195229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sp>
        <p:nvSpPr>
          <p:cNvPr id="11" name="Заголовок 1">
            <a:extLst>
              <a:ext uri="{FF2B5EF4-FFF2-40B4-BE49-F238E27FC236}">
                <a16:creationId xmlns:a16="http://schemas.microsoft.com/office/drawing/2014/main" id="{1492A617-6407-479B-B222-54D67FFB8D38}"/>
              </a:ext>
            </a:extLst>
          </p:cNvPr>
          <p:cNvSpPr>
            <a:spLocks noGrp="1"/>
          </p:cNvSpPr>
          <p:nvPr>
            <p:ph type="ctrTitle" hasCustomPrompt="1"/>
          </p:nvPr>
        </p:nvSpPr>
        <p:spPr>
          <a:xfrm>
            <a:off x="1524000" y="2696173"/>
            <a:ext cx="9144000" cy="856923"/>
          </a:xfrm>
        </p:spPr>
        <p:txBody>
          <a:bodyPr anchor="b"/>
          <a:lstStyle>
            <a:lvl1pPr algn="ctr">
              <a:defRPr sz="6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ru-RU" dirty="0">
                <a:effectLst/>
              </a:rPr>
              <a:t>Текст в одну строку</a:t>
            </a:r>
            <a:endParaRPr lang="ru-RU" dirty="0"/>
          </a:p>
        </p:txBody>
      </p:sp>
      <p:sp>
        <p:nvSpPr>
          <p:cNvPr id="12" name="Подзаголовок 2">
            <a:extLst>
              <a:ext uri="{FF2B5EF4-FFF2-40B4-BE49-F238E27FC236}">
                <a16:creationId xmlns:a16="http://schemas.microsoft.com/office/drawing/2014/main" id="{EF6FA051-B2F9-41B7-9713-FCC57A2A52C0}"/>
              </a:ext>
            </a:extLst>
          </p:cNvPr>
          <p:cNvSpPr>
            <a:spLocks noGrp="1"/>
          </p:cNvSpPr>
          <p:nvPr>
            <p:ph type="subTitle" idx="1"/>
          </p:nvPr>
        </p:nvSpPr>
        <p:spPr>
          <a:xfrm>
            <a:off x="1524000" y="3929307"/>
            <a:ext cx="9144000" cy="909176"/>
          </a:xfrm>
        </p:spPr>
        <p:txBody>
          <a:bodyPr/>
          <a:lstStyle>
            <a:lvl1pPr marL="0" indent="0" algn="ctr">
              <a:buNone/>
              <a:defRPr sz="24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p>
        </p:txBody>
      </p:sp>
    </p:spTree>
    <p:extLst>
      <p:ext uri="{BB962C8B-B14F-4D97-AF65-F5344CB8AC3E}">
        <p14:creationId xmlns:p14="http://schemas.microsoft.com/office/powerpoint/2010/main" val="2929819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Заголовок раздела">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4C04B85D-DE79-46C9-82D6-288E0209B531}"/>
              </a:ext>
            </a:extLst>
          </p:cNvPr>
          <p:cNvSpPr>
            <a:spLocks noGrp="1"/>
          </p:cNvSpPr>
          <p:nvPr>
            <p:ph type="ctrTitle" hasCustomPrompt="1"/>
          </p:nvPr>
        </p:nvSpPr>
        <p:spPr>
          <a:xfrm>
            <a:off x="1524000" y="2560320"/>
            <a:ext cx="9144000" cy="1609344"/>
          </a:xfrm>
        </p:spPr>
        <p:txBody>
          <a:bodyPr anchor="b"/>
          <a:lstStyle>
            <a:lvl1pPr algn="ctr">
              <a:defRPr sz="6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ru-RU" dirty="0">
                <a:effectLst/>
              </a:rPr>
              <a:t>Текст </a:t>
            </a:r>
            <a:br>
              <a:rPr lang="en-US" dirty="0">
                <a:effectLst/>
              </a:rPr>
            </a:br>
            <a:r>
              <a:rPr lang="ru-RU" dirty="0">
                <a:effectLst/>
              </a:rPr>
              <a:t>в две строки</a:t>
            </a:r>
            <a:endParaRPr lang="ru-RU" dirty="0"/>
          </a:p>
        </p:txBody>
      </p:sp>
    </p:spTree>
    <p:extLst>
      <p:ext uri="{BB962C8B-B14F-4D97-AF65-F5344CB8AC3E}">
        <p14:creationId xmlns:p14="http://schemas.microsoft.com/office/powerpoint/2010/main" val="3936566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Титульный слайд">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E8B5F0F0-4F0F-4A63-A353-2087CF9D27D6}"/>
              </a:ext>
            </a:extLst>
          </p:cNvPr>
          <p:cNvSpPr txBox="1">
            <a:spLocks/>
          </p:cNvSpPr>
          <p:nvPr userDrawn="1"/>
        </p:nvSpPr>
        <p:spPr>
          <a:xfrm>
            <a:off x="1766098" y="3056709"/>
            <a:ext cx="8663287" cy="961426"/>
          </a:xfrm>
          <a:prstGeom prst="rect">
            <a:avLst/>
          </a:prstGeom>
        </p:spPr>
        <p:txBody>
          <a:bodyPr anchor="b"/>
          <a:lstStyle>
            <a:lvl1pPr algn="ctr" defTabSz="914400" rtl="0" eaLnBrk="1" latinLnBrk="0" hangingPunct="1">
              <a:lnSpc>
                <a:spcPct val="90000"/>
              </a:lnSpc>
              <a:spcBef>
                <a:spcPct val="0"/>
              </a:spcBef>
              <a:buNone/>
              <a:defRPr sz="6000"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ru-RU" dirty="0">
                <a:solidFill>
                  <a:srgbClr val="C00000"/>
                </a:solidFill>
              </a:rPr>
              <a:t>Текст в одну строку</a:t>
            </a:r>
          </a:p>
        </p:txBody>
      </p:sp>
    </p:spTree>
    <p:extLst>
      <p:ext uri="{BB962C8B-B14F-4D97-AF65-F5344CB8AC3E}">
        <p14:creationId xmlns:p14="http://schemas.microsoft.com/office/powerpoint/2010/main" val="1389367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CB24D2FF-721C-4204-8654-5022CA9D80A8}"/>
              </a:ext>
            </a:extLst>
          </p:cNvPr>
          <p:cNvSpPr>
            <a:spLocks noGrp="1"/>
          </p:cNvSpPr>
          <p:nvPr>
            <p:ph type="ctrTitle" hasCustomPrompt="1"/>
          </p:nvPr>
        </p:nvSpPr>
        <p:spPr>
          <a:xfrm>
            <a:off x="1524000" y="2624328"/>
            <a:ext cx="9144000" cy="1609344"/>
          </a:xfrm>
          <a:prstGeom prst="rect">
            <a:avLst/>
          </a:prstGeom>
        </p:spPr>
        <p:txBody>
          <a:bodyPr anchor="b"/>
          <a:lstStyle>
            <a:lvl1pPr algn="ctr">
              <a:defRPr sz="6000">
                <a:solidFill>
                  <a:srgbClr val="C00000"/>
                </a:solidFill>
                <a:latin typeface="Open Sans" panose="020B0606030504020204" pitchFamily="34" charset="0"/>
                <a:ea typeface="Open Sans" panose="020B0606030504020204" pitchFamily="34" charset="0"/>
                <a:cs typeface="Open Sans" panose="020B0606030504020204" pitchFamily="34" charset="0"/>
              </a:defRPr>
            </a:lvl1pPr>
          </a:lstStyle>
          <a:p>
            <a:r>
              <a:rPr lang="ru-RU" dirty="0">
                <a:effectLst/>
              </a:rPr>
              <a:t>Текст </a:t>
            </a:r>
            <a:br>
              <a:rPr lang="en-US" dirty="0">
                <a:effectLst/>
              </a:rPr>
            </a:br>
            <a:r>
              <a:rPr lang="ru-RU" dirty="0">
                <a:effectLst/>
              </a:rPr>
              <a:t>в две строки</a:t>
            </a:r>
            <a:endParaRPr lang="ru-RU" dirty="0"/>
          </a:p>
        </p:txBody>
      </p:sp>
    </p:spTree>
    <p:extLst>
      <p:ext uri="{BB962C8B-B14F-4D97-AF65-F5344CB8AC3E}">
        <p14:creationId xmlns:p14="http://schemas.microsoft.com/office/powerpoint/2010/main" val="1237717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Заголовок раздела">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59E3BAE3-E1B2-4C31-BD3D-1AF0FD575F09}"/>
              </a:ext>
            </a:extLst>
          </p:cNvPr>
          <p:cNvSpPr>
            <a:spLocks noGrp="1"/>
          </p:cNvSpPr>
          <p:nvPr>
            <p:ph type="ctrTitle" hasCustomPrompt="1"/>
          </p:nvPr>
        </p:nvSpPr>
        <p:spPr>
          <a:xfrm>
            <a:off x="1524000" y="2696173"/>
            <a:ext cx="9144000" cy="856923"/>
          </a:xfrm>
          <a:prstGeom prst="rect">
            <a:avLst/>
          </a:prstGeom>
        </p:spPr>
        <p:txBody>
          <a:bodyPr anchor="b"/>
          <a:lstStyle>
            <a:lvl1pPr algn="ctr">
              <a:defRPr sz="6000">
                <a:solidFill>
                  <a:srgbClr val="C00000"/>
                </a:solidFill>
                <a:latin typeface="Open Sans" panose="020B0606030504020204" pitchFamily="34" charset="0"/>
                <a:ea typeface="Open Sans" panose="020B0606030504020204" pitchFamily="34" charset="0"/>
                <a:cs typeface="Open Sans" panose="020B0606030504020204" pitchFamily="34" charset="0"/>
              </a:defRPr>
            </a:lvl1pPr>
          </a:lstStyle>
          <a:p>
            <a:r>
              <a:rPr lang="ru-RU" dirty="0">
                <a:effectLst/>
              </a:rPr>
              <a:t>Текст в одну строку</a:t>
            </a:r>
            <a:endParaRPr lang="ru-RU" dirty="0"/>
          </a:p>
        </p:txBody>
      </p:sp>
      <p:sp>
        <p:nvSpPr>
          <p:cNvPr id="8" name="Подзаголовок 2">
            <a:extLst>
              <a:ext uri="{FF2B5EF4-FFF2-40B4-BE49-F238E27FC236}">
                <a16:creationId xmlns:a16="http://schemas.microsoft.com/office/drawing/2014/main" id="{3C61F812-020A-4787-A769-095FFC4DEFB6}"/>
              </a:ext>
            </a:extLst>
          </p:cNvPr>
          <p:cNvSpPr>
            <a:spLocks noGrp="1"/>
          </p:cNvSpPr>
          <p:nvPr>
            <p:ph type="subTitle" idx="1"/>
          </p:nvPr>
        </p:nvSpPr>
        <p:spPr>
          <a:xfrm>
            <a:off x="1524000" y="3929307"/>
            <a:ext cx="9144000" cy="909176"/>
          </a:xfrm>
          <a:prstGeom prst="rect">
            <a:avLst/>
          </a:prstGeom>
        </p:spPr>
        <p:txBody>
          <a:bodyPr/>
          <a:lstStyle>
            <a:lvl1pPr marL="0" indent="0" algn="ctr">
              <a:buNone/>
              <a:defRPr sz="2400">
                <a:solidFill>
                  <a:srgbClr val="C00000"/>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p>
        </p:txBody>
      </p:sp>
    </p:spTree>
    <p:extLst>
      <p:ext uri="{BB962C8B-B14F-4D97-AF65-F5344CB8AC3E}">
        <p14:creationId xmlns:p14="http://schemas.microsoft.com/office/powerpoint/2010/main" val="3173920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Титульный слайд">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278F719E-FB93-40D7-BA77-41FF064A0C74}"/>
              </a:ext>
            </a:extLst>
          </p:cNvPr>
          <p:cNvSpPr txBox="1">
            <a:spLocks/>
          </p:cNvSpPr>
          <p:nvPr userDrawn="1"/>
        </p:nvSpPr>
        <p:spPr>
          <a:xfrm>
            <a:off x="1766098" y="3056709"/>
            <a:ext cx="8663287" cy="961426"/>
          </a:xfrm>
          <a:prstGeom prst="rect">
            <a:avLst/>
          </a:prstGeom>
        </p:spPr>
        <p:txBody>
          <a:bodyPr anchor="b"/>
          <a:lstStyle>
            <a:lvl1pPr algn="ctr" defTabSz="914400" rtl="0" eaLnBrk="1" latinLnBrk="0" hangingPunct="1">
              <a:lnSpc>
                <a:spcPct val="90000"/>
              </a:lnSpc>
              <a:spcBef>
                <a:spcPct val="0"/>
              </a:spcBef>
              <a:buNone/>
              <a:defRPr sz="6000"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r>
              <a:rPr lang="ru-RU" dirty="0">
                <a:solidFill>
                  <a:srgbClr val="C00000"/>
                </a:solidFill>
              </a:rPr>
              <a:t>Текст в одну строку</a:t>
            </a:r>
          </a:p>
        </p:txBody>
      </p:sp>
    </p:spTree>
    <p:extLst>
      <p:ext uri="{BB962C8B-B14F-4D97-AF65-F5344CB8AC3E}">
        <p14:creationId xmlns:p14="http://schemas.microsoft.com/office/powerpoint/2010/main" val="1232361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sp>
        <p:nvSpPr>
          <p:cNvPr id="7" name="Заголовок 1">
            <a:extLst>
              <a:ext uri="{FF2B5EF4-FFF2-40B4-BE49-F238E27FC236}">
                <a16:creationId xmlns:a16="http://schemas.microsoft.com/office/drawing/2014/main" id="{88372E62-8116-43EB-960F-C453D3426EA3}"/>
              </a:ext>
            </a:extLst>
          </p:cNvPr>
          <p:cNvSpPr>
            <a:spLocks noGrp="1"/>
          </p:cNvSpPr>
          <p:nvPr>
            <p:ph type="ctrTitle" hasCustomPrompt="1"/>
          </p:nvPr>
        </p:nvSpPr>
        <p:spPr>
          <a:xfrm>
            <a:off x="1524000" y="2624328"/>
            <a:ext cx="9144000" cy="1609344"/>
          </a:xfrm>
          <a:prstGeom prst="rect">
            <a:avLst/>
          </a:prstGeom>
        </p:spPr>
        <p:txBody>
          <a:bodyPr anchor="b"/>
          <a:lstStyle>
            <a:lvl1pPr algn="ctr">
              <a:defRPr sz="6000">
                <a:solidFill>
                  <a:srgbClr val="C00000"/>
                </a:solidFill>
                <a:latin typeface="Open Sans" panose="020B0606030504020204" pitchFamily="34" charset="0"/>
                <a:ea typeface="Open Sans" panose="020B0606030504020204" pitchFamily="34" charset="0"/>
                <a:cs typeface="Open Sans" panose="020B0606030504020204" pitchFamily="34" charset="0"/>
              </a:defRPr>
            </a:lvl1pPr>
          </a:lstStyle>
          <a:p>
            <a:r>
              <a:rPr lang="ru-RU" dirty="0">
                <a:effectLst/>
              </a:rPr>
              <a:t>Текст </a:t>
            </a:r>
            <a:br>
              <a:rPr lang="en-US" dirty="0">
                <a:effectLst/>
              </a:rPr>
            </a:br>
            <a:r>
              <a:rPr lang="ru-RU" dirty="0">
                <a:effectLst/>
              </a:rPr>
              <a:t>в две строки</a:t>
            </a:r>
            <a:endParaRPr lang="ru-RU" dirty="0"/>
          </a:p>
        </p:txBody>
      </p:sp>
    </p:spTree>
    <p:extLst>
      <p:ext uri="{BB962C8B-B14F-4D97-AF65-F5344CB8AC3E}">
        <p14:creationId xmlns:p14="http://schemas.microsoft.com/office/powerpoint/2010/main" val="1360365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Заголовок и объект">
    <p:spTree>
      <p:nvGrpSpPr>
        <p:cNvPr id="1" name=""/>
        <p:cNvGrpSpPr/>
        <p:nvPr/>
      </p:nvGrpSpPr>
      <p:grpSpPr>
        <a:xfrm>
          <a:off x="0" y="0"/>
          <a:ext cx="0" cy="0"/>
          <a:chOff x="0" y="0"/>
          <a:chExt cx="0" cy="0"/>
        </a:xfrm>
      </p:grpSpPr>
      <p:sp>
        <p:nvSpPr>
          <p:cNvPr id="3" name="Заголовок 1">
            <a:extLst>
              <a:ext uri="{FF2B5EF4-FFF2-40B4-BE49-F238E27FC236}">
                <a16:creationId xmlns:a16="http://schemas.microsoft.com/office/drawing/2014/main" id="{6224C463-7103-48A9-8953-134D9065104E}"/>
              </a:ext>
            </a:extLst>
          </p:cNvPr>
          <p:cNvSpPr>
            <a:spLocks noGrp="1"/>
          </p:cNvSpPr>
          <p:nvPr>
            <p:ph type="ctrTitle" hasCustomPrompt="1"/>
          </p:nvPr>
        </p:nvSpPr>
        <p:spPr>
          <a:xfrm>
            <a:off x="1524000" y="2696173"/>
            <a:ext cx="9144000" cy="856923"/>
          </a:xfrm>
          <a:prstGeom prst="rect">
            <a:avLst/>
          </a:prstGeom>
        </p:spPr>
        <p:txBody>
          <a:bodyPr anchor="b"/>
          <a:lstStyle>
            <a:lvl1pPr algn="ctr">
              <a:defRPr sz="6000">
                <a:solidFill>
                  <a:srgbClr val="C00000"/>
                </a:solidFill>
                <a:latin typeface="Open Sans" panose="020B0606030504020204" pitchFamily="34" charset="0"/>
                <a:ea typeface="Open Sans" panose="020B0606030504020204" pitchFamily="34" charset="0"/>
                <a:cs typeface="Open Sans" panose="020B0606030504020204" pitchFamily="34" charset="0"/>
              </a:defRPr>
            </a:lvl1pPr>
          </a:lstStyle>
          <a:p>
            <a:r>
              <a:rPr lang="ru-RU" dirty="0">
                <a:effectLst/>
              </a:rPr>
              <a:t>Текст в одну строку</a:t>
            </a:r>
            <a:endParaRPr lang="ru-RU" dirty="0"/>
          </a:p>
        </p:txBody>
      </p:sp>
      <p:sp>
        <p:nvSpPr>
          <p:cNvPr id="4" name="Подзаголовок 2">
            <a:extLst>
              <a:ext uri="{FF2B5EF4-FFF2-40B4-BE49-F238E27FC236}">
                <a16:creationId xmlns:a16="http://schemas.microsoft.com/office/drawing/2014/main" id="{95786E44-E341-4FC2-AA9C-D6930AC33D04}"/>
              </a:ext>
            </a:extLst>
          </p:cNvPr>
          <p:cNvSpPr>
            <a:spLocks noGrp="1"/>
          </p:cNvSpPr>
          <p:nvPr>
            <p:ph type="subTitle" idx="1"/>
          </p:nvPr>
        </p:nvSpPr>
        <p:spPr>
          <a:xfrm>
            <a:off x="1524000" y="3929307"/>
            <a:ext cx="9144000" cy="909176"/>
          </a:xfrm>
          <a:prstGeom prst="rect">
            <a:avLst/>
          </a:prstGeom>
        </p:spPr>
        <p:txBody>
          <a:bodyPr/>
          <a:lstStyle>
            <a:lvl1pPr marL="0" indent="0" algn="ctr">
              <a:buNone/>
              <a:defRPr sz="2400">
                <a:solidFill>
                  <a:srgbClr val="C00000"/>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p>
        </p:txBody>
      </p:sp>
    </p:spTree>
    <p:extLst>
      <p:ext uri="{BB962C8B-B14F-4D97-AF65-F5344CB8AC3E}">
        <p14:creationId xmlns:p14="http://schemas.microsoft.com/office/powerpoint/2010/main" val="13796769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theme" Target="../theme/theme2.xml"/><Relationship Id="rId5"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theme" Target="../theme/theme3.xml"/><Relationship Id="rId5"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9D08E19-1AEC-408D-BBEC-E31387B4D6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C520B8E8-6890-4F0A-A972-E86720FF82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0022A16B-2479-4E35-8192-6AB61E7E3A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7860CE-F780-4C8B-B444-B287B8E5DAE3}" type="datetimeFigureOut">
              <a:rPr lang="ru-RU" smtClean="0"/>
              <a:t>25.12.2025</a:t>
            </a:fld>
            <a:endParaRPr lang="ru-RU"/>
          </a:p>
        </p:txBody>
      </p:sp>
      <p:sp>
        <p:nvSpPr>
          <p:cNvPr id="5" name="Нижний колонтитул 4">
            <a:extLst>
              <a:ext uri="{FF2B5EF4-FFF2-40B4-BE49-F238E27FC236}">
                <a16:creationId xmlns:a16="http://schemas.microsoft.com/office/drawing/2014/main" id="{9D3523AE-8D60-4914-A708-8D634593D5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86BAF586-47A8-4C00-9B0D-81105EC479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D305B4-1E7C-48D6-8DBB-A5DBC036DDF5}" type="slidenum">
              <a:rPr lang="ru-RU" smtClean="0"/>
              <a:t>‹#›</a:t>
            </a:fld>
            <a:endParaRPr lang="ru-RU"/>
          </a:p>
        </p:txBody>
      </p:sp>
      <p:pic>
        <p:nvPicPr>
          <p:cNvPr id="8" name="Рисунок 7">
            <a:extLst>
              <a:ext uri="{FF2B5EF4-FFF2-40B4-BE49-F238E27FC236}">
                <a16:creationId xmlns:a16="http://schemas.microsoft.com/office/drawing/2014/main" id="{0B76F7F8-AE8C-4036-A4D6-2A59B0464BB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2507963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Рисунок 7">
            <a:extLst>
              <a:ext uri="{FF2B5EF4-FFF2-40B4-BE49-F238E27FC236}">
                <a16:creationId xmlns:a16="http://schemas.microsoft.com/office/drawing/2014/main" id="{DC4EA9AC-AD84-4759-9B04-7107D2E126F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32252473"/>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Рисунок 7">
            <a:extLst>
              <a:ext uri="{FF2B5EF4-FFF2-40B4-BE49-F238E27FC236}">
                <a16:creationId xmlns:a16="http://schemas.microsoft.com/office/drawing/2014/main" id="{73174640-190C-4C69-8C9E-E54005CB053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3349319715"/>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chart" Target="../charts/char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chart" Target="../charts/char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1737360"/>
            <a:ext cx="9994392" cy="1554480"/>
          </a:xfrm>
          <a:prstGeom prst="rect">
            <a:avLst/>
          </a:prstGeom>
          <a:noFill/>
        </p:spPr>
        <p:txBody>
          <a:bodyPr wrap="square" lIns="0" rIns="0" tIns="0" bIns="0" anchor="b"/>
          <a:lstStyle/>
          <a:p>
            <a:pPr algn="ctr">
              <a:lnSpc>
                <a:spcPct val="105000"/>
              </a:lnSpc>
            </a:pPr>
            <a:r>
              <a:rPr sz="3000" b="1" i="0">
                <a:solidFill>
                  <a:srgbClr val="C00000"/>
                </a:solidFill>
                <a:latin typeface="Open Sans"/>
              </a:rPr>
              <a:t>Сорбционное извлечение лития из высокоминерализованных попутных вод нефтегазовых месторождений</a:t>
            </a:r>
          </a:p>
        </p:txBody>
      </p:sp>
      <p:sp>
        <p:nvSpPr>
          <p:cNvPr id="3" name="TextBox 2"/>
          <p:cNvSpPr txBox="1"/>
          <p:nvPr/>
        </p:nvSpPr>
        <p:spPr>
          <a:xfrm>
            <a:off x="1097280" y="3429000"/>
            <a:ext cx="9994392" cy="457200"/>
          </a:xfrm>
          <a:prstGeom prst="rect">
            <a:avLst/>
          </a:prstGeom>
          <a:noFill/>
        </p:spPr>
        <p:txBody>
          <a:bodyPr wrap="square" lIns="0" rIns="0" tIns="0" bIns="0" anchor="t"/>
          <a:lstStyle/>
          <a:p>
            <a:pPr algn="ctr"/>
            <a:r>
              <a:rPr sz="1800" b="0" i="0">
                <a:solidFill>
                  <a:srgbClr val="595959"/>
                </a:solidFill>
                <a:latin typeface="Open Sans"/>
              </a:rPr>
              <a:t>Влияние состава рассола на технологическую и экономическую реализуемость</a:t>
            </a:r>
          </a:p>
        </p:txBody>
      </p:sp>
      <p:sp>
        <p:nvSpPr>
          <p:cNvPr id="4" name="TextBox 3"/>
          <p:cNvSpPr txBox="1"/>
          <p:nvPr/>
        </p:nvSpPr>
        <p:spPr>
          <a:xfrm>
            <a:off x="1097280" y="4343400"/>
            <a:ext cx="9994392" cy="822960"/>
          </a:xfrm>
          <a:prstGeom prst="rect">
            <a:avLst/>
          </a:prstGeom>
          <a:noFill/>
        </p:spPr>
        <p:txBody>
          <a:bodyPr wrap="square" lIns="0" rIns="0" tIns="0" bIns="0" anchor="t"/>
          <a:lstStyle/>
          <a:p>
            <a:pPr algn="ctr">
              <a:spcAft>
                <a:spcPts val="400"/>
              </a:spcAft>
            </a:pPr>
            <a:r>
              <a:rPr sz="1400" b="1" i="0">
                <a:solidFill>
                  <a:srgbClr val="262626"/>
                </a:solidFill>
                <a:latin typeface="Open Sans"/>
              </a:rPr>
              <a:t>Н. А. Мкртичян</a:t>
            </a:r>
            <a:r>
              <a:rPr sz="1400" b="0" i="0">
                <a:solidFill>
                  <a:srgbClr val="262626"/>
                </a:solidFill>
                <a:latin typeface="Open Sans"/>
              </a:rPr>
              <a:t> — Санкт-Петербургский государственный университет</a:t>
            </a:r>
          </a:p>
          <a:p>
            <a:pPr algn="ctr">
              <a:spcAft>
                <a:spcPts val="400"/>
              </a:spcAft>
            </a:pPr>
            <a:r>
              <a:rPr sz="1400" b="1" i="0">
                <a:solidFill>
                  <a:srgbClr val="262626"/>
                </a:solidFill>
                <a:latin typeface="Open Sans"/>
              </a:rPr>
              <a:t>М. А. Мкртичян</a:t>
            </a:r>
            <a:r>
              <a:rPr sz="1400" b="0" i="0">
                <a:solidFill>
                  <a:srgbClr val="262626"/>
                </a:solidFill>
                <a:latin typeface="Open Sans"/>
              </a:rPr>
              <a:t> — Санкт-Петербургский горный университет императрицы Екатерины II</a:t>
            </a:r>
          </a:p>
        </p:txBody>
      </p:sp>
      <p:sp>
        <p:nvSpPr>
          <p:cNvPr id="5" name="TextBox 4"/>
          <p:cNvSpPr txBox="1"/>
          <p:nvPr/>
        </p:nvSpPr>
        <p:spPr>
          <a:xfrm>
            <a:off x="1097280" y="5349240"/>
            <a:ext cx="9994392" cy="320040"/>
          </a:xfrm>
          <a:prstGeom prst="rect">
            <a:avLst/>
          </a:prstGeom>
          <a:noFill/>
        </p:spPr>
        <p:txBody>
          <a:bodyPr wrap="square" lIns="0" rIns="0" tIns="0" bIns="0" anchor="t"/>
          <a:lstStyle/>
          <a:p>
            <a:pPr algn="ctr"/>
            <a:r>
              <a:rPr sz="1300" b="0" i="0">
                <a:solidFill>
                  <a:srgbClr val="8C8C8C"/>
                </a:solidFill>
                <a:latin typeface="Open Sans"/>
              </a:rPr>
              <a:t>Санкт-Петербург,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61872"/>
            <a:ext cx="11091672" cy="640080"/>
          </a:xfrm>
          <a:prstGeom prst="rect">
            <a:avLst/>
          </a:prstGeom>
          <a:noFill/>
        </p:spPr>
        <p:txBody>
          <a:bodyPr wrap="square" lIns="0" rIns="0" tIns="0" bIns="0" anchor="t"/>
          <a:lstStyle/>
          <a:p>
            <a:pPr algn="l"/>
            <a:r>
              <a:rPr sz="2400" b="1" i="0">
                <a:solidFill>
                  <a:srgbClr val="C00000"/>
                </a:solidFill>
                <a:latin typeface="Open Sans"/>
              </a:rPr>
              <a:t>Литий — ключевой материал энергоперехода, но рынок нестабилен</a:t>
            </a:r>
          </a:p>
        </p:txBody>
      </p:sp>
      <p:sp>
        <p:nvSpPr>
          <p:cNvPr id="3" name="TextBox 2"/>
          <p:cNvSpPr txBox="1"/>
          <p:nvPr/>
        </p:nvSpPr>
        <p:spPr>
          <a:xfrm>
            <a:off x="548640" y="6382512"/>
            <a:ext cx="1371600" cy="228600"/>
          </a:xfrm>
          <a:prstGeom prst="rect">
            <a:avLst/>
          </a:prstGeom>
          <a:noFill/>
        </p:spPr>
        <p:txBody>
          <a:bodyPr wrap="square" lIns="0" rIns="0" tIns="0" bIns="0" anchor="t"/>
          <a:lstStyle/>
          <a:p>
            <a:pPr algn="l"/>
            <a:r>
              <a:rPr sz="1000" b="0" i="0">
                <a:solidFill>
                  <a:srgbClr val="8C8C8C"/>
                </a:solidFill>
                <a:latin typeface="Open Sans"/>
              </a:rPr>
              <a:t>2 / 16</a:t>
            </a:r>
          </a:p>
        </p:txBody>
      </p:sp>
      <p:sp>
        <p:nvSpPr>
          <p:cNvPr id="4" name="TextBox 3"/>
          <p:cNvSpPr txBox="1"/>
          <p:nvPr/>
        </p:nvSpPr>
        <p:spPr>
          <a:xfrm>
            <a:off x="548640" y="5943600"/>
            <a:ext cx="9052560" cy="365760"/>
          </a:xfrm>
          <a:prstGeom prst="rect">
            <a:avLst/>
          </a:prstGeom>
          <a:noFill/>
        </p:spPr>
        <p:txBody>
          <a:bodyPr wrap="square" lIns="0" rIns="0" tIns="0" bIns="0" anchor="t"/>
          <a:lstStyle/>
          <a:p>
            <a:pPr algn="l"/>
            <a:r>
              <a:rPr sz="900" b="0" i="1">
                <a:solidFill>
                  <a:srgbClr val="8C8C8C"/>
                </a:solidFill>
                <a:latin typeface="Open Sans"/>
              </a:rPr>
              <a:t>Источники: U.S. Geological Survey, Mineral Commodity Summaries 2026; Benchmark Mineral Intelligence</a:t>
            </a:r>
          </a:p>
        </p:txBody>
      </p:sp>
      <p:sp>
        <p:nvSpPr>
          <p:cNvPr id="5" name="TextBox 4"/>
          <p:cNvSpPr txBox="1"/>
          <p:nvPr/>
        </p:nvSpPr>
        <p:spPr>
          <a:xfrm>
            <a:off x="548640" y="2011680"/>
            <a:ext cx="3931920" cy="502920"/>
          </a:xfrm>
          <a:prstGeom prst="rect">
            <a:avLst/>
          </a:prstGeom>
          <a:noFill/>
        </p:spPr>
        <p:txBody>
          <a:bodyPr wrap="square" lIns="0" rIns="0" tIns="0" bIns="0" anchor="b"/>
          <a:lstStyle/>
          <a:p>
            <a:pPr algn="l"/>
            <a:r>
              <a:rPr sz="2800" b="1" i="0">
                <a:solidFill>
                  <a:srgbClr val="C00000"/>
                </a:solidFill>
                <a:latin typeface="Open Sans"/>
              </a:rPr>
              <a:t>88 %</a:t>
            </a:r>
          </a:p>
        </p:txBody>
      </p:sp>
      <p:sp>
        <p:nvSpPr>
          <p:cNvPr id="6" name="TextBox 5"/>
          <p:cNvSpPr txBox="1"/>
          <p:nvPr/>
        </p:nvSpPr>
        <p:spPr>
          <a:xfrm>
            <a:off x="548640" y="2578608"/>
            <a:ext cx="3931920" cy="640080"/>
          </a:xfrm>
          <a:prstGeom prst="rect">
            <a:avLst/>
          </a:prstGeom>
          <a:noFill/>
        </p:spPr>
        <p:txBody>
          <a:bodyPr wrap="square" lIns="0" rIns="0" tIns="0" bIns="0" anchor="t"/>
          <a:lstStyle/>
          <a:p>
            <a:pPr algn="l"/>
            <a:r>
              <a:rPr sz="1200" b="0" i="0">
                <a:solidFill>
                  <a:srgbClr val="595959"/>
                </a:solidFill>
                <a:latin typeface="Open Sans"/>
              </a:rPr>
              <a:t>доля аккумуляторов в мировом потреблении лития, 2025 г.</a:t>
            </a:r>
          </a:p>
        </p:txBody>
      </p:sp>
      <p:sp>
        <p:nvSpPr>
          <p:cNvPr id="7" name="TextBox 6"/>
          <p:cNvSpPr txBox="1"/>
          <p:nvPr/>
        </p:nvSpPr>
        <p:spPr>
          <a:xfrm>
            <a:off x="548640" y="3273552"/>
            <a:ext cx="3931920" cy="502920"/>
          </a:xfrm>
          <a:prstGeom prst="rect">
            <a:avLst/>
          </a:prstGeom>
          <a:noFill/>
        </p:spPr>
        <p:txBody>
          <a:bodyPr wrap="square" lIns="0" rIns="0" tIns="0" bIns="0" anchor="b"/>
          <a:lstStyle/>
          <a:p>
            <a:pPr algn="l"/>
            <a:r>
              <a:rPr sz="2800" b="1" i="0">
                <a:solidFill>
                  <a:srgbClr val="C00000"/>
                </a:solidFill>
                <a:latin typeface="Open Sans"/>
              </a:rPr>
              <a:t>290 тыс. т</a:t>
            </a:r>
          </a:p>
        </p:txBody>
      </p:sp>
      <p:sp>
        <p:nvSpPr>
          <p:cNvPr id="8" name="TextBox 7"/>
          <p:cNvSpPr txBox="1"/>
          <p:nvPr/>
        </p:nvSpPr>
        <p:spPr>
          <a:xfrm>
            <a:off x="548640" y="3840480"/>
            <a:ext cx="3931920" cy="640080"/>
          </a:xfrm>
          <a:prstGeom prst="rect">
            <a:avLst/>
          </a:prstGeom>
          <a:noFill/>
        </p:spPr>
        <p:txBody>
          <a:bodyPr wrap="square" lIns="0" rIns="0" tIns="0" bIns="0" anchor="t"/>
          <a:lstStyle/>
          <a:p>
            <a:pPr algn="l"/>
            <a:r>
              <a:rPr sz="1200" b="0" i="0">
                <a:solidFill>
                  <a:srgbClr val="595959"/>
                </a:solidFill>
                <a:latin typeface="Open Sans"/>
              </a:rPr>
              <a:t>мировая добыча лития в 2025 г. (+31 % к 2024 г.)</a:t>
            </a:r>
          </a:p>
        </p:txBody>
      </p:sp>
      <p:sp>
        <p:nvSpPr>
          <p:cNvPr id="9" name="TextBox 8"/>
          <p:cNvSpPr txBox="1"/>
          <p:nvPr/>
        </p:nvSpPr>
        <p:spPr>
          <a:xfrm>
            <a:off x="548640" y="4535424"/>
            <a:ext cx="3931920" cy="502920"/>
          </a:xfrm>
          <a:prstGeom prst="rect">
            <a:avLst/>
          </a:prstGeom>
          <a:noFill/>
        </p:spPr>
        <p:txBody>
          <a:bodyPr wrap="square" lIns="0" rIns="0" tIns="0" bIns="0" anchor="b"/>
          <a:lstStyle/>
          <a:p>
            <a:pPr algn="l"/>
            <a:r>
              <a:rPr sz="2800" b="1" i="0">
                <a:solidFill>
                  <a:srgbClr val="C00000"/>
                </a:solidFill>
                <a:latin typeface="Open Sans"/>
              </a:rPr>
              <a:t>до 9 тыс. т/год</a:t>
            </a:r>
          </a:p>
        </p:txBody>
      </p:sp>
      <p:sp>
        <p:nvSpPr>
          <p:cNvPr id="10" name="TextBox 9"/>
          <p:cNvSpPr txBox="1"/>
          <p:nvPr/>
        </p:nvSpPr>
        <p:spPr>
          <a:xfrm>
            <a:off x="548640" y="5102352"/>
            <a:ext cx="3931920" cy="640080"/>
          </a:xfrm>
          <a:prstGeom prst="rect">
            <a:avLst/>
          </a:prstGeom>
          <a:noFill/>
        </p:spPr>
        <p:txBody>
          <a:bodyPr wrap="square" lIns="0" rIns="0" tIns="0" bIns="0" anchor="t"/>
          <a:lstStyle/>
          <a:p>
            <a:pPr algn="l"/>
            <a:r>
              <a:rPr sz="1200" b="0" i="0">
                <a:solidFill>
                  <a:srgbClr val="595959"/>
                </a:solidFill>
                <a:latin typeface="Open Sans"/>
              </a:rPr>
              <a:t>импорт Li</a:t>
            </a:r>
            <a:r>
              <a:rPr sz="1200" b="0" i="0" baseline="-25000">
                <a:solidFill>
                  <a:srgbClr val="595959"/>
                </a:solidFill>
                <a:latin typeface="Open Sans"/>
              </a:rPr>
              <a:t>2</a:t>
            </a:r>
            <a:r>
              <a:rPr sz="1200" b="0" i="0">
                <a:solidFill>
                  <a:srgbClr val="595959"/>
                </a:solidFill>
                <a:latin typeface="Open Sans"/>
              </a:rPr>
              <a:t>CO</a:t>
            </a:r>
            <a:r>
              <a:rPr sz="1200" b="0" i="0" baseline="-25000">
                <a:solidFill>
                  <a:srgbClr val="595959"/>
                </a:solidFill>
                <a:latin typeface="Open Sans"/>
              </a:rPr>
              <a:t>3</a:t>
            </a:r>
            <a:r>
              <a:rPr sz="1200" b="0" i="0">
                <a:solidFill>
                  <a:srgbClr val="595959"/>
                </a:solidFill>
                <a:latin typeface="Open Sans"/>
              </a:rPr>
              <a:t> в Россию; поставки из Чили и Аргентины прекращены</a:t>
            </a:r>
          </a:p>
        </p:txBody>
      </p:sp>
      <p:sp>
        <p:nvSpPr>
          <p:cNvPr id="11" name="TextBox 10"/>
          <p:cNvSpPr txBox="1"/>
          <p:nvPr/>
        </p:nvSpPr>
        <p:spPr>
          <a:xfrm>
            <a:off x="4937760" y="2011680"/>
            <a:ext cx="6675120" cy="320040"/>
          </a:xfrm>
          <a:prstGeom prst="rect">
            <a:avLst/>
          </a:prstGeom>
          <a:noFill/>
        </p:spPr>
        <p:txBody>
          <a:bodyPr wrap="square" lIns="0" rIns="0" tIns="0" bIns="0" anchor="t"/>
          <a:lstStyle/>
          <a:p>
            <a:pPr algn="l"/>
            <a:r>
              <a:rPr sz="1400" b="1" i="0">
                <a:solidFill>
                  <a:srgbClr val="262626"/>
                </a:solidFill>
                <a:latin typeface="Open Sans"/>
              </a:rPr>
              <a:t>Среднегодовая цена Li</a:t>
            </a:r>
            <a:r>
              <a:rPr sz="1400" b="1" i="0" baseline="-25000">
                <a:solidFill>
                  <a:srgbClr val="262626"/>
                </a:solidFill>
                <a:latin typeface="Open Sans"/>
              </a:rPr>
              <a:t>2</a:t>
            </a:r>
            <a:r>
              <a:rPr sz="1400" b="1" i="0">
                <a:solidFill>
                  <a:srgbClr val="262626"/>
                </a:solidFill>
                <a:latin typeface="Open Sans"/>
              </a:rPr>
              <a:t>CO</a:t>
            </a:r>
            <a:r>
              <a:rPr sz="1400" b="1" i="0" baseline="-25000">
                <a:solidFill>
                  <a:srgbClr val="262626"/>
                </a:solidFill>
                <a:latin typeface="Open Sans"/>
              </a:rPr>
              <a:t>3</a:t>
            </a:r>
            <a:r>
              <a:rPr sz="1400" b="1" i="0">
                <a:solidFill>
                  <a:srgbClr val="262626"/>
                </a:solidFill>
                <a:latin typeface="Open Sans"/>
              </a:rPr>
              <a:t> аккумуляторного качества, тыс. долл./т</a:t>
            </a:r>
          </a:p>
        </p:txBody>
      </p:sp>
      <p:graphicFrame>
        <p:nvGraphicFramePr>
          <p:cNvPr id="12" name="Chart 11"/>
          <p:cNvGraphicFramePr>
            <a:graphicFrameLocks noGrp="1"/>
          </p:cNvGraphicFramePr>
          <p:nvPr/>
        </p:nvGraphicFramePr>
        <p:xfrm>
          <a:off x="4846320" y="2377440"/>
          <a:ext cx="6766560" cy="3429000"/>
        </p:xfrm>
        <a:graphic>
          <a:graphicData uri="http://schemas.openxmlformats.org/drawingml/2006/chart">
            <c:chart xmlns:c="http://schemas.openxmlformats.org/drawingml/2006/chart" r:id="rId3"/>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61872"/>
            <a:ext cx="11091672" cy="640080"/>
          </a:xfrm>
          <a:prstGeom prst="rect">
            <a:avLst/>
          </a:prstGeom>
          <a:noFill/>
        </p:spPr>
        <p:txBody>
          <a:bodyPr wrap="square" lIns="0" rIns="0" tIns="0" bIns="0" anchor="t"/>
          <a:lstStyle/>
          <a:p>
            <a:pPr algn="l"/>
            <a:r>
              <a:rPr sz="2400" b="1" i="0">
                <a:solidFill>
                  <a:srgbClr val="C00000"/>
                </a:solidFill>
                <a:latin typeface="Open Sans"/>
              </a:rPr>
              <a:t>Попутные воды: готовая инфраструктура, но мало лития</a:t>
            </a:r>
          </a:p>
        </p:txBody>
      </p:sp>
      <p:sp>
        <p:nvSpPr>
          <p:cNvPr id="3" name="TextBox 2"/>
          <p:cNvSpPr txBox="1"/>
          <p:nvPr/>
        </p:nvSpPr>
        <p:spPr>
          <a:xfrm>
            <a:off x="548640" y="6382512"/>
            <a:ext cx="1371600" cy="228600"/>
          </a:xfrm>
          <a:prstGeom prst="rect">
            <a:avLst/>
          </a:prstGeom>
          <a:noFill/>
        </p:spPr>
        <p:txBody>
          <a:bodyPr wrap="square" lIns="0" rIns="0" tIns="0" bIns="0" anchor="t"/>
          <a:lstStyle/>
          <a:p>
            <a:pPr algn="l"/>
            <a:r>
              <a:rPr sz="1000" b="0" i="0">
                <a:solidFill>
                  <a:srgbClr val="8C8C8C"/>
                </a:solidFill>
                <a:latin typeface="Open Sans"/>
              </a:rPr>
              <a:t>3 / 16</a:t>
            </a:r>
          </a:p>
        </p:txBody>
      </p:sp>
      <p:sp>
        <p:nvSpPr>
          <p:cNvPr id="4" name="TextBox 3"/>
          <p:cNvSpPr txBox="1"/>
          <p:nvPr/>
        </p:nvSpPr>
        <p:spPr>
          <a:xfrm>
            <a:off x="548640" y="5943600"/>
            <a:ext cx="9052560" cy="365760"/>
          </a:xfrm>
          <a:prstGeom prst="rect">
            <a:avLst/>
          </a:prstGeom>
          <a:noFill/>
        </p:spPr>
        <p:txBody>
          <a:bodyPr wrap="square" lIns="0" rIns="0" tIns="0" bIns="0" anchor="t"/>
          <a:lstStyle/>
          <a:p>
            <a:pPr algn="l"/>
            <a:r>
              <a:rPr sz="900" b="0" i="1">
                <a:solidFill>
                  <a:srgbClr val="8C8C8C"/>
                </a:solidFill>
                <a:latin typeface="Open Sans"/>
              </a:rPr>
              <a:t>Knapik et al., 2023; Farahbakhsh et al., 2024; Болдырев и др., 2025; Савиновский, Касперович, 2024</a:t>
            </a:r>
          </a:p>
        </p:txBody>
      </p:sp>
      <p:sp>
        <p:nvSpPr>
          <p:cNvPr id="5" name="Rectangle 4"/>
          <p:cNvSpPr/>
          <p:nvPr/>
        </p:nvSpPr>
        <p:spPr>
          <a:xfrm>
            <a:off x="548640" y="2011680"/>
            <a:ext cx="5385816" cy="374903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59" y="2212848"/>
            <a:ext cx="4837176" cy="320040"/>
          </a:xfrm>
          <a:prstGeom prst="rect">
            <a:avLst/>
          </a:prstGeom>
          <a:noFill/>
        </p:spPr>
        <p:txBody>
          <a:bodyPr wrap="square" lIns="0" rIns="0" tIns="0" bIns="0" anchor="t"/>
          <a:lstStyle/>
          <a:p>
            <a:pPr algn="l"/>
            <a:r>
              <a:rPr sz="1800" b="1" i="0">
                <a:solidFill>
                  <a:srgbClr val="C00000"/>
                </a:solidFill>
                <a:latin typeface="Open Sans"/>
              </a:rPr>
              <a:t>Возможности</a:t>
            </a:r>
          </a:p>
        </p:txBody>
      </p:sp>
      <p:sp>
        <p:nvSpPr>
          <p:cNvPr id="7" name="TextBox 6"/>
          <p:cNvSpPr txBox="1"/>
          <p:nvPr/>
        </p:nvSpPr>
        <p:spPr>
          <a:xfrm>
            <a:off x="822959" y="2743200"/>
            <a:ext cx="4837176" cy="2834639"/>
          </a:xfrm>
          <a:prstGeom prst="rect">
            <a:avLst/>
          </a:prstGeom>
          <a:noFill/>
        </p:spPr>
        <p:txBody>
          <a:bodyPr wrap="square" lIns="0" rIns="0" tIns="0" bIns="0" anchor="t"/>
          <a:lstStyle/>
          <a:p>
            <a:pPr algn="l" marL="201168" indent="-201168">
              <a:spcAft>
                <a:spcPts val="900"/>
              </a:spcAft>
              <a:buFont typeface="Arial"/>
              <a:buChar char="•"/>
            </a:pPr>
            <a:r>
              <a:rPr sz="1400" b="0" i="0">
                <a:solidFill>
                  <a:srgbClr val="262626"/>
                </a:solidFill>
                <a:latin typeface="Open Sans"/>
              </a:rPr>
              <a:t>Объем пластовых вод в мире: 25 → 38,6 млрд м³/год (2020 → 2030 гг.)</a:t>
            </a:r>
          </a:p>
          <a:p>
            <a:pPr algn="l" marL="201168" indent="-201168">
              <a:spcAft>
                <a:spcPts val="900"/>
              </a:spcAft>
              <a:buFont typeface="Arial"/>
              <a:buChar char="•"/>
            </a:pPr>
            <a:r>
              <a:rPr sz="1400" b="0" i="0">
                <a:solidFill>
                  <a:srgbClr val="262626"/>
                </a:solidFill>
                <a:latin typeface="Open Sans"/>
              </a:rPr>
              <a:t>Вода уже собирается, подготавливается и закачивается в систему ППД — ниже капитальные затраты</a:t>
            </a:r>
          </a:p>
          <a:p>
            <a:pPr algn="l" marL="201168" indent="-201168">
              <a:spcAft>
                <a:spcPts val="900"/>
              </a:spcAft>
              <a:buFont typeface="Arial"/>
              <a:buChar char="•"/>
            </a:pPr>
            <a:r>
              <a:rPr sz="1400" b="0" i="0">
                <a:solidFill>
                  <a:srgbClr val="262626"/>
                </a:solidFill>
                <a:latin typeface="Open Sans"/>
              </a:rPr>
              <a:t>Около 72 % ресурсов лития в подземных рассолах России — Лено-Тунгусская провинция</a:t>
            </a:r>
          </a:p>
          <a:p>
            <a:pPr algn="l" marL="201168" indent="-201168">
              <a:spcAft>
                <a:spcPts val="900"/>
              </a:spcAft>
              <a:buFont typeface="Arial"/>
              <a:buChar char="•"/>
            </a:pPr>
            <a:r>
              <a:rPr sz="1400" b="0" i="0">
                <a:solidFill>
                  <a:srgbClr val="262626"/>
                </a:solidFill>
                <a:latin typeface="Open Sans"/>
              </a:rPr>
              <a:t>Опытные работы: ИНК, «Газпром», «Роснефть», «Сургутнефтегаз»</a:t>
            </a:r>
          </a:p>
        </p:txBody>
      </p:sp>
      <p:sp>
        <p:nvSpPr>
          <p:cNvPr id="8" name="Rectangle 7"/>
          <p:cNvSpPr/>
          <p:nvPr/>
        </p:nvSpPr>
        <p:spPr>
          <a:xfrm>
            <a:off x="6254496" y="2011680"/>
            <a:ext cx="5385816" cy="374903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28816" y="2212848"/>
            <a:ext cx="4837176" cy="320040"/>
          </a:xfrm>
          <a:prstGeom prst="rect">
            <a:avLst/>
          </a:prstGeom>
          <a:noFill/>
        </p:spPr>
        <p:txBody>
          <a:bodyPr wrap="square" lIns="0" rIns="0" tIns="0" bIns="0" anchor="t"/>
          <a:lstStyle/>
          <a:p>
            <a:pPr algn="l"/>
            <a:r>
              <a:rPr sz="1800" b="1" i="0">
                <a:solidFill>
                  <a:srgbClr val="C00000"/>
                </a:solidFill>
                <a:latin typeface="Open Sans"/>
              </a:rPr>
              <a:t>Ограничения</a:t>
            </a:r>
          </a:p>
        </p:txBody>
      </p:sp>
      <p:sp>
        <p:nvSpPr>
          <p:cNvPr id="10" name="TextBox 9"/>
          <p:cNvSpPr txBox="1"/>
          <p:nvPr/>
        </p:nvSpPr>
        <p:spPr>
          <a:xfrm>
            <a:off x="6528816" y="2743200"/>
            <a:ext cx="4837176" cy="2834639"/>
          </a:xfrm>
          <a:prstGeom prst="rect">
            <a:avLst/>
          </a:prstGeom>
          <a:noFill/>
        </p:spPr>
        <p:txBody>
          <a:bodyPr wrap="square" lIns="0" rIns="0" tIns="0" bIns="0" anchor="t"/>
          <a:lstStyle/>
          <a:p>
            <a:pPr algn="l" marL="201168" indent="-201168">
              <a:spcAft>
                <a:spcPts val="900"/>
              </a:spcAft>
              <a:buFont typeface="Arial"/>
              <a:buChar char="•"/>
            </a:pPr>
            <a:r>
              <a:rPr sz="1400" b="0" i="0">
                <a:solidFill>
                  <a:srgbClr val="262626"/>
                </a:solidFill>
                <a:latin typeface="Open Sans"/>
              </a:rPr>
              <a:t>Li в нефтепромысловых рассолах 28–505 мг/л против 1500–2420 мг/кг в рассолах саларов</a:t>
            </a:r>
          </a:p>
          <a:p>
            <a:pPr algn="l" marL="201168" indent="-201168">
              <a:spcAft>
                <a:spcPts val="900"/>
              </a:spcAft>
              <a:buFont typeface="Arial"/>
              <a:buChar char="•"/>
            </a:pPr>
            <a:r>
              <a:rPr sz="1400" b="0" i="0">
                <a:solidFill>
                  <a:srgbClr val="262626"/>
                </a:solidFill>
                <a:latin typeface="Open Sans"/>
              </a:rPr>
              <a:t>Испарительная технология неприменима — нужны методы прямого извлечения лития (DLE)</a:t>
            </a:r>
          </a:p>
          <a:p>
            <a:pPr algn="l" marL="201168" indent="-201168">
              <a:spcAft>
                <a:spcPts val="900"/>
              </a:spcAft>
              <a:buFont typeface="Arial"/>
              <a:buChar char="•"/>
            </a:pPr>
            <a:r>
              <a:rPr sz="1400" b="0" i="0">
                <a:solidFill>
                  <a:srgbClr val="262626"/>
                </a:solidFill>
                <a:latin typeface="Open Sans"/>
              </a:rPr>
              <a:t>Промышленная готовность — только у сорбции на Al-сорбентах; ионные сита на пилотной стадии</a:t>
            </a:r>
          </a:p>
          <a:p>
            <a:pPr algn="l" marL="201168" indent="-201168">
              <a:spcAft>
                <a:spcPts val="900"/>
              </a:spcAft>
              <a:buFont typeface="Arial"/>
              <a:buChar char="•"/>
            </a:pPr>
            <a:r>
              <a:rPr sz="1400" b="0" i="0">
                <a:solidFill>
                  <a:srgbClr val="262626"/>
                </a:solidFill>
                <a:latin typeface="Open Sans"/>
              </a:rPr>
              <a:t>Большинство экспериментов выполнено на модельных растворах</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61872"/>
            <a:ext cx="11091672" cy="640080"/>
          </a:xfrm>
          <a:prstGeom prst="rect">
            <a:avLst/>
          </a:prstGeom>
          <a:noFill/>
        </p:spPr>
        <p:txBody>
          <a:bodyPr wrap="square" lIns="0" rIns="0" tIns="0" bIns="0" anchor="t"/>
          <a:lstStyle/>
          <a:p>
            <a:pPr algn="l"/>
            <a:r>
              <a:rPr sz="2400" b="1" i="0">
                <a:solidFill>
                  <a:srgbClr val="C00000"/>
                </a:solidFill>
                <a:latin typeface="Open Sans"/>
              </a:rPr>
              <a:t>Цель работы и подход к оценке</a:t>
            </a:r>
          </a:p>
        </p:txBody>
      </p:sp>
      <p:sp>
        <p:nvSpPr>
          <p:cNvPr id="3" name="TextBox 2"/>
          <p:cNvSpPr txBox="1"/>
          <p:nvPr/>
        </p:nvSpPr>
        <p:spPr>
          <a:xfrm>
            <a:off x="548640" y="6382512"/>
            <a:ext cx="1371600" cy="228600"/>
          </a:xfrm>
          <a:prstGeom prst="rect">
            <a:avLst/>
          </a:prstGeom>
          <a:noFill/>
        </p:spPr>
        <p:txBody>
          <a:bodyPr wrap="square" lIns="0" rIns="0" tIns="0" bIns="0" anchor="t"/>
          <a:lstStyle/>
          <a:p>
            <a:pPr algn="l"/>
            <a:r>
              <a:rPr sz="1000" b="0" i="0">
                <a:solidFill>
                  <a:srgbClr val="8C8C8C"/>
                </a:solidFill>
                <a:latin typeface="Open Sans"/>
              </a:rPr>
              <a:t>4 / 16</a:t>
            </a:r>
          </a:p>
        </p:txBody>
      </p:sp>
      <p:sp>
        <p:nvSpPr>
          <p:cNvPr id="4" name="TextBox 3"/>
          <p:cNvSpPr txBox="1"/>
          <p:nvPr/>
        </p:nvSpPr>
        <p:spPr>
          <a:xfrm>
            <a:off x="548640" y="2011680"/>
            <a:ext cx="11091672" cy="868680"/>
          </a:xfrm>
          <a:prstGeom prst="rect">
            <a:avLst/>
          </a:prstGeom>
          <a:noFill/>
        </p:spPr>
        <p:txBody>
          <a:bodyPr wrap="square" lIns="0" rIns="0" tIns="0" bIns="0" anchor="t"/>
          <a:lstStyle/>
          <a:p>
            <a:pPr algn="l"/>
            <a:r>
              <a:rPr sz="1500" b="1" i="0">
                <a:solidFill>
                  <a:srgbClr val="262626"/>
                </a:solidFill>
                <a:latin typeface="Open Sans"/>
              </a:rPr>
              <a:t>Цель:</a:t>
            </a:r>
            <a:r>
              <a:rPr sz="1500" b="0" i="0">
                <a:solidFill>
                  <a:srgbClr val="262626"/>
                </a:solidFill>
                <a:latin typeface="Open Sans"/>
              </a:rPr>
              <a:t> определить, при каких сочетаниях C</a:t>
            </a:r>
            <a:r>
              <a:rPr sz="1500" b="0" i="0" baseline="-25000">
                <a:solidFill>
                  <a:srgbClr val="262626"/>
                </a:solidFill>
                <a:latin typeface="Open Sans"/>
              </a:rPr>
              <a:t>Li</a:t>
            </a:r>
            <a:r>
              <a:rPr sz="1500" b="0" i="0">
                <a:solidFill>
                  <a:srgbClr val="262626"/>
                </a:solidFill>
                <a:latin typeface="Open Sans"/>
              </a:rPr>
              <a:t>, минерализации, Mg/Li, Ca/Li, объема воды и ресурса сорбента схема «предочистка — сорбция — десорбция — осаждение Li</a:t>
            </a:r>
            <a:r>
              <a:rPr sz="1500" b="0" i="0" baseline="-25000">
                <a:solidFill>
                  <a:srgbClr val="262626"/>
                </a:solidFill>
                <a:latin typeface="Open Sans"/>
              </a:rPr>
              <a:t>2</a:t>
            </a:r>
            <a:r>
              <a:rPr sz="1500" b="0" i="0">
                <a:solidFill>
                  <a:srgbClr val="262626"/>
                </a:solidFill>
                <a:latin typeface="Open Sans"/>
              </a:rPr>
              <a:t>CO</a:t>
            </a:r>
            <a:r>
              <a:rPr sz="1500" b="0" i="0" baseline="-25000">
                <a:solidFill>
                  <a:srgbClr val="262626"/>
                </a:solidFill>
                <a:latin typeface="Open Sans"/>
              </a:rPr>
              <a:t>3</a:t>
            </a:r>
            <a:r>
              <a:rPr sz="1500" b="0" i="0">
                <a:solidFill>
                  <a:srgbClr val="262626"/>
                </a:solidFill>
                <a:latin typeface="Open Sans"/>
              </a:rPr>
              <a:t>» технологически устойчива и экономически оправдана для рассолов Восточной Сибири</a:t>
            </a:r>
          </a:p>
        </p:txBody>
      </p:sp>
      <p:sp>
        <p:nvSpPr>
          <p:cNvPr id="5" name="TextBox 4"/>
          <p:cNvSpPr txBox="1"/>
          <p:nvPr/>
        </p:nvSpPr>
        <p:spPr>
          <a:xfrm>
            <a:off x="548640" y="2926080"/>
            <a:ext cx="11091672" cy="640080"/>
          </a:xfrm>
          <a:prstGeom prst="rect">
            <a:avLst/>
          </a:prstGeom>
          <a:noFill/>
        </p:spPr>
        <p:txBody>
          <a:bodyPr wrap="square" lIns="0" rIns="0" tIns="0" bIns="0" anchor="t"/>
          <a:lstStyle/>
          <a:p>
            <a:pPr algn="l"/>
            <a:r>
              <a:rPr sz="1400" b="1" i="0">
                <a:solidFill>
                  <a:srgbClr val="595959"/>
                </a:solidFill>
                <a:latin typeface="Open Sans"/>
              </a:rPr>
              <a:t>Гипотеза:</a:t>
            </a:r>
            <a:r>
              <a:rPr sz="1400" b="0" i="0">
                <a:solidFill>
                  <a:srgbClr val="595959"/>
                </a:solidFill>
                <a:latin typeface="Open Sans"/>
              </a:rPr>
              <a:t> определяющим является не концентрация лития сама по себе, а ее сочетание с объемом воды, содержанием Ca</a:t>
            </a:r>
            <a:r>
              <a:rPr sz="1400" b="0" i="0" baseline="30000">
                <a:solidFill>
                  <a:srgbClr val="595959"/>
                </a:solidFill>
                <a:latin typeface="Open Sans"/>
              </a:rPr>
              <a:t>2+</a:t>
            </a:r>
            <a:r>
              <a:rPr sz="1400" b="0" i="0">
                <a:solidFill>
                  <a:srgbClr val="595959"/>
                </a:solidFill>
                <a:latin typeface="Open Sans"/>
              </a:rPr>
              <a:t> и Mg</a:t>
            </a:r>
            <a:r>
              <a:rPr sz="1400" b="0" i="0" baseline="30000">
                <a:solidFill>
                  <a:srgbClr val="595959"/>
                </a:solidFill>
                <a:latin typeface="Open Sans"/>
              </a:rPr>
              <a:t>2+</a:t>
            </a:r>
            <a:r>
              <a:rPr sz="1400" b="0" i="0">
                <a:solidFill>
                  <a:srgbClr val="595959"/>
                </a:solidFill>
                <a:latin typeface="Open Sans"/>
              </a:rPr>
              <a:t>, расходом реагентов и сроком службы сорбента</a:t>
            </a:r>
          </a:p>
        </p:txBody>
      </p:sp>
      <p:sp>
        <p:nvSpPr>
          <p:cNvPr id="6" name="Rectangle 5"/>
          <p:cNvSpPr/>
          <p:nvPr/>
        </p:nvSpPr>
        <p:spPr>
          <a:xfrm>
            <a:off x="548640" y="3794760"/>
            <a:ext cx="3514344" cy="196595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4023360"/>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4023360"/>
            <a:ext cx="457200" cy="457200"/>
          </a:xfrm>
          <a:prstGeom prst="rect">
            <a:avLst/>
          </a:prstGeom>
          <a:noFill/>
        </p:spPr>
        <p:txBody>
          <a:bodyPr wrap="square" lIns="0" rIns="0" tIns="0" bIns="0" anchor="ctr"/>
          <a:lstStyle/>
          <a:p>
            <a:pPr algn="ctr"/>
            <a:r>
              <a:rPr sz="1600" b="1" i="0">
                <a:solidFill>
                  <a:srgbClr val="FFFFFF"/>
                </a:solidFill>
                <a:latin typeface="Open Sans"/>
              </a:rPr>
              <a:t>1</a:t>
            </a:r>
          </a:p>
        </p:txBody>
      </p:sp>
      <p:sp>
        <p:nvSpPr>
          <p:cNvPr id="9" name="TextBox 8"/>
          <p:cNvSpPr txBox="1"/>
          <p:nvPr/>
        </p:nvSpPr>
        <p:spPr>
          <a:xfrm>
            <a:off x="1371600" y="4023360"/>
            <a:ext cx="2508504" cy="457200"/>
          </a:xfrm>
          <a:prstGeom prst="rect">
            <a:avLst/>
          </a:prstGeom>
          <a:noFill/>
        </p:spPr>
        <p:txBody>
          <a:bodyPr wrap="square" lIns="0" rIns="0" tIns="0" bIns="0" anchor="ctr"/>
          <a:lstStyle/>
          <a:p>
            <a:pPr algn="l"/>
            <a:r>
              <a:rPr sz="1500" b="1" i="0">
                <a:solidFill>
                  <a:srgbClr val="262626"/>
                </a:solidFill>
                <a:latin typeface="Open Sans"/>
              </a:rPr>
              <a:t>Аналитический обзор</a:t>
            </a:r>
          </a:p>
        </p:txBody>
      </p:sp>
      <p:sp>
        <p:nvSpPr>
          <p:cNvPr id="10" name="TextBox 9"/>
          <p:cNvSpPr txBox="1"/>
          <p:nvPr/>
        </p:nvSpPr>
        <p:spPr>
          <a:xfrm>
            <a:off x="777240" y="4663440"/>
            <a:ext cx="3057144" cy="960119"/>
          </a:xfrm>
          <a:prstGeom prst="rect">
            <a:avLst/>
          </a:prstGeom>
          <a:noFill/>
        </p:spPr>
        <p:txBody>
          <a:bodyPr wrap="square" lIns="0" rIns="0" tIns="0" bIns="0" anchor="t"/>
          <a:lstStyle/>
          <a:p>
            <a:pPr algn="l"/>
            <a:r>
              <a:rPr sz="1300" b="0" i="0">
                <a:solidFill>
                  <a:srgbClr val="595959"/>
                </a:solidFill>
                <a:latin typeface="Open Sans"/>
              </a:rPr>
              <a:t>публикации 2019–2026 гг.: состав вод, предочистка, сорбенты в реальных водах, технико-экономические оценки</a:t>
            </a:r>
          </a:p>
        </p:txBody>
      </p:sp>
      <p:sp>
        <p:nvSpPr>
          <p:cNvPr id="11" name="Rectangle 10"/>
          <p:cNvSpPr/>
          <p:nvPr/>
        </p:nvSpPr>
        <p:spPr>
          <a:xfrm>
            <a:off x="4337304" y="3794760"/>
            <a:ext cx="3514344" cy="196595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565904" y="4023360"/>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65904" y="4023360"/>
            <a:ext cx="457200" cy="457200"/>
          </a:xfrm>
          <a:prstGeom prst="rect">
            <a:avLst/>
          </a:prstGeom>
          <a:noFill/>
        </p:spPr>
        <p:txBody>
          <a:bodyPr wrap="square" lIns="0" rIns="0" tIns="0" bIns="0" anchor="ctr"/>
          <a:lstStyle/>
          <a:p>
            <a:pPr algn="ctr"/>
            <a:r>
              <a:rPr sz="1600" b="1" i="0">
                <a:solidFill>
                  <a:srgbClr val="FFFFFF"/>
                </a:solidFill>
                <a:latin typeface="Open Sans"/>
              </a:rPr>
              <a:t>2</a:t>
            </a:r>
          </a:p>
        </p:txBody>
      </p:sp>
      <p:sp>
        <p:nvSpPr>
          <p:cNvPr id="14" name="TextBox 13"/>
          <p:cNvSpPr txBox="1"/>
          <p:nvPr/>
        </p:nvSpPr>
        <p:spPr>
          <a:xfrm>
            <a:off x="5160264" y="4023360"/>
            <a:ext cx="2508504" cy="457200"/>
          </a:xfrm>
          <a:prstGeom prst="rect">
            <a:avLst/>
          </a:prstGeom>
          <a:noFill/>
        </p:spPr>
        <p:txBody>
          <a:bodyPr wrap="square" lIns="0" rIns="0" tIns="0" bIns="0" anchor="ctr"/>
          <a:lstStyle/>
          <a:p>
            <a:pPr algn="l"/>
            <a:r>
              <a:rPr sz="1500" b="1" i="0">
                <a:solidFill>
                  <a:srgbClr val="262626"/>
                </a:solidFill>
                <a:latin typeface="Open Sans"/>
              </a:rPr>
              <a:t>Реагентная нагрузка</a:t>
            </a:r>
          </a:p>
        </p:txBody>
      </p:sp>
      <p:sp>
        <p:nvSpPr>
          <p:cNvPr id="15" name="TextBox 14"/>
          <p:cNvSpPr txBox="1"/>
          <p:nvPr/>
        </p:nvSpPr>
        <p:spPr>
          <a:xfrm>
            <a:off x="4565904" y="4663440"/>
            <a:ext cx="3057144" cy="960119"/>
          </a:xfrm>
          <a:prstGeom prst="rect">
            <a:avLst/>
          </a:prstGeom>
          <a:noFill/>
        </p:spPr>
        <p:txBody>
          <a:bodyPr wrap="square" lIns="0" rIns="0" tIns="0" bIns="0" anchor="t"/>
          <a:lstStyle/>
          <a:p>
            <a:pPr algn="l"/>
            <a:r>
              <a:rPr sz="1300" b="0" i="0">
                <a:solidFill>
                  <a:srgbClr val="595959"/>
                </a:solidFill>
                <a:latin typeface="Open Sans"/>
              </a:rPr>
              <a:t>Mg/Li, Ca/Li и стехиометрия полного умягчения (Na</a:t>
            </a:r>
            <a:r>
              <a:rPr sz="1300" b="0" i="0" baseline="-25000">
                <a:solidFill>
                  <a:srgbClr val="595959"/>
                </a:solidFill>
                <a:latin typeface="Open Sans"/>
              </a:rPr>
              <a:t>2</a:t>
            </a:r>
            <a:r>
              <a:rPr sz="1300" b="0" i="0">
                <a:solidFill>
                  <a:srgbClr val="595959"/>
                </a:solidFill>
                <a:latin typeface="Open Sans"/>
              </a:rPr>
              <a:t>CO</a:t>
            </a:r>
            <a:r>
              <a:rPr sz="1300" b="0" i="0" baseline="-25000">
                <a:solidFill>
                  <a:srgbClr val="595959"/>
                </a:solidFill>
                <a:latin typeface="Open Sans"/>
              </a:rPr>
              <a:t>3</a:t>
            </a:r>
            <a:r>
              <a:rPr sz="1300" b="0" i="0">
                <a:solidFill>
                  <a:srgbClr val="595959"/>
                </a:solidFill>
                <a:latin typeface="Open Sans"/>
              </a:rPr>
              <a:t>, NaOH) против стоимости лития в 1 м</a:t>
            </a:r>
            <a:r>
              <a:rPr sz="1300" b="0" i="0" baseline="30000">
                <a:solidFill>
                  <a:srgbClr val="595959"/>
                </a:solidFill>
                <a:latin typeface="Open Sans"/>
              </a:rPr>
              <a:t>3</a:t>
            </a:r>
          </a:p>
        </p:txBody>
      </p:sp>
      <p:sp>
        <p:nvSpPr>
          <p:cNvPr id="16" name="Rectangle 15"/>
          <p:cNvSpPr/>
          <p:nvPr/>
        </p:nvSpPr>
        <p:spPr>
          <a:xfrm>
            <a:off x="8125968" y="3794760"/>
            <a:ext cx="3514344" cy="196595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54568" y="4023360"/>
            <a:ext cx="457200" cy="45720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354568" y="4023360"/>
            <a:ext cx="457200" cy="457200"/>
          </a:xfrm>
          <a:prstGeom prst="rect">
            <a:avLst/>
          </a:prstGeom>
          <a:noFill/>
        </p:spPr>
        <p:txBody>
          <a:bodyPr wrap="square" lIns="0" rIns="0" tIns="0" bIns="0" anchor="ctr"/>
          <a:lstStyle/>
          <a:p>
            <a:pPr algn="ctr"/>
            <a:r>
              <a:rPr sz="1600" b="1" i="0">
                <a:solidFill>
                  <a:srgbClr val="FFFFFF"/>
                </a:solidFill>
                <a:latin typeface="Open Sans"/>
              </a:rPr>
              <a:t>3</a:t>
            </a:r>
          </a:p>
        </p:txBody>
      </p:sp>
      <p:sp>
        <p:nvSpPr>
          <p:cNvPr id="19" name="TextBox 18"/>
          <p:cNvSpPr txBox="1"/>
          <p:nvPr/>
        </p:nvSpPr>
        <p:spPr>
          <a:xfrm>
            <a:off x="8948928" y="4023360"/>
            <a:ext cx="2508504" cy="457200"/>
          </a:xfrm>
          <a:prstGeom prst="rect">
            <a:avLst/>
          </a:prstGeom>
          <a:noFill/>
        </p:spPr>
        <p:txBody>
          <a:bodyPr wrap="square" lIns="0" rIns="0" tIns="0" bIns="0" anchor="ctr"/>
          <a:lstStyle/>
          <a:p>
            <a:pPr algn="l"/>
            <a:r>
              <a:rPr sz="1500" b="1" i="0">
                <a:solidFill>
                  <a:srgbClr val="262626"/>
                </a:solidFill>
                <a:latin typeface="Open Sans"/>
              </a:rPr>
              <a:t>Баланс и экономика</a:t>
            </a:r>
          </a:p>
        </p:txBody>
      </p:sp>
      <p:sp>
        <p:nvSpPr>
          <p:cNvPr id="20" name="TextBox 19"/>
          <p:cNvSpPr txBox="1"/>
          <p:nvPr/>
        </p:nvSpPr>
        <p:spPr>
          <a:xfrm>
            <a:off x="8354568" y="4663440"/>
            <a:ext cx="3057144" cy="960119"/>
          </a:xfrm>
          <a:prstGeom prst="rect">
            <a:avLst/>
          </a:prstGeom>
          <a:noFill/>
        </p:spPr>
        <p:txBody>
          <a:bodyPr wrap="square" lIns="0" rIns="0" tIns="0" bIns="0" anchor="t"/>
          <a:lstStyle/>
          <a:p>
            <a:pPr algn="l"/>
            <a:r>
              <a:rPr sz="1300" b="0" i="0">
                <a:solidFill>
                  <a:srgbClr val="595959"/>
                </a:solidFill>
                <a:latin typeface="Open Sans"/>
              </a:rPr>
              <a:t>материальный баланс трех сценариев, пороговая концентрация C</a:t>
            </a:r>
            <a:r>
              <a:rPr sz="1300" b="0" i="0" baseline="-25000">
                <a:solidFill>
                  <a:srgbClr val="595959"/>
                </a:solidFill>
                <a:latin typeface="Open Sans"/>
              </a:rPr>
              <a:t>Li</a:t>
            </a:r>
            <a:r>
              <a:rPr sz="1300" b="0" i="0" baseline="30000">
                <a:solidFill>
                  <a:srgbClr val="595959"/>
                </a:solidFill>
                <a:latin typeface="Open Sans"/>
              </a:rPr>
              <a:t>*</a:t>
            </a:r>
            <a:r>
              <a:rPr sz="1300" b="0" i="0">
                <a:solidFill>
                  <a:srgbClr val="595959"/>
                </a:solidFill>
                <a:latin typeface="Open Sans"/>
              </a:rPr>
              <a:t>, чувствительность ±30 %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61872"/>
            <a:ext cx="11091672" cy="640080"/>
          </a:xfrm>
          <a:prstGeom prst="rect">
            <a:avLst/>
          </a:prstGeom>
          <a:noFill/>
        </p:spPr>
        <p:txBody>
          <a:bodyPr wrap="square" lIns="0" rIns="0" tIns="0" bIns="0" anchor="t"/>
          <a:lstStyle/>
          <a:p>
            <a:pPr algn="l"/>
            <a:r>
              <a:rPr sz="2400" b="1" i="0">
                <a:solidFill>
                  <a:srgbClr val="C00000"/>
                </a:solidFill>
                <a:latin typeface="Open Sans"/>
              </a:rPr>
              <a:t>Модель пороговой концентрации лития</a:t>
            </a:r>
          </a:p>
        </p:txBody>
      </p:sp>
      <p:sp>
        <p:nvSpPr>
          <p:cNvPr id="3" name="TextBox 2"/>
          <p:cNvSpPr txBox="1"/>
          <p:nvPr/>
        </p:nvSpPr>
        <p:spPr>
          <a:xfrm>
            <a:off x="548640" y="6382512"/>
            <a:ext cx="1371600" cy="228600"/>
          </a:xfrm>
          <a:prstGeom prst="rect">
            <a:avLst/>
          </a:prstGeom>
          <a:noFill/>
        </p:spPr>
        <p:txBody>
          <a:bodyPr wrap="square" lIns="0" rIns="0" tIns="0" bIns="0" anchor="t"/>
          <a:lstStyle/>
          <a:p>
            <a:pPr algn="l"/>
            <a:r>
              <a:rPr sz="1000" b="0" i="0">
                <a:solidFill>
                  <a:srgbClr val="8C8C8C"/>
                </a:solidFill>
                <a:latin typeface="Open Sans"/>
              </a:rPr>
              <a:t>5 / 16</a:t>
            </a:r>
          </a:p>
        </p:txBody>
      </p:sp>
      <p:sp>
        <p:nvSpPr>
          <p:cNvPr id="4" name="Rectangle 3"/>
          <p:cNvSpPr/>
          <p:nvPr/>
        </p:nvSpPr>
        <p:spPr>
          <a:xfrm>
            <a:off x="548640" y="2011680"/>
            <a:ext cx="5669280" cy="374903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59" y="2194560"/>
            <a:ext cx="5120640" cy="320040"/>
          </a:xfrm>
          <a:prstGeom prst="rect">
            <a:avLst/>
          </a:prstGeom>
          <a:noFill/>
        </p:spPr>
        <p:txBody>
          <a:bodyPr wrap="square" lIns="0" rIns="0" tIns="0" bIns="0" anchor="t"/>
          <a:lstStyle/>
          <a:p>
            <a:pPr algn="l"/>
            <a:r>
              <a:rPr sz="1500" b="1" i="0">
                <a:solidFill>
                  <a:srgbClr val="C00000"/>
                </a:solidFill>
                <a:latin typeface="Open Sans"/>
              </a:rPr>
              <a:t>Условие безубыточности</a:t>
            </a:r>
          </a:p>
        </p:txBody>
      </p:sp>
      <p:sp>
        <p:nvSpPr>
          <p:cNvPr id="6" name="TextBox 5"/>
          <p:cNvSpPr txBox="1"/>
          <p:nvPr/>
        </p:nvSpPr>
        <p:spPr>
          <a:xfrm>
            <a:off x="822959" y="2743200"/>
            <a:ext cx="5303520" cy="457200"/>
          </a:xfrm>
          <a:prstGeom prst="rect">
            <a:avLst/>
          </a:prstGeom>
          <a:noFill/>
        </p:spPr>
        <p:txBody>
          <a:bodyPr wrap="square" lIns="0" rIns="0" tIns="0" bIns="0" anchor="t"/>
          <a:lstStyle/>
          <a:p>
            <a:pPr algn="l"/>
            <a:r>
              <a:rPr sz="2200" b="0" i="0">
                <a:solidFill>
                  <a:srgbClr val="262626"/>
                </a:solidFill>
                <a:latin typeface="Open Sans"/>
              </a:rPr>
              <a:t>C</a:t>
            </a:r>
            <a:r>
              <a:rPr sz="2200" b="0" i="0" baseline="-25000">
                <a:solidFill>
                  <a:srgbClr val="262626"/>
                </a:solidFill>
                <a:latin typeface="Open Sans"/>
              </a:rPr>
              <a:t>Li</a:t>
            </a:r>
            <a:r>
              <a:rPr sz="2200" b="0" i="0" baseline="30000">
                <a:solidFill>
                  <a:srgbClr val="262626"/>
                </a:solidFill>
                <a:latin typeface="Open Sans"/>
              </a:rPr>
              <a:t>*</a:t>
            </a:r>
            <a:r>
              <a:rPr sz="2200" b="0" i="0">
                <a:solidFill>
                  <a:srgbClr val="262626"/>
                </a:solidFill>
                <a:latin typeface="Open Sans"/>
              </a:rPr>
              <a:t> =  c</a:t>
            </a:r>
            <a:r>
              <a:rPr sz="2200" b="0" i="0" baseline="-25000">
                <a:solidFill>
                  <a:srgbClr val="262626"/>
                </a:solidFill>
                <a:latin typeface="Open Sans"/>
              </a:rPr>
              <a:t>V</a:t>
            </a:r>
            <a:r>
              <a:rPr sz="2200" b="0" i="0">
                <a:solidFill>
                  <a:srgbClr val="262626"/>
                </a:solidFill>
                <a:latin typeface="Open Sans"/>
              </a:rPr>
              <a:t> + CRF·K(Q)/Q</a:t>
            </a:r>
          </a:p>
        </p:txBody>
      </p:sp>
      <p:cxnSp>
        <p:nvCxnSpPr>
          <p:cNvPr id="7" name="Connector 6"/>
          <p:cNvCxnSpPr/>
          <p:nvPr/>
        </p:nvCxnSpPr>
        <p:spPr>
          <a:xfrm>
            <a:off x="1874519" y="3310128"/>
            <a:ext cx="3429001" cy="0"/>
          </a:xfrm>
          <a:prstGeom prst="line">
            <a:avLst/>
          </a:prstGeom>
          <a:ln w="15875">
            <a:solidFill>
              <a:srgbClr val="26262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011680" y="3383280"/>
            <a:ext cx="4023360" cy="457200"/>
          </a:xfrm>
          <a:prstGeom prst="rect">
            <a:avLst/>
          </a:prstGeom>
          <a:noFill/>
        </p:spPr>
        <p:txBody>
          <a:bodyPr wrap="square" lIns="0" rIns="0" tIns="0" bIns="0" anchor="t"/>
          <a:lstStyle/>
          <a:p>
            <a:pPr algn="l"/>
            <a:r>
              <a:rPr sz="2200" b="0" i="0">
                <a:solidFill>
                  <a:srgbClr val="262626"/>
                </a:solidFill>
                <a:latin typeface="Open Sans"/>
              </a:rPr>
              <a:t>k·η·(P − c</a:t>
            </a:r>
            <a:r>
              <a:rPr sz="2200" b="0" i="0" baseline="-25000">
                <a:solidFill>
                  <a:srgbClr val="262626"/>
                </a:solidFill>
                <a:latin typeface="Open Sans"/>
              </a:rPr>
              <a:t>R</a:t>
            </a:r>
            <a:r>
              <a:rPr sz="2200" b="0" i="0">
                <a:solidFill>
                  <a:srgbClr val="262626"/>
                </a:solidFill>
                <a:latin typeface="Open Sans"/>
              </a:rPr>
              <a:t> − c</a:t>
            </a:r>
            <a:r>
              <a:rPr sz="2200" b="0" i="0" baseline="-25000">
                <a:solidFill>
                  <a:srgbClr val="262626"/>
                </a:solidFill>
                <a:latin typeface="Open Sans"/>
              </a:rPr>
              <a:t>S</a:t>
            </a:r>
            <a:r>
              <a:rPr sz="2200" b="0" i="0">
                <a:solidFill>
                  <a:srgbClr val="262626"/>
                </a:solidFill>
                <a:latin typeface="Open Sans"/>
              </a:rPr>
              <a:t>)</a:t>
            </a:r>
          </a:p>
        </p:txBody>
      </p:sp>
      <p:sp>
        <p:nvSpPr>
          <p:cNvPr id="9" name="TextBox 8"/>
          <p:cNvSpPr txBox="1"/>
          <p:nvPr/>
        </p:nvSpPr>
        <p:spPr>
          <a:xfrm>
            <a:off x="822959" y="4114800"/>
            <a:ext cx="5212080" cy="1097280"/>
          </a:xfrm>
          <a:prstGeom prst="rect">
            <a:avLst/>
          </a:prstGeom>
          <a:noFill/>
        </p:spPr>
        <p:txBody>
          <a:bodyPr wrap="square" lIns="0" rIns="0" tIns="0" bIns="0" anchor="t"/>
          <a:lstStyle/>
          <a:p>
            <a:pPr algn="l">
              <a:spcAft>
                <a:spcPts val="500"/>
              </a:spcAft>
            </a:pPr>
            <a:r>
              <a:rPr sz="1300" b="0" i="0">
                <a:solidFill>
                  <a:srgbClr val="595959"/>
                </a:solidFill>
                <a:latin typeface="Open Sans"/>
              </a:rPr>
              <a:t>c</a:t>
            </a:r>
            <a:r>
              <a:rPr sz="1300" b="0" i="0" baseline="-25000">
                <a:solidFill>
                  <a:srgbClr val="595959"/>
                </a:solidFill>
                <a:latin typeface="Open Sans"/>
              </a:rPr>
              <a:t>S</a:t>
            </a:r>
            <a:r>
              <a:rPr sz="1300" b="0" i="0">
                <a:solidFill>
                  <a:srgbClr val="595959"/>
                </a:solidFill>
                <a:latin typeface="Open Sans"/>
              </a:rPr>
              <a:t> = S·m</a:t>
            </a:r>
            <a:r>
              <a:rPr sz="1300" b="0" i="0" baseline="-25000">
                <a:solidFill>
                  <a:srgbClr val="595959"/>
                </a:solidFill>
                <a:latin typeface="Open Sans"/>
              </a:rPr>
              <a:t>Li,load</a:t>
            </a:r>
            <a:r>
              <a:rPr sz="1300" b="0" i="0">
                <a:solidFill>
                  <a:srgbClr val="595959"/>
                </a:solidFill>
                <a:latin typeface="Open Sans"/>
              </a:rPr>
              <a:t> / (q·N) — замена сорбента</a:t>
            </a:r>
          </a:p>
          <a:p>
            <a:pPr algn="l">
              <a:spcAft>
                <a:spcPts val="500"/>
              </a:spcAft>
            </a:pPr>
            <a:r>
              <a:rPr sz="1300" b="0" i="0">
                <a:solidFill>
                  <a:srgbClr val="595959"/>
                </a:solidFill>
                <a:latin typeface="Open Sans"/>
              </a:rPr>
              <a:t>η = η</a:t>
            </a:r>
            <a:r>
              <a:rPr sz="1300" b="0" i="0" baseline="-25000">
                <a:solidFill>
                  <a:srgbClr val="595959"/>
                </a:solidFill>
                <a:latin typeface="Open Sans"/>
              </a:rPr>
              <a:t>pre</a:t>
            </a:r>
            <a:r>
              <a:rPr sz="1300" b="0" i="0">
                <a:solidFill>
                  <a:srgbClr val="595959"/>
                </a:solidFill>
                <a:latin typeface="Open Sans"/>
              </a:rPr>
              <a:t>·η</a:t>
            </a:r>
            <a:r>
              <a:rPr sz="1300" b="0" i="0" baseline="-25000">
                <a:solidFill>
                  <a:srgbClr val="595959"/>
                </a:solidFill>
                <a:latin typeface="Open Sans"/>
              </a:rPr>
              <a:t>sorp</a:t>
            </a:r>
            <a:r>
              <a:rPr sz="1300" b="0" i="0">
                <a:solidFill>
                  <a:srgbClr val="595959"/>
                </a:solidFill>
                <a:latin typeface="Open Sans"/>
              </a:rPr>
              <a:t>·η</a:t>
            </a:r>
            <a:r>
              <a:rPr sz="1300" b="0" i="0" baseline="-25000">
                <a:solidFill>
                  <a:srgbClr val="595959"/>
                </a:solidFill>
                <a:latin typeface="Open Sans"/>
              </a:rPr>
              <a:t>des</a:t>
            </a:r>
            <a:r>
              <a:rPr sz="1300" b="0" i="0">
                <a:solidFill>
                  <a:srgbClr val="595959"/>
                </a:solidFill>
                <a:latin typeface="Open Sans"/>
              </a:rPr>
              <a:t>·η</a:t>
            </a:r>
            <a:r>
              <a:rPr sz="1300" b="0" i="0" baseline="-25000">
                <a:solidFill>
                  <a:srgbClr val="595959"/>
                </a:solidFill>
                <a:latin typeface="Open Sans"/>
              </a:rPr>
              <a:t>pr</a:t>
            </a:r>
            <a:r>
              <a:rPr sz="1300" b="0" i="0">
                <a:solidFill>
                  <a:srgbClr val="595959"/>
                </a:solidFill>
                <a:latin typeface="Open Sans"/>
              </a:rPr>
              <a:t> — сквозное извлечение</a:t>
            </a:r>
          </a:p>
          <a:p>
            <a:pPr algn="l">
              <a:spcAft>
                <a:spcPts val="500"/>
              </a:spcAft>
            </a:pPr>
            <a:r>
              <a:rPr sz="1300" b="0" i="0">
                <a:solidFill>
                  <a:srgbClr val="595959"/>
                </a:solidFill>
                <a:latin typeface="Open Sans"/>
              </a:rPr>
              <a:t>K(Q) = K</a:t>
            </a:r>
            <a:r>
              <a:rPr sz="1300" b="0" i="0" baseline="-25000">
                <a:solidFill>
                  <a:srgbClr val="595959"/>
                </a:solidFill>
                <a:latin typeface="Open Sans"/>
              </a:rPr>
              <a:t>0</a:t>
            </a:r>
            <a:r>
              <a:rPr sz="1300" b="0" i="0">
                <a:solidFill>
                  <a:srgbClr val="595959"/>
                </a:solidFill>
                <a:latin typeface="Open Sans"/>
              </a:rPr>
              <a:t>(Q/Q</a:t>
            </a:r>
            <a:r>
              <a:rPr sz="1300" b="0" i="0" baseline="-25000">
                <a:solidFill>
                  <a:srgbClr val="595959"/>
                </a:solidFill>
                <a:latin typeface="Open Sans"/>
              </a:rPr>
              <a:t>0</a:t>
            </a:r>
            <a:r>
              <a:rPr sz="1300" b="0" i="0">
                <a:solidFill>
                  <a:srgbClr val="595959"/>
                </a:solidFill>
                <a:latin typeface="Open Sans"/>
              </a:rPr>
              <a:t>)</a:t>
            </a:r>
            <a:r>
              <a:rPr sz="1300" b="0" i="0" baseline="30000">
                <a:solidFill>
                  <a:srgbClr val="595959"/>
                </a:solidFill>
                <a:latin typeface="Open Sans"/>
              </a:rPr>
              <a:t>0,6</a:t>
            </a:r>
            <a:r>
              <a:rPr sz="1300" b="0" i="0">
                <a:solidFill>
                  <a:srgbClr val="595959"/>
                </a:solidFill>
                <a:latin typeface="Open Sans"/>
              </a:rPr>
              <a:t> — капитальные затраты</a:t>
            </a:r>
          </a:p>
        </p:txBody>
      </p:sp>
      <p:sp>
        <p:nvSpPr>
          <p:cNvPr id="10" name="TextBox 9"/>
          <p:cNvSpPr txBox="1"/>
          <p:nvPr/>
        </p:nvSpPr>
        <p:spPr>
          <a:xfrm>
            <a:off x="822959" y="5303520"/>
            <a:ext cx="5212080" cy="320040"/>
          </a:xfrm>
          <a:prstGeom prst="rect">
            <a:avLst/>
          </a:prstGeom>
          <a:noFill/>
        </p:spPr>
        <p:txBody>
          <a:bodyPr wrap="square" lIns="0" rIns="0" tIns="0" bIns="0" anchor="t"/>
          <a:lstStyle/>
          <a:p>
            <a:pPr algn="l"/>
            <a:r>
              <a:rPr sz="1300" b="1" i="0">
                <a:solidFill>
                  <a:srgbClr val="262626"/>
                </a:solidFill>
                <a:latin typeface="Open Sans"/>
              </a:rPr>
              <a:t>Чувствительность: каждый параметр ±30 %</a:t>
            </a:r>
          </a:p>
        </p:txBody>
      </p:sp>
      <p:sp>
        <p:nvSpPr>
          <p:cNvPr id="11" name="TextBox 10"/>
          <p:cNvSpPr txBox="1"/>
          <p:nvPr/>
        </p:nvSpPr>
        <p:spPr>
          <a:xfrm>
            <a:off x="6492240" y="2011680"/>
            <a:ext cx="5120640" cy="320040"/>
          </a:xfrm>
          <a:prstGeom prst="rect">
            <a:avLst/>
          </a:prstGeom>
          <a:noFill/>
        </p:spPr>
        <p:txBody>
          <a:bodyPr wrap="square" lIns="0" rIns="0" tIns="0" bIns="0" anchor="t"/>
          <a:lstStyle/>
          <a:p>
            <a:pPr algn="l"/>
            <a:r>
              <a:rPr sz="1400" b="1" i="0">
                <a:solidFill>
                  <a:srgbClr val="262626"/>
                </a:solidFill>
                <a:latin typeface="Open Sans"/>
              </a:rPr>
              <a:t>Расчетные допущения базового сценария</a:t>
            </a:r>
          </a:p>
        </p:txBody>
      </p:sp>
      <p:graphicFrame>
        <p:nvGraphicFramePr>
          <p:cNvPr id="12" name="Table 11"/>
          <p:cNvGraphicFramePr>
            <a:graphicFrameLocks noGrp="1"/>
          </p:cNvGraphicFramePr>
          <p:nvPr/>
        </p:nvGraphicFramePr>
        <p:xfrm>
          <a:off x="6492240" y="2423160"/>
          <a:ext cx="5148071" cy="3291840"/>
        </p:xfrm>
        <a:graphic>
          <a:graphicData uri="http://schemas.openxmlformats.org/drawingml/2006/table">
            <a:tbl>
              <a:tblPr>
                <a:tableStyleId>{5C22544A-7EE6-4342-B048-85BDC9FD1C3A}</a:tableStyleId>
              </a:tblPr>
              <a:tblGrid>
                <a:gridCol w="3291840"/>
                <a:gridCol w="1856231"/>
              </a:tblGrid>
              <a:tr h="365760">
                <a:tc>
                  <a:txBody>
                    <a:bodyPr wrap="square"/>
                    <a:lstStyle/>
                    <a:p>
                      <a:pPr algn="ctr"/>
                      <a:r>
                        <a:rPr sz="1200" b="1" i="0">
                          <a:solidFill>
                            <a:srgbClr val="262626"/>
                          </a:solidFill>
                          <a:latin typeface="Open Sans"/>
                        </a:rPr>
                        <a:t>Параметр</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00" b="1" i="0">
                          <a:solidFill>
                            <a:srgbClr val="262626"/>
                          </a:solidFill>
                          <a:latin typeface="Open Sans"/>
                        </a:rPr>
                        <a:t>Значение</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r>
              <a:tr h="365760">
                <a:tc>
                  <a:txBody>
                    <a:bodyPr wrap="square"/>
                    <a:lstStyle/>
                    <a:p>
                      <a:pPr algn="l"/>
                      <a:r>
                        <a:rPr sz="1200" b="0" i="0">
                          <a:solidFill>
                            <a:srgbClr val="262626"/>
                          </a:solidFill>
                          <a:latin typeface="Open Sans"/>
                        </a:rPr>
                        <a:t>c</a:t>
                      </a:r>
                      <a:r>
                        <a:rPr sz="1200" b="0" i="0" baseline="-25000">
                          <a:solidFill>
                            <a:srgbClr val="262626"/>
                          </a:solidFill>
                          <a:latin typeface="Open Sans"/>
                        </a:rPr>
                        <a:t>V</a:t>
                      </a:r>
                      <a:r>
                        <a:rPr sz="1200" b="0" i="0">
                          <a:solidFill>
                            <a:srgbClr val="262626"/>
                          </a:solidFill>
                          <a:latin typeface="Open Sans"/>
                        </a:rPr>
                        <a:t>, затраты на 1 м</a:t>
                      </a:r>
                      <a:r>
                        <a:rPr sz="1200" b="0" i="0" baseline="30000">
                          <a:solidFill>
                            <a:srgbClr val="262626"/>
                          </a:solidFill>
                          <a:latin typeface="Open Sans"/>
                        </a:rPr>
                        <a:t>3</a:t>
                      </a:r>
                      <a:r>
                        <a:rPr sz="1200" b="0" i="0">
                          <a:solidFill>
                            <a:srgbClr val="262626"/>
                          </a:solidFill>
                          <a:latin typeface="Open Sans"/>
                        </a:rPr>
                        <a:t> воды</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1,5 долл.</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65760">
                <a:tc>
                  <a:txBody>
                    <a:bodyPr wrap="square"/>
                    <a:lstStyle/>
                    <a:p>
                      <a:pPr algn="l"/>
                      <a:r>
                        <a:rPr sz="1200" b="0" i="0">
                          <a:solidFill>
                            <a:srgbClr val="262626"/>
                          </a:solidFill>
                          <a:latin typeface="Open Sans"/>
                        </a:rPr>
                        <a:t>CRF (12 %, 15 лет)</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0,147</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65760">
                <a:tc>
                  <a:txBody>
                    <a:bodyPr wrap="square"/>
                    <a:lstStyle/>
                    <a:p>
                      <a:pPr algn="l"/>
                      <a:r>
                        <a:rPr sz="1200" b="0" i="0">
                          <a:solidFill>
                            <a:srgbClr val="262626"/>
                          </a:solidFill>
                          <a:latin typeface="Open Sans"/>
                        </a:rPr>
                        <a:t>K</a:t>
                      </a:r>
                      <a:r>
                        <a:rPr sz="1200" b="0" i="0" baseline="-25000">
                          <a:solidFill>
                            <a:srgbClr val="262626"/>
                          </a:solidFill>
                          <a:latin typeface="Open Sans"/>
                        </a:rPr>
                        <a:t>0</a:t>
                      </a:r>
                      <a:r>
                        <a:rPr sz="1200" b="0" i="0">
                          <a:solidFill>
                            <a:srgbClr val="262626"/>
                          </a:solidFill>
                          <a:latin typeface="Open Sans"/>
                        </a:rPr>
                        <a:t> при Q</a:t>
                      </a:r>
                      <a:r>
                        <a:rPr sz="1200" b="0" i="0" baseline="-25000">
                          <a:solidFill>
                            <a:srgbClr val="262626"/>
                          </a:solidFill>
                          <a:latin typeface="Open Sans"/>
                        </a:rPr>
                        <a:t>0</a:t>
                      </a:r>
                      <a:r>
                        <a:rPr sz="1200" b="0" i="0">
                          <a:solidFill>
                            <a:srgbClr val="262626"/>
                          </a:solidFill>
                          <a:latin typeface="Open Sans"/>
                        </a:rPr>
                        <a:t> = 1,5 млн м</a:t>
                      </a:r>
                      <a:r>
                        <a:rPr sz="1200" b="0" i="0" baseline="30000">
                          <a:solidFill>
                            <a:srgbClr val="262626"/>
                          </a:solidFill>
                          <a:latin typeface="Open Sans"/>
                        </a:rPr>
                        <a:t>3</a:t>
                      </a:r>
                      <a:r>
                        <a:rPr sz="1200" b="0" i="0">
                          <a:solidFill>
                            <a:srgbClr val="262626"/>
                          </a:solidFill>
                          <a:latin typeface="Open Sans"/>
                        </a:rPr>
                        <a:t>/год</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40 млн долл.</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65760">
                <a:tc>
                  <a:txBody>
                    <a:bodyPr wrap="square"/>
                    <a:lstStyle/>
                    <a:p>
                      <a:pPr algn="l"/>
                      <a:r>
                        <a:rPr sz="1200" b="0" i="0">
                          <a:solidFill>
                            <a:srgbClr val="262626"/>
                          </a:solidFill>
                          <a:latin typeface="Open Sans"/>
                        </a:rPr>
                        <a:t>c</a:t>
                      </a:r>
                      <a:r>
                        <a:rPr sz="1200" b="0" i="0" baseline="-25000">
                          <a:solidFill>
                            <a:srgbClr val="262626"/>
                          </a:solidFill>
                          <a:latin typeface="Open Sans"/>
                        </a:rPr>
                        <a:t>R</a:t>
                      </a:r>
                      <a:r>
                        <a:rPr sz="1200" b="0" i="0">
                          <a:solidFill>
                            <a:srgbClr val="262626"/>
                          </a:solidFill>
                          <a:latin typeface="Open Sans"/>
                        </a:rPr>
                        <a:t>, реагенты и сушка</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1000 долл./т</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65760">
                <a:tc>
                  <a:txBody>
                    <a:bodyPr wrap="square"/>
                    <a:lstStyle/>
                    <a:p>
                      <a:pPr algn="l"/>
                      <a:r>
                        <a:rPr sz="1200" b="0" i="0">
                          <a:solidFill>
                            <a:srgbClr val="262626"/>
                          </a:solidFill>
                          <a:latin typeface="Open Sans"/>
                        </a:rPr>
                        <a:t>S, цена сорбента</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20 долл./кг</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65760">
                <a:tc>
                  <a:txBody>
                    <a:bodyPr wrap="square"/>
                    <a:lstStyle/>
                    <a:p>
                      <a:pPr algn="l"/>
                      <a:r>
                        <a:rPr sz="1200" b="0" i="0">
                          <a:solidFill>
                            <a:srgbClr val="262626"/>
                          </a:solidFill>
                          <a:latin typeface="Open Sans"/>
                        </a:rPr>
                        <a:t>q, рабочая емкость</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5 мг/г</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65760">
                <a:tc>
                  <a:txBody>
                    <a:bodyPr wrap="square"/>
                    <a:lstStyle/>
                    <a:p>
                      <a:pPr algn="l"/>
                      <a:r>
                        <a:rPr sz="1200" b="0" i="0">
                          <a:solidFill>
                            <a:srgbClr val="262626"/>
                          </a:solidFill>
                          <a:latin typeface="Open Sans"/>
                        </a:rPr>
                        <a:t>N, ресурс сорбента</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500 циклов</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65760">
                <a:tc>
                  <a:txBody>
                    <a:bodyPr wrap="square"/>
                    <a:lstStyle/>
                    <a:p>
                      <a:pPr algn="l"/>
                      <a:r>
                        <a:rPr sz="1200" b="0" i="0">
                          <a:solidFill>
                            <a:srgbClr val="262626"/>
                          </a:solidFill>
                          <a:latin typeface="Open Sans"/>
                        </a:rPr>
                        <a:t>η, сквозное извлечение</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0,61</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61872"/>
            <a:ext cx="11091672" cy="640080"/>
          </a:xfrm>
          <a:prstGeom prst="rect">
            <a:avLst/>
          </a:prstGeom>
          <a:noFill/>
        </p:spPr>
        <p:txBody>
          <a:bodyPr wrap="square" lIns="0" rIns="0" tIns="0" bIns="0" anchor="t"/>
          <a:lstStyle/>
          <a:p>
            <a:pPr algn="l"/>
            <a:r>
              <a:rPr sz="2400" b="1" i="0">
                <a:solidFill>
                  <a:srgbClr val="C00000"/>
                </a:solidFill>
                <a:latin typeface="Open Sans"/>
              </a:rPr>
              <a:t>Сибирские рассолы на порядок сложнее зарубежных аналогов</a:t>
            </a:r>
          </a:p>
        </p:txBody>
      </p:sp>
      <p:sp>
        <p:nvSpPr>
          <p:cNvPr id="3" name="TextBox 2"/>
          <p:cNvSpPr txBox="1"/>
          <p:nvPr/>
        </p:nvSpPr>
        <p:spPr>
          <a:xfrm>
            <a:off x="548640" y="6382512"/>
            <a:ext cx="1371600" cy="228600"/>
          </a:xfrm>
          <a:prstGeom prst="rect">
            <a:avLst/>
          </a:prstGeom>
          <a:noFill/>
        </p:spPr>
        <p:txBody>
          <a:bodyPr wrap="square" lIns="0" rIns="0" tIns="0" bIns="0" anchor="t"/>
          <a:lstStyle/>
          <a:p>
            <a:pPr algn="l"/>
            <a:r>
              <a:rPr sz="1000" b="0" i="0">
                <a:solidFill>
                  <a:srgbClr val="8C8C8C"/>
                </a:solidFill>
                <a:latin typeface="Open Sans"/>
              </a:rPr>
              <a:t>6 / 16</a:t>
            </a:r>
          </a:p>
        </p:txBody>
      </p:sp>
      <p:sp>
        <p:nvSpPr>
          <p:cNvPr id="4" name="TextBox 3"/>
          <p:cNvSpPr txBox="1"/>
          <p:nvPr/>
        </p:nvSpPr>
        <p:spPr>
          <a:xfrm>
            <a:off x="548640" y="5943600"/>
            <a:ext cx="9052560" cy="365760"/>
          </a:xfrm>
          <a:prstGeom prst="rect">
            <a:avLst/>
          </a:prstGeom>
          <a:noFill/>
        </p:spPr>
        <p:txBody>
          <a:bodyPr wrap="square" lIns="0" rIns="0" tIns="0" bIns="0" anchor="t"/>
          <a:lstStyle/>
          <a:p>
            <a:pPr algn="l"/>
            <a:r>
              <a:rPr sz="900" b="0" i="1">
                <a:solidFill>
                  <a:srgbClr val="8C8C8C"/>
                </a:solidFill>
                <a:latin typeface="Open Sans"/>
              </a:rPr>
              <a:t>Коцупало, 2001; Первойкин, Зелинская, 2022; Михеева, Егоров, 2022; Knapik et al., 2023; Chang et al., 2025</a:t>
            </a:r>
          </a:p>
        </p:txBody>
      </p:sp>
      <p:sp>
        <p:nvSpPr>
          <p:cNvPr id="5" name="Rectangle 4"/>
          <p:cNvSpPr/>
          <p:nvPr/>
        </p:nvSpPr>
        <p:spPr>
          <a:xfrm>
            <a:off x="548640" y="2011680"/>
            <a:ext cx="3474720" cy="178308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2148840"/>
            <a:ext cx="3017520" cy="502920"/>
          </a:xfrm>
          <a:prstGeom prst="rect">
            <a:avLst/>
          </a:prstGeom>
          <a:noFill/>
        </p:spPr>
        <p:txBody>
          <a:bodyPr wrap="square" lIns="0" rIns="0" tIns="0" bIns="0" anchor="t"/>
          <a:lstStyle/>
          <a:p>
            <a:pPr algn="l"/>
            <a:r>
              <a:rPr sz="2600" b="1" i="0">
                <a:solidFill>
                  <a:srgbClr val="7F7F7F"/>
                </a:solidFill>
                <a:latin typeface="Open Sans"/>
              </a:rPr>
              <a:t>30–70 мг/л</a:t>
            </a:r>
          </a:p>
        </p:txBody>
      </p:sp>
      <p:sp>
        <p:nvSpPr>
          <p:cNvPr id="7" name="TextBox 6"/>
          <p:cNvSpPr txBox="1"/>
          <p:nvPr/>
        </p:nvSpPr>
        <p:spPr>
          <a:xfrm>
            <a:off x="777240" y="2743200"/>
            <a:ext cx="3017520" cy="1005840"/>
          </a:xfrm>
          <a:prstGeom prst="rect">
            <a:avLst/>
          </a:prstGeom>
          <a:noFill/>
        </p:spPr>
        <p:txBody>
          <a:bodyPr wrap="square" lIns="0" rIns="0" tIns="0" bIns="0" anchor="t"/>
          <a:lstStyle/>
          <a:p>
            <a:pPr algn="l"/>
            <a:r>
              <a:rPr sz="1300" b="0" i="0">
                <a:solidFill>
                  <a:srgbClr val="595959"/>
                </a:solidFill>
                <a:latin typeface="Open Sans"/>
              </a:rPr>
              <a:t>подтоварные воды УПН; Ярактинская УПН — около 26 т Li в год</a:t>
            </a:r>
          </a:p>
        </p:txBody>
      </p:sp>
      <p:sp>
        <p:nvSpPr>
          <p:cNvPr id="8" name="Rectangle 7"/>
          <p:cNvSpPr/>
          <p:nvPr/>
        </p:nvSpPr>
        <p:spPr>
          <a:xfrm>
            <a:off x="548640" y="3977639"/>
            <a:ext cx="3474720" cy="178307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4114800"/>
            <a:ext cx="3017520" cy="502920"/>
          </a:xfrm>
          <a:prstGeom prst="rect">
            <a:avLst/>
          </a:prstGeom>
          <a:noFill/>
        </p:spPr>
        <p:txBody>
          <a:bodyPr wrap="square" lIns="0" rIns="0" tIns="0" bIns="0" anchor="t"/>
          <a:lstStyle/>
          <a:p>
            <a:pPr algn="l"/>
            <a:r>
              <a:rPr sz="2600" b="1" i="0">
                <a:solidFill>
                  <a:srgbClr val="C00000"/>
                </a:solidFill>
                <a:latin typeface="Open Sans"/>
              </a:rPr>
              <a:t>170–410 мг/л</a:t>
            </a:r>
          </a:p>
        </p:txBody>
      </p:sp>
      <p:sp>
        <p:nvSpPr>
          <p:cNvPr id="10" name="TextBox 9"/>
          <p:cNvSpPr txBox="1"/>
          <p:nvPr/>
        </p:nvSpPr>
        <p:spPr>
          <a:xfrm>
            <a:off x="777240" y="4709160"/>
            <a:ext cx="3017520" cy="914400"/>
          </a:xfrm>
          <a:prstGeom prst="rect">
            <a:avLst/>
          </a:prstGeom>
          <a:noFill/>
        </p:spPr>
        <p:txBody>
          <a:bodyPr wrap="square" lIns="0" rIns="0" tIns="0" bIns="0" anchor="t"/>
          <a:lstStyle/>
          <a:p>
            <a:pPr algn="l"/>
            <a:r>
              <a:rPr sz="1300" b="0" i="0">
                <a:solidFill>
                  <a:srgbClr val="595959"/>
                </a:solidFill>
                <a:latin typeface="Open Sans"/>
              </a:rPr>
              <a:t>глубинные рассолы: Знаменское, Ковыктинское, им. Кокорина; Ca 121–154 г/л, Mg/Li ≈ 72</a:t>
            </a:r>
          </a:p>
        </p:txBody>
      </p:sp>
      <p:graphicFrame>
        <p:nvGraphicFramePr>
          <p:cNvPr id="11" name="Table 10"/>
          <p:cNvGraphicFramePr>
            <a:graphicFrameLocks noGrp="1"/>
          </p:cNvGraphicFramePr>
          <p:nvPr/>
        </p:nvGraphicFramePr>
        <p:xfrm>
          <a:off x="4297680" y="2011680"/>
          <a:ext cx="7342632" cy="3749040"/>
        </p:xfrm>
        <a:graphic>
          <a:graphicData uri="http://schemas.openxmlformats.org/drawingml/2006/table">
            <a:tbl>
              <a:tblPr>
                <a:tableStyleId>{5C22544A-7EE6-4342-B048-85BDC9FD1C3A}</a:tableStyleId>
              </a:tblPr>
              <a:tblGrid>
                <a:gridCol w="2496312"/>
                <a:gridCol w="969264"/>
                <a:gridCol w="969264"/>
                <a:gridCol w="969264"/>
                <a:gridCol w="969264"/>
                <a:gridCol w="969264"/>
              </a:tblGrid>
              <a:tr h="457200">
                <a:tc>
                  <a:txBody>
                    <a:bodyPr wrap="square"/>
                    <a:lstStyle/>
                    <a:p>
                      <a:pPr algn="ctr"/>
                      <a:r>
                        <a:rPr sz="1200" b="1" i="0">
                          <a:solidFill>
                            <a:srgbClr val="262626"/>
                          </a:solidFill>
                          <a:latin typeface="Open Sans"/>
                        </a:rPr>
                        <a:t>Объект</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00" b="1" i="0">
                          <a:solidFill>
                            <a:srgbClr val="262626"/>
                          </a:solidFill>
                          <a:latin typeface="Open Sans"/>
                        </a:rPr>
                        <a:t>Li, мг/л</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00" b="1" i="0">
                          <a:solidFill>
                            <a:srgbClr val="262626"/>
                          </a:solidFill>
                          <a:latin typeface="Open Sans"/>
                        </a:rPr>
                        <a:t>Ca, г/л</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00" b="1" i="0">
                          <a:solidFill>
                            <a:srgbClr val="262626"/>
                          </a:solidFill>
                          <a:latin typeface="Open Sans"/>
                        </a:rPr>
                        <a:t>Mg, г/л</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00" b="1" i="0">
                          <a:solidFill>
                            <a:srgbClr val="262626"/>
                          </a:solidFill>
                          <a:latin typeface="Open Sans"/>
                        </a:rPr>
                        <a:t>Mg/Li</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00" b="1" i="0">
                          <a:solidFill>
                            <a:srgbClr val="262626"/>
                          </a:solidFill>
                          <a:latin typeface="Open Sans"/>
                        </a:rPr>
                        <a:t>Ca/Li</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r>
              <a:tr h="548640">
                <a:tc>
                  <a:txBody>
                    <a:bodyPr wrap="square"/>
                    <a:lstStyle/>
                    <a:p>
                      <a:pPr algn="l"/>
                      <a:r>
                        <a:rPr sz="1200" b="1" i="0">
                          <a:solidFill>
                            <a:srgbClr val="262626"/>
                          </a:solidFill>
                          <a:latin typeface="Open Sans"/>
                        </a:rPr>
                        <a:t>Знаменское, Иркутская обл.</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BEFEF"/>
                    </a:solidFill>
                  </a:tcPr>
                </a:tc>
                <a:tc>
                  <a:txBody>
                    <a:bodyPr wrap="square"/>
                    <a:lstStyle/>
                    <a:p>
                      <a:pPr algn="ctr"/>
                      <a:r>
                        <a:rPr sz="1200" b="0" i="0">
                          <a:solidFill>
                            <a:srgbClr val="262626"/>
                          </a:solidFill>
                          <a:latin typeface="Open Sans"/>
                        </a:rPr>
                        <a:t>409</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BEFEF"/>
                    </a:solidFill>
                  </a:tcPr>
                </a:tc>
                <a:tc>
                  <a:txBody>
                    <a:bodyPr wrap="square"/>
                    <a:lstStyle/>
                    <a:p>
                      <a:pPr algn="ctr"/>
                      <a:r>
                        <a:rPr sz="1200" b="0" i="0">
                          <a:solidFill>
                            <a:srgbClr val="262626"/>
                          </a:solidFill>
                          <a:latin typeface="Open Sans"/>
                        </a:rPr>
                        <a:t>121,2</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BEFEF"/>
                    </a:solidFill>
                  </a:tcPr>
                </a:tc>
                <a:tc>
                  <a:txBody>
                    <a:bodyPr wrap="square"/>
                    <a:lstStyle/>
                    <a:p>
                      <a:pPr algn="ctr"/>
                      <a:r>
                        <a:rPr sz="1200" b="0" i="0">
                          <a:solidFill>
                            <a:srgbClr val="262626"/>
                          </a:solidFill>
                          <a:latin typeface="Open Sans"/>
                        </a:rPr>
                        <a:t>29,51</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BEFEF"/>
                    </a:solidFill>
                  </a:tcPr>
                </a:tc>
                <a:tc>
                  <a:txBody>
                    <a:bodyPr wrap="square"/>
                    <a:lstStyle/>
                    <a:p>
                      <a:pPr algn="ctr"/>
                      <a:r>
                        <a:rPr sz="1200" b="0" i="0">
                          <a:solidFill>
                            <a:srgbClr val="262626"/>
                          </a:solidFill>
                          <a:latin typeface="Open Sans"/>
                        </a:rPr>
                        <a:t>72,2</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BEFEF"/>
                    </a:solidFill>
                  </a:tcPr>
                </a:tc>
                <a:tc>
                  <a:txBody>
                    <a:bodyPr wrap="square"/>
                    <a:lstStyle/>
                    <a:p>
                      <a:pPr algn="ctr"/>
                      <a:r>
                        <a:rPr sz="1200" b="0" i="0">
                          <a:solidFill>
                            <a:srgbClr val="262626"/>
                          </a:solidFill>
                          <a:latin typeface="Open Sans"/>
                        </a:rPr>
                        <a:t>296</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BEFEF"/>
                    </a:solidFill>
                  </a:tcPr>
                </a:tc>
              </a:tr>
              <a:tr h="548640">
                <a:tc>
                  <a:txBody>
                    <a:bodyPr wrap="square"/>
                    <a:lstStyle/>
                    <a:p>
                      <a:pPr algn="l"/>
                      <a:r>
                        <a:rPr sz="1200" b="1" i="0">
                          <a:solidFill>
                            <a:srgbClr val="262626"/>
                          </a:solidFill>
                          <a:latin typeface="Open Sans"/>
                        </a:rPr>
                        <a:t>Ковыктинское, Иркутская обл.</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BEFEF"/>
                    </a:solidFill>
                  </a:tcPr>
                </a:tc>
                <a:tc>
                  <a:txBody>
                    <a:bodyPr wrap="square"/>
                    <a:lstStyle/>
                    <a:p>
                      <a:pPr algn="ctr"/>
                      <a:r>
                        <a:rPr sz="1200" b="0" i="0">
                          <a:solidFill>
                            <a:srgbClr val="262626"/>
                          </a:solidFill>
                          <a:latin typeface="Open Sans"/>
                        </a:rPr>
                        <a:t>392</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BEFEF"/>
                    </a:solidFill>
                  </a:tcPr>
                </a:tc>
                <a:tc>
                  <a:txBody>
                    <a:bodyPr wrap="square"/>
                    <a:lstStyle/>
                    <a:p>
                      <a:pPr algn="ctr"/>
                      <a:r>
                        <a:rPr sz="1200" b="0" i="0">
                          <a:solidFill>
                            <a:srgbClr val="262626"/>
                          </a:solidFill>
                          <a:latin typeface="Open Sans"/>
                        </a:rPr>
                        <a:t>153,9</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BEFEF"/>
                    </a:solidFill>
                  </a:tcPr>
                </a:tc>
                <a:tc>
                  <a:txBody>
                    <a:bodyPr wrap="square"/>
                    <a:lstStyle/>
                    <a:p>
                      <a:pPr algn="ctr"/>
                      <a:r>
                        <a:rPr sz="1200" b="0" i="0">
                          <a:solidFill>
                            <a:srgbClr val="262626"/>
                          </a:solidFill>
                          <a:latin typeface="Open Sans"/>
                        </a:rPr>
                        <a:t>28,35</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BEFEF"/>
                    </a:solidFill>
                  </a:tcPr>
                </a:tc>
                <a:tc>
                  <a:txBody>
                    <a:bodyPr wrap="square"/>
                    <a:lstStyle/>
                    <a:p>
                      <a:pPr algn="ctr"/>
                      <a:r>
                        <a:rPr sz="1200" b="0" i="0">
                          <a:solidFill>
                            <a:srgbClr val="262626"/>
                          </a:solidFill>
                          <a:latin typeface="Open Sans"/>
                        </a:rPr>
                        <a:t>72,3</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BEFEF"/>
                    </a:solidFill>
                  </a:tcPr>
                </a:tc>
                <a:tc>
                  <a:txBody>
                    <a:bodyPr wrap="square"/>
                    <a:lstStyle/>
                    <a:p>
                      <a:pPr algn="ctr"/>
                      <a:r>
                        <a:rPr sz="1200" b="0" i="0">
                          <a:solidFill>
                            <a:srgbClr val="262626"/>
                          </a:solidFill>
                          <a:latin typeface="Open Sans"/>
                        </a:rPr>
                        <a:t>393</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BEFEF"/>
                    </a:solidFill>
                  </a:tcPr>
                </a:tc>
              </a:tr>
              <a:tr h="548640">
                <a:tc>
                  <a:txBody>
                    <a:bodyPr wrap="square"/>
                    <a:lstStyle/>
                    <a:p>
                      <a:pPr algn="l"/>
                      <a:r>
                        <a:rPr sz="1200" b="0" i="0">
                          <a:solidFill>
                            <a:srgbClr val="262626"/>
                          </a:solidFill>
                          <a:latin typeface="Open Sans"/>
                        </a:rPr>
                        <a:t>Smackover, США</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445</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45,7</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2,97</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6,7</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103</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548640">
                <a:tc>
                  <a:txBody>
                    <a:bodyPr wrap="square"/>
                    <a:lstStyle/>
                    <a:p>
                      <a:pPr algn="l"/>
                      <a:r>
                        <a:rPr sz="1200" b="0" i="0">
                          <a:solidFill>
                            <a:srgbClr val="262626"/>
                          </a:solidFill>
                          <a:latin typeface="Open Sans"/>
                        </a:rPr>
                        <a:t>Leduc, Канада</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140</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22,8</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2,00</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14,3</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163</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548640">
                <a:tc>
                  <a:txBody>
                    <a:bodyPr wrap="square"/>
                    <a:lstStyle/>
                    <a:p>
                      <a:pPr algn="l"/>
                      <a:r>
                        <a:rPr sz="1200" b="0" i="0">
                          <a:solidFill>
                            <a:srgbClr val="262626"/>
                          </a:solidFill>
                          <a:latin typeface="Open Sans"/>
                        </a:rPr>
                        <a:t>Marcellus, США</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127</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19,0</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1,67</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13,1</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149</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548640">
                <a:tc>
                  <a:txBody>
                    <a:bodyPr wrap="square"/>
                    <a:lstStyle/>
                    <a:p>
                      <a:pPr algn="l"/>
                      <a:r>
                        <a:rPr sz="1200" b="0" i="0">
                          <a:solidFill>
                            <a:srgbClr val="262626"/>
                          </a:solidFill>
                          <a:latin typeface="Open Sans"/>
                        </a:rPr>
                        <a:t>Вэйюань, Китай</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158</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3,1</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0,31</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2,0</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20</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61872"/>
            <a:ext cx="11091672" cy="640080"/>
          </a:xfrm>
          <a:prstGeom prst="rect">
            <a:avLst/>
          </a:prstGeom>
          <a:noFill/>
        </p:spPr>
        <p:txBody>
          <a:bodyPr wrap="square" lIns="0" rIns="0" tIns="0" bIns="0" anchor="t"/>
          <a:lstStyle/>
          <a:p>
            <a:pPr algn="l"/>
            <a:r>
              <a:rPr sz="2400" b="1" i="0">
                <a:solidFill>
                  <a:srgbClr val="C00000"/>
                </a:solidFill>
                <a:latin typeface="Open Sans"/>
              </a:rPr>
              <a:t>Умягчение сибирских рассолов дороже содержащегося лития</a:t>
            </a:r>
          </a:p>
        </p:txBody>
      </p:sp>
      <p:sp>
        <p:nvSpPr>
          <p:cNvPr id="3" name="TextBox 2"/>
          <p:cNvSpPr txBox="1"/>
          <p:nvPr/>
        </p:nvSpPr>
        <p:spPr>
          <a:xfrm>
            <a:off x="548640" y="6382512"/>
            <a:ext cx="1371600" cy="228600"/>
          </a:xfrm>
          <a:prstGeom prst="rect">
            <a:avLst/>
          </a:prstGeom>
          <a:noFill/>
        </p:spPr>
        <p:txBody>
          <a:bodyPr wrap="square" lIns="0" rIns="0" tIns="0" bIns="0" anchor="t"/>
          <a:lstStyle/>
          <a:p>
            <a:pPr algn="l"/>
            <a:r>
              <a:rPr sz="1000" b="0" i="0">
                <a:solidFill>
                  <a:srgbClr val="8C8C8C"/>
                </a:solidFill>
                <a:latin typeface="Open Sans"/>
              </a:rPr>
              <a:t>7 / 16</a:t>
            </a:r>
          </a:p>
        </p:txBody>
      </p:sp>
      <p:sp>
        <p:nvSpPr>
          <p:cNvPr id="4" name="TextBox 3"/>
          <p:cNvSpPr txBox="1"/>
          <p:nvPr/>
        </p:nvSpPr>
        <p:spPr>
          <a:xfrm>
            <a:off x="548640" y="5943600"/>
            <a:ext cx="9052560" cy="365760"/>
          </a:xfrm>
          <a:prstGeom prst="rect">
            <a:avLst/>
          </a:prstGeom>
          <a:noFill/>
        </p:spPr>
        <p:txBody>
          <a:bodyPr wrap="square" lIns="0" rIns="0" tIns="0" bIns="0" anchor="t"/>
          <a:lstStyle/>
          <a:p>
            <a:pPr algn="l"/>
            <a:r>
              <a:rPr sz="900" b="0" i="1">
                <a:solidFill>
                  <a:srgbClr val="8C8C8C"/>
                </a:solidFill>
                <a:latin typeface="Open Sans"/>
              </a:rPr>
              <a:t>Расчет авторов по стехиометрии: сода 150 долл./т, NaOH 450 долл./т; цена Li₂CO₃ 9 тыс. долл./т</a:t>
            </a:r>
          </a:p>
        </p:txBody>
      </p:sp>
      <p:sp>
        <p:nvSpPr>
          <p:cNvPr id="5" name="TextBox 4"/>
          <p:cNvSpPr txBox="1"/>
          <p:nvPr/>
        </p:nvSpPr>
        <p:spPr>
          <a:xfrm>
            <a:off x="548640" y="2011680"/>
            <a:ext cx="6675120" cy="320040"/>
          </a:xfrm>
          <a:prstGeom prst="rect">
            <a:avLst/>
          </a:prstGeom>
          <a:noFill/>
        </p:spPr>
        <p:txBody>
          <a:bodyPr wrap="square" lIns="0" rIns="0" tIns="0" bIns="0" anchor="t"/>
          <a:lstStyle/>
          <a:p>
            <a:pPr algn="l"/>
            <a:r>
              <a:rPr sz="1400" b="1" i="0">
                <a:solidFill>
                  <a:srgbClr val="262626"/>
                </a:solidFill>
                <a:latin typeface="Open Sans"/>
              </a:rPr>
              <a:t>Стоимость реагентов полного умягчения / стоимость лития в 1 м³</a:t>
            </a:r>
          </a:p>
        </p:txBody>
      </p:sp>
      <p:graphicFrame>
        <p:nvGraphicFramePr>
          <p:cNvPr id="6" name="Chart 5"/>
          <p:cNvGraphicFramePr>
            <a:graphicFrameLocks noGrp="1"/>
          </p:cNvGraphicFramePr>
          <p:nvPr/>
        </p:nvGraphicFramePr>
        <p:xfrm>
          <a:off x="502919" y="2377440"/>
          <a:ext cx="6766560" cy="3429000"/>
        </p:xfrm>
        <a:graphic>
          <a:graphicData uri="http://schemas.openxmlformats.org/drawingml/2006/chart">
            <c:chart xmlns:c="http://schemas.openxmlformats.org/drawingml/2006/chart" r:id="rId3"/>
          </a:graphicData>
        </a:graphic>
      </p:graphicFrame>
      <p:sp>
        <p:nvSpPr>
          <p:cNvPr id="7" name="Rectangle 6"/>
          <p:cNvSpPr/>
          <p:nvPr/>
        </p:nvSpPr>
        <p:spPr>
          <a:xfrm>
            <a:off x="7589520" y="2011680"/>
            <a:ext cx="4050791" cy="374903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18120" y="2194560"/>
            <a:ext cx="3593591" cy="320040"/>
          </a:xfrm>
          <a:prstGeom prst="rect">
            <a:avLst/>
          </a:prstGeom>
          <a:noFill/>
        </p:spPr>
        <p:txBody>
          <a:bodyPr wrap="square" lIns="0" rIns="0" tIns="0" bIns="0" anchor="t"/>
          <a:lstStyle/>
          <a:p>
            <a:pPr algn="l"/>
            <a:r>
              <a:rPr sz="1500" b="1" i="0">
                <a:solidFill>
                  <a:srgbClr val="C00000"/>
                </a:solidFill>
                <a:latin typeface="Open Sans"/>
              </a:rPr>
              <a:t>Знаменское, 1 м³ рассола</a:t>
            </a:r>
          </a:p>
        </p:txBody>
      </p:sp>
      <p:sp>
        <p:nvSpPr>
          <p:cNvPr id="9" name="TextBox 8"/>
          <p:cNvSpPr txBox="1"/>
          <p:nvPr/>
        </p:nvSpPr>
        <p:spPr>
          <a:xfrm>
            <a:off x="7818120" y="2651760"/>
            <a:ext cx="3639311" cy="1463040"/>
          </a:xfrm>
          <a:prstGeom prst="rect">
            <a:avLst/>
          </a:prstGeom>
          <a:noFill/>
        </p:spPr>
        <p:txBody>
          <a:bodyPr wrap="square" lIns="0" rIns="0" tIns="0" bIns="0" anchor="t"/>
          <a:lstStyle/>
          <a:p>
            <a:pPr algn="l" marL="201168" indent="-201168">
              <a:spcAft>
                <a:spcPts val="500"/>
              </a:spcAft>
              <a:buFont typeface="Arial"/>
              <a:buChar char="•"/>
            </a:pPr>
            <a:r>
              <a:rPr sz="1300" b="0" i="0">
                <a:solidFill>
                  <a:srgbClr val="262626"/>
                </a:solidFill>
                <a:latin typeface="Open Sans"/>
              </a:rPr>
              <a:t>≈ 320 кг Na₂CO₃ + 97 кг NaOH</a:t>
            </a:r>
          </a:p>
          <a:p>
            <a:pPr algn="l" marL="201168" indent="-201168">
              <a:spcAft>
                <a:spcPts val="500"/>
              </a:spcAft>
              <a:buFont typeface="Arial"/>
              <a:buChar char="•"/>
            </a:pPr>
            <a:r>
              <a:rPr sz="1300" b="0" i="0">
                <a:solidFill>
                  <a:srgbClr val="262626"/>
                </a:solidFill>
                <a:latin typeface="Open Sans"/>
              </a:rPr>
              <a:t>реагенты ≈ 92 долл./м³</a:t>
            </a:r>
          </a:p>
          <a:p>
            <a:pPr algn="l" marL="201168" indent="-201168">
              <a:spcAft>
                <a:spcPts val="500"/>
              </a:spcAft>
              <a:buFont typeface="Arial"/>
              <a:buChar char="•"/>
            </a:pPr>
            <a:r>
              <a:rPr sz="1300" b="0" i="0">
                <a:solidFill>
                  <a:srgbClr val="262626"/>
                </a:solidFill>
                <a:latin typeface="Open Sans"/>
              </a:rPr>
              <a:t>литий (100 % извлечения) ≈ 20 долл./м³</a:t>
            </a:r>
          </a:p>
        </p:txBody>
      </p:sp>
      <p:sp>
        <p:nvSpPr>
          <p:cNvPr id="10" name="TextBox 9"/>
          <p:cNvSpPr txBox="1"/>
          <p:nvPr/>
        </p:nvSpPr>
        <p:spPr>
          <a:xfrm>
            <a:off x="7818120" y="4160520"/>
            <a:ext cx="3593591" cy="320040"/>
          </a:xfrm>
          <a:prstGeom prst="rect">
            <a:avLst/>
          </a:prstGeom>
          <a:noFill/>
        </p:spPr>
        <p:txBody>
          <a:bodyPr wrap="square" lIns="0" rIns="0" tIns="0" bIns="0" anchor="t"/>
          <a:lstStyle/>
          <a:p>
            <a:pPr algn="l"/>
            <a:r>
              <a:rPr sz="1500" b="1" i="0">
                <a:solidFill>
                  <a:srgbClr val="C00000"/>
                </a:solidFill>
                <a:latin typeface="Open Sans"/>
              </a:rPr>
              <a:t>Вывод</a:t>
            </a:r>
          </a:p>
        </p:txBody>
      </p:sp>
      <p:sp>
        <p:nvSpPr>
          <p:cNvPr id="11" name="TextBox 10"/>
          <p:cNvSpPr txBox="1"/>
          <p:nvPr/>
        </p:nvSpPr>
        <p:spPr>
          <a:xfrm>
            <a:off x="7818120" y="4572000"/>
            <a:ext cx="3639311" cy="1143000"/>
          </a:xfrm>
          <a:prstGeom prst="rect">
            <a:avLst/>
          </a:prstGeom>
          <a:noFill/>
        </p:spPr>
        <p:txBody>
          <a:bodyPr wrap="square" lIns="0" rIns="0" tIns="0" bIns="0" anchor="t"/>
          <a:lstStyle/>
          <a:p>
            <a:pPr algn="l"/>
            <a:r>
              <a:rPr sz="1300" b="0" i="0">
                <a:solidFill>
                  <a:srgbClr val="262626"/>
                </a:solidFill>
                <a:latin typeface="Open Sans"/>
              </a:rPr>
              <a:t>Предочистка — только нефть, взвеси, Fe, Mn, H</a:t>
            </a:r>
            <a:r>
              <a:rPr sz="1300" b="0" i="0" baseline="-25000">
                <a:solidFill>
                  <a:srgbClr val="262626"/>
                </a:solidFill>
                <a:latin typeface="Open Sans"/>
              </a:rPr>
              <a:t>2</a:t>
            </a:r>
            <a:r>
              <a:rPr sz="1300" b="0" i="0">
                <a:solidFill>
                  <a:srgbClr val="262626"/>
                </a:solidFill>
                <a:latin typeface="Open Sans"/>
              </a:rPr>
              <a:t>S. Удаление Ca</a:t>
            </a:r>
            <a:r>
              <a:rPr sz="1300" b="0" i="0" baseline="30000">
                <a:solidFill>
                  <a:srgbClr val="262626"/>
                </a:solidFill>
                <a:latin typeface="Open Sans"/>
              </a:rPr>
              <a:t>2+</a:t>
            </a:r>
            <a:r>
              <a:rPr sz="1300" b="0" i="0">
                <a:solidFill>
                  <a:srgbClr val="262626"/>
                </a:solidFill>
                <a:latin typeface="Open Sans"/>
              </a:rPr>
              <a:t> и Mg</a:t>
            </a:r>
            <a:r>
              <a:rPr sz="1300" b="0" i="0" baseline="30000">
                <a:solidFill>
                  <a:srgbClr val="262626"/>
                </a:solidFill>
                <a:latin typeface="Open Sans"/>
              </a:rPr>
              <a:t>2+</a:t>
            </a:r>
            <a:r>
              <a:rPr sz="1300" b="0" i="0">
                <a:solidFill>
                  <a:srgbClr val="262626"/>
                </a:solidFill>
                <a:latin typeface="Open Sans"/>
              </a:rPr>
              <a:t> — на стадии очистки элюата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61872"/>
            <a:ext cx="11091672" cy="640080"/>
          </a:xfrm>
          <a:prstGeom prst="rect">
            <a:avLst/>
          </a:prstGeom>
          <a:noFill/>
        </p:spPr>
        <p:txBody>
          <a:bodyPr wrap="square" lIns="0" rIns="0" tIns="0" bIns="0" anchor="t"/>
          <a:lstStyle/>
          <a:p>
            <a:pPr algn="l"/>
            <a:r>
              <a:rPr sz="2400" b="1" i="0">
                <a:solidFill>
                  <a:srgbClr val="C00000"/>
                </a:solidFill>
                <a:latin typeface="Open Sans"/>
              </a:rPr>
              <a:t>Выбор сорбента: устойчивость важнее емкости</a:t>
            </a:r>
          </a:p>
        </p:txBody>
      </p:sp>
      <p:sp>
        <p:nvSpPr>
          <p:cNvPr id="3" name="TextBox 2"/>
          <p:cNvSpPr txBox="1"/>
          <p:nvPr/>
        </p:nvSpPr>
        <p:spPr>
          <a:xfrm>
            <a:off x="548640" y="6382512"/>
            <a:ext cx="1371600" cy="228600"/>
          </a:xfrm>
          <a:prstGeom prst="rect">
            <a:avLst/>
          </a:prstGeom>
          <a:noFill/>
        </p:spPr>
        <p:txBody>
          <a:bodyPr wrap="square" lIns="0" rIns="0" tIns="0" bIns="0" anchor="t"/>
          <a:lstStyle/>
          <a:p>
            <a:pPr algn="l"/>
            <a:r>
              <a:rPr sz="1000" b="0" i="0">
                <a:solidFill>
                  <a:srgbClr val="8C8C8C"/>
                </a:solidFill>
                <a:latin typeface="Open Sans"/>
              </a:rPr>
              <a:t>8 / 16</a:t>
            </a:r>
          </a:p>
        </p:txBody>
      </p:sp>
      <p:sp>
        <p:nvSpPr>
          <p:cNvPr id="4" name="TextBox 3"/>
          <p:cNvSpPr txBox="1"/>
          <p:nvPr/>
        </p:nvSpPr>
        <p:spPr>
          <a:xfrm>
            <a:off x="548640" y="5943600"/>
            <a:ext cx="9052560" cy="365760"/>
          </a:xfrm>
          <a:prstGeom prst="rect">
            <a:avLst/>
          </a:prstGeom>
          <a:noFill/>
        </p:spPr>
        <p:txBody>
          <a:bodyPr wrap="square" lIns="0" rIns="0" tIns="0" bIns="0" anchor="t"/>
          <a:lstStyle/>
          <a:p>
            <a:pPr algn="l"/>
            <a:r>
              <a:rPr sz="900" b="0" i="1">
                <a:solidFill>
                  <a:srgbClr val="8C8C8C"/>
                </a:solidFill>
                <a:latin typeface="Open Sans"/>
              </a:rPr>
              <a:t>Менжерес и др., 2004; Seip et al., 2021; Tian et al., 2022; Farahbakhsh et al., 2024; Chang et al., 2025; Pan et al., 2025</a:t>
            </a:r>
          </a:p>
        </p:txBody>
      </p:sp>
      <p:sp>
        <p:nvSpPr>
          <p:cNvPr id="5" name="Rectangle 4"/>
          <p:cNvSpPr/>
          <p:nvPr/>
        </p:nvSpPr>
        <p:spPr>
          <a:xfrm>
            <a:off x="548640" y="2011680"/>
            <a:ext cx="3514344" cy="3749039"/>
          </a:xfrm>
          <a:prstGeom prst="rect">
            <a:avLst/>
          </a:prstGeom>
          <a:solidFill>
            <a:srgbClr val="FFFFFF"/>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2148840"/>
            <a:ext cx="3057144" cy="411480"/>
          </a:xfrm>
          <a:prstGeom prst="rect">
            <a:avLst/>
          </a:prstGeom>
          <a:noFill/>
        </p:spPr>
        <p:txBody>
          <a:bodyPr wrap="square" lIns="0" rIns="0" tIns="0" bIns="0" anchor="t"/>
          <a:lstStyle/>
          <a:p>
            <a:pPr algn="l"/>
            <a:r>
              <a:rPr sz="2000" b="1" i="0">
                <a:solidFill>
                  <a:srgbClr val="C00000"/>
                </a:solidFill>
                <a:latin typeface="Open Sans"/>
              </a:rPr>
              <a:t>ДГАЛ-Cl</a:t>
            </a:r>
          </a:p>
        </p:txBody>
      </p:sp>
      <p:sp>
        <p:nvSpPr>
          <p:cNvPr id="7" name="TextBox 6"/>
          <p:cNvSpPr txBox="1"/>
          <p:nvPr/>
        </p:nvSpPr>
        <p:spPr>
          <a:xfrm>
            <a:off x="777240" y="2578608"/>
            <a:ext cx="3057144" cy="274320"/>
          </a:xfrm>
          <a:prstGeom prst="rect">
            <a:avLst/>
          </a:prstGeom>
          <a:noFill/>
        </p:spPr>
        <p:txBody>
          <a:bodyPr wrap="square" lIns="0" rIns="0" tIns="0" bIns="0" anchor="t"/>
          <a:lstStyle/>
          <a:p>
            <a:pPr algn="l"/>
            <a:r>
              <a:rPr sz="1200" b="0" i="0">
                <a:solidFill>
                  <a:srgbClr val="595959"/>
                </a:solidFill>
                <a:latin typeface="Open Sans"/>
              </a:rPr>
              <a:t>Li/Al-двойные гидроксиды</a:t>
            </a:r>
          </a:p>
        </p:txBody>
      </p:sp>
      <p:sp>
        <p:nvSpPr>
          <p:cNvPr id="8" name="TextBox 7"/>
          <p:cNvSpPr txBox="1"/>
          <p:nvPr/>
        </p:nvSpPr>
        <p:spPr>
          <a:xfrm>
            <a:off x="777240" y="2971800"/>
            <a:ext cx="3057144" cy="2651759"/>
          </a:xfrm>
          <a:prstGeom prst="rect">
            <a:avLst/>
          </a:prstGeom>
          <a:noFill/>
        </p:spPr>
        <p:txBody>
          <a:bodyPr wrap="square" lIns="0" rIns="0" tIns="0" bIns="0">
            <a:spAutoFit/>
          </a:bodyPr>
          <a:lstStyle/>
          <a:p>
            <a:r>
              <a:rPr sz="1000" b="0" i="0">
                <a:solidFill>
                  <a:srgbClr val="8C8C8C"/>
                </a:solidFill>
                <a:latin typeface="Open Sans"/>
              </a:rPr>
              <a:t>Емкость</a:t>
            </a:r>
          </a:p>
          <a:p>
            <a:pPr>
              <a:spcAft>
                <a:spcPts val="400"/>
              </a:spcAft>
            </a:pPr>
            <a:r>
              <a:rPr sz="1300" b="0" i="0">
                <a:solidFill>
                  <a:srgbClr val="262626"/>
                </a:solidFill>
                <a:latin typeface="Open Sans"/>
              </a:rPr>
              <a:t>2–10 мг/г (≈ 7)</a:t>
            </a:r>
          </a:p>
          <a:p>
            <a:r>
              <a:rPr sz="1000" b="0" i="0">
                <a:solidFill>
                  <a:srgbClr val="8C8C8C"/>
                </a:solidFill>
                <a:latin typeface="Open Sans"/>
              </a:rPr>
              <a:t>В реальных водах</a:t>
            </a:r>
          </a:p>
          <a:p>
            <a:pPr>
              <a:spcAft>
                <a:spcPts val="400"/>
              </a:spcAft>
            </a:pPr>
            <a:r>
              <a:rPr sz="1300" b="0" i="0">
                <a:solidFill>
                  <a:srgbClr val="262626"/>
                </a:solidFill>
                <a:latin typeface="Open Sans"/>
              </a:rPr>
              <a:t>3,6 мг/г (динам., колонна)</a:t>
            </a:r>
          </a:p>
          <a:p>
            <a:r>
              <a:rPr sz="1000" b="0" i="0">
                <a:solidFill>
                  <a:srgbClr val="8C8C8C"/>
                </a:solidFill>
                <a:latin typeface="Open Sans"/>
              </a:rPr>
              <a:t>Десорбент</a:t>
            </a:r>
          </a:p>
          <a:p>
            <a:pPr>
              <a:spcAft>
                <a:spcPts val="400"/>
              </a:spcAft>
            </a:pPr>
            <a:r>
              <a:rPr sz="1300" b="0" i="0">
                <a:solidFill>
                  <a:srgbClr val="262626"/>
                </a:solidFill>
                <a:latin typeface="Open Sans"/>
              </a:rPr>
              <a:t>пресная вода</a:t>
            </a:r>
          </a:p>
          <a:p>
            <a:r>
              <a:rPr sz="1000" b="0" i="0">
                <a:solidFill>
                  <a:srgbClr val="8C8C8C"/>
                </a:solidFill>
                <a:latin typeface="Open Sans"/>
              </a:rPr>
              <a:t>Риски</a:t>
            </a:r>
          </a:p>
          <a:p>
            <a:pPr>
              <a:spcAft>
                <a:spcPts val="400"/>
              </a:spcAft>
            </a:pPr>
            <a:r>
              <a:rPr sz="1300" b="0" i="0">
                <a:solidFill>
                  <a:srgbClr val="262626"/>
                </a:solidFill>
                <a:latin typeface="Open Sans"/>
              </a:rPr>
              <a:t>низкая емкость, большой объем элюата</a:t>
            </a:r>
          </a:p>
          <a:p>
            <a:r>
              <a:rPr sz="1000" b="0" i="0">
                <a:solidFill>
                  <a:srgbClr val="8C8C8C"/>
                </a:solidFill>
                <a:latin typeface="Open Sans"/>
              </a:rPr>
              <a:t>Готовность</a:t>
            </a:r>
          </a:p>
          <a:p>
            <a:pPr>
              <a:spcAft>
                <a:spcPts val="400"/>
              </a:spcAft>
            </a:pPr>
            <a:r>
              <a:rPr sz="1300" b="0" i="0">
                <a:solidFill>
                  <a:srgbClr val="262626"/>
                </a:solidFill>
                <a:latin typeface="Open Sans"/>
              </a:rPr>
              <a:t>промышленная</a:t>
            </a:r>
          </a:p>
        </p:txBody>
      </p:sp>
      <p:sp>
        <p:nvSpPr>
          <p:cNvPr id="9" name="Rectangle 8"/>
          <p:cNvSpPr/>
          <p:nvPr/>
        </p:nvSpPr>
        <p:spPr>
          <a:xfrm>
            <a:off x="4337304" y="2011680"/>
            <a:ext cx="3514344" cy="374903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65904" y="2148840"/>
            <a:ext cx="3057144" cy="411480"/>
          </a:xfrm>
          <a:prstGeom prst="rect">
            <a:avLst/>
          </a:prstGeom>
          <a:noFill/>
        </p:spPr>
        <p:txBody>
          <a:bodyPr wrap="square" lIns="0" rIns="0" tIns="0" bIns="0" anchor="t"/>
          <a:lstStyle/>
          <a:p>
            <a:pPr algn="l"/>
            <a:r>
              <a:rPr sz="2000" b="1" i="0">
                <a:solidFill>
                  <a:srgbClr val="262626"/>
                </a:solidFill>
                <a:latin typeface="Open Sans"/>
              </a:rPr>
              <a:t>HMO</a:t>
            </a:r>
          </a:p>
        </p:txBody>
      </p:sp>
      <p:sp>
        <p:nvSpPr>
          <p:cNvPr id="11" name="TextBox 10"/>
          <p:cNvSpPr txBox="1"/>
          <p:nvPr/>
        </p:nvSpPr>
        <p:spPr>
          <a:xfrm>
            <a:off x="4565904" y="2578608"/>
            <a:ext cx="3057144" cy="274320"/>
          </a:xfrm>
          <a:prstGeom prst="rect">
            <a:avLst/>
          </a:prstGeom>
          <a:noFill/>
        </p:spPr>
        <p:txBody>
          <a:bodyPr wrap="square" lIns="0" rIns="0" tIns="0" bIns="0" anchor="t"/>
          <a:lstStyle/>
          <a:p>
            <a:pPr algn="l"/>
            <a:r>
              <a:rPr sz="1200" b="0" i="0">
                <a:solidFill>
                  <a:srgbClr val="595959"/>
                </a:solidFill>
                <a:latin typeface="Open Sans"/>
              </a:rPr>
              <a:t>марганцевые ионные сита</a:t>
            </a:r>
          </a:p>
        </p:txBody>
      </p:sp>
      <p:sp>
        <p:nvSpPr>
          <p:cNvPr id="12" name="TextBox 11"/>
          <p:cNvSpPr txBox="1"/>
          <p:nvPr/>
        </p:nvSpPr>
        <p:spPr>
          <a:xfrm>
            <a:off x="4565904" y="2971800"/>
            <a:ext cx="3057144" cy="2651759"/>
          </a:xfrm>
          <a:prstGeom prst="rect">
            <a:avLst/>
          </a:prstGeom>
          <a:noFill/>
        </p:spPr>
        <p:txBody>
          <a:bodyPr wrap="square" lIns="0" rIns="0" tIns="0" bIns="0">
            <a:spAutoFit/>
          </a:bodyPr>
          <a:lstStyle/>
          <a:p>
            <a:r>
              <a:rPr sz="1000" b="0" i="0">
                <a:solidFill>
                  <a:srgbClr val="8C8C8C"/>
                </a:solidFill>
                <a:latin typeface="Open Sans"/>
              </a:rPr>
              <a:t>Емкость</a:t>
            </a:r>
          </a:p>
          <a:p>
            <a:pPr>
              <a:spcAft>
                <a:spcPts val="400"/>
              </a:spcAft>
            </a:pPr>
            <a:r>
              <a:rPr sz="1300" b="0" i="0">
                <a:solidFill>
                  <a:srgbClr val="262626"/>
                </a:solidFill>
                <a:latin typeface="Open Sans"/>
              </a:rPr>
              <a:t>15–40 мг/г</a:t>
            </a:r>
          </a:p>
          <a:p>
            <a:r>
              <a:rPr sz="1000" b="0" i="0">
                <a:solidFill>
                  <a:srgbClr val="8C8C8C"/>
                </a:solidFill>
                <a:latin typeface="Open Sans"/>
              </a:rPr>
              <a:t>В реальных водах</a:t>
            </a:r>
          </a:p>
          <a:p>
            <a:pPr>
              <a:spcAft>
                <a:spcPts val="400"/>
              </a:spcAft>
            </a:pPr>
            <a:r>
              <a:rPr sz="1300" b="0" i="0">
                <a:solidFill>
                  <a:srgbClr val="262626"/>
                </a:solidFill>
                <a:latin typeface="Open Sans"/>
              </a:rPr>
              <a:t>13,3–17,0 мг/г</a:t>
            </a:r>
          </a:p>
          <a:p>
            <a:r>
              <a:rPr sz="1000" b="0" i="0">
                <a:solidFill>
                  <a:srgbClr val="8C8C8C"/>
                </a:solidFill>
                <a:latin typeface="Open Sans"/>
              </a:rPr>
              <a:t>Десорбент</a:t>
            </a:r>
          </a:p>
          <a:p>
            <a:pPr>
              <a:spcAft>
                <a:spcPts val="400"/>
              </a:spcAft>
            </a:pPr>
            <a:r>
              <a:rPr sz="1300" b="0" i="0">
                <a:solidFill>
                  <a:srgbClr val="262626"/>
                </a:solidFill>
                <a:latin typeface="Open Sans"/>
              </a:rPr>
              <a:t>0,2–0,5 М HCl / H</a:t>
            </a:r>
            <a:r>
              <a:rPr sz="1300" b="0" i="0" baseline="-25000">
                <a:solidFill>
                  <a:srgbClr val="262626"/>
                </a:solidFill>
                <a:latin typeface="Open Sans"/>
              </a:rPr>
              <a:t>2</a:t>
            </a:r>
            <a:r>
              <a:rPr sz="1300" b="0" i="0">
                <a:solidFill>
                  <a:srgbClr val="262626"/>
                </a:solidFill>
                <a:latin typeface="Open Sans"/>
              </a:rPr>
              <a:t>SO</a:t>
            </a:r>
            <a:r>
              <a:rPr sz="1300" b="0" i="0" baseline="-25000">
                <a:solidFill>
                  <a:srgbClr val="262626"/>
                </a:solidFill>
                <a:latin typeface="Open Sans"/>
              </a:rPr>
              <a:t>4</a:t>
            </a:r>
          </a:p>
          <a:p>
            <a:r>
              <a:rPr sz="1000" b="0" i="0">
                <a:solidFill>
                  <a:srgbClr val="8C8C8C"/>
                </a:solidFill>
                <a:latin typeface="Open Sans"/>
              </a:rPr>
              <a:t>Риски</a:t>
            </a:r>
          </a:p>
          <a:p>
            <a:pPr>
              <a:spcAft>
                <a:spcPts val="400"/>
              </a:spcAft>
            </a:pPr>
            <a:r>
              <a:rPr sz="1300" b="0" i="0">
                <a:solidFill>
                  <a:srgbClr val="262626"/>
                </a:solidFill>
                <a:latin typeface="Open Sans"/>
              </a:rPr>
              <a:t>растворение Mn 1,8–5,4 %, восстановление органикой</a:t>
            </a:r>
          </a:p>
          <a:p>
            <a:r>
              <a:rPr sz="1000" b="0" i="0">
                <a:solidFill>
                  <a:srgbClr val="8C8C8C"/>
                </a:solidFill>
                <a:latin typeface="Open Sans"/>
              </a:rPr>
              <a:t>Готовность</a:t>
            </a:r>
          </a:p>
          <a:p>
            <a:pPr>
              <a:spcAft>
                <a:spcPts val="400"/>
              </a:spcAft>
            </a:pPr>
            <a:r>
              <a:rPr sz="1300" b="0" i="0">
                <a:solidFill>
                  <a:srgbClr val="262626"/>
                </a:solidFill>
                <a:latin typeface="Open Sans"/>
              </a:rPr>
              <a:t>пилотная</a:t>
            </a:r>
          </a:p>
        </p:txBody>
      </p:sp>
      <p:sp>
        <p:nvSpPr>
          <p:cNvPr id="13" name="Rectangle 12"/>
          <p:cNvSpPr/>
          <p:nvPr/>
        </p:nvSpPr>
        <p:spPr>
          <a:xfrm>
            <a:off x="8125968" y="2011680"/>
            <a:ext cx="3514344" cy="374903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54568" y="2148840"/>
            <a:ext cx="3057144" cy="411480"/>
          </a:xfrm>
          <a:prstGeom prst="rect">
            <a:avLst/>
          </a:prstGeom>
          <a:noFill/>
        </p:spPr>
        <p:txBody>
          <a:bodyPr wrap="square" lIns="0" rIns="0" tIns="0" bIns="0" anchor="t"/>
          <a:lstStyle/>
          <a:p>
            <a:pPr algn="l"/>
            <a:r>
              <a:rPr sz="2000" b="1" i="0">
                <a:solidFill>
                  <a:srgbClr val="262626"/>
                </a:solidFill>
                <a:latin typeface="Open Sans"/>
              </a:rPr>
              <a:t>HTO</a:t>
            </a:r>
          </a:p>
        </p:txBody>
      </p:sp>
      <p:sp>
        <p:nvSpPr>
          <p:cNvPr id="15" name="TextBox 14"/>
          <p:cNvSpPr txBox="1"/>
          <p:nvPr/>
        </p:nvSpPr>
        <p:spPr>
          <a:xfrm>
            <a:off x="8354568" y="2578608"/>
            <a:ext cx="3057144" cy="274320"/>
          </a:xfrm>
          <a:prstGeom prst="rect">
            <a:avLst/>
          </a:prstGeom>
          <a:noFill/>
        </p:spPr>
        <p:txBody>
          <a:bodyPr wrap="square" lIns="0" rIns="0" tIns="0" bIns="0" anchor="t"/>
          <a:lstStyle/>
          <a:p>
            <a:pPr algn="l"/>
            <a:r>
              <a:rPr sz="1200" b="0" i="0">
                <a:solidFill>
                  <a:srgbClr val="595959"/>
                </a:solidFill>
                <a:latin typeface="Open Sans"/>
              </a:rPr>
              <a:t>титановые ионные сита</a:t>
            </a:r>
          </a:p>
        </p:txBody>
      </p:sp>
      <p:sp>
        <p:nvSpPr>
          <p:cNvPr id="16" name="TextBox 15"/>
          <p:cNvSpPr txBox="1"/>
          <p:nvPr/>
        </p:nvSpPr>
        <p:spPr>
          <a:xfrm>
            <a:off x="8354568" y="2971800"/>
            <a:ext cx="3057144" cy="2651759"/>
          </a:xfrm>
          <a:prstGeom prst="rect">
            <a:avLst/>
          </a:prstGeom>
          <a:noFill/>
        </p:spPr>
        <p:txBody>
          <a:bodyPr wrap="square" lIns="0" rIns="0" tIns="0" bIns="0">
            <a:spAutoFit/>
          </a:bodyPr>
          <a:lstStyle/>
          <a:p>
            <a:r>
              <a:rPr sz="1000" b="0" i="0">
                <a:solidFill>
                  <a:srgbClr val="8C8C8C"/>
                </a:solidFill>
                <a:latin typeface="Open Sans"/>
              </a:rPr>
              <a:t>Емкость</a:t>
            </a:r>
          </a:p>
          <a:p>
            <a:pPr>
              <a:spcAft>
                <a:spcPts val="400"/>
              </a:spcAft>
            </a:pPr>
            <a:r>
              <a:rPr sz="1300" b="0" i="0">
                <a:solidFill>
                  <a:srgbClr val="262626"/>
                </a:solidFill>
                <a:latin typeface="Open Sans"/>
              </a:rPr>
              <a:t>20–50 мг/г</a:t>
            </a:r>
          </a:p>
          <a:p>
            <a:r>
              <a:rPr sz="1000" b="0" i="0">
                <a:solidFill>
                  <a:srgbClr val="8C8C8C"/>
                </a:solidFill>
                <a:latin typeface="Open Sans"/>
              </a:rPr>
              <a:t>В реальных водах</a:t>
            </a:r>
          </a:p>
          <a:p>
            <a:pPr>
              <a:spcAft>
                <a:spcPts val="400"/>
              </a:spcAft>
            </a:pPr>
            <a:r>
              <a:rPr sz="1300" b="0" i="0">
                <a:solidFill>
                  <a:srgbClr val="262626"/>
                </a:solidFill>
                <a:latin typeface="Open Sans"/>
              </a:rPr>
              <a:t>20,1 мг/г</a:t>
            </a:r>
          </a:p>
          <a:p>
            <a:r>
              <a:rPr sz="1000" b="0" i="0">
                <a:solidFill>
                  <a:srgbClr val="8C8C8C"/>
                </a:solidFill>
                <a:latin typeface="Open Sans"/>
              </a:rPr>
              <a:t>Десорбент</a:t>
            </a:r>
          </a:p>
          <a:p>
            <a:pPr>
              <a:spcAft>
                <a:spcPts val="400"/>
              </a:spcAft>
            </a:pPr>
            <a:r>
              <a:rPr sz="1300" b="0" i="0">
                <a:solidFill>
                  <a:srgbClr val="262626"/>
                </a:solidFill>
                <a:latin typeface="Open Sans"/>
              </a:rPr>
              <a:t>0,2 М HCl</a:t>
            </a:r>
          </a:p>
          <a:p>
            <a:r>
              <a:rPr sz="1000" b="0" i="0">
                <a:solidFill>
                  <a:srgbClr val="8C8C8C"/>
                </a:solidFill>
                <a:latin typeface="Open Sans"/>
              </a:rPr>
              <a:t>Риски</a:t>
            </a:r>
          </a:p>
          <a:p>
            <a:pPr>
              <a:spcAft>
                <a:spcPts val="400"/>
              </a:spcAft>
            </a:pPr>
            <a:r>
              <a:rPr sz="1300" b="0" i="0">
                <a:solidFill>
                  <a:srgbClr val="262626"/>
                </a:solidFill>
                <a:latin typeface="Open Sans"/>
              </a:rPr>
              <a:t>растворение Ti, медленная кинетика, pH 10–12</a:t>
            </a:r>
          </a:p>
          <a:p>
            <a:r>
              <a:rPr sz="1000" b="0" i="0">
                <a:solidFill>
                  <a:srgbClr val="8C8C8C"/>
                </a:solidFill>
                <a:latin typeface="Open Sans"/>
              </a:rPr>
              <a:t>Готовность</a:t>
            </a:r>
          </a:p>
          <a:p>
            <a:pPr>
              <a:spcAft>
                <a:spcPts val="400"/>
              </a:spcAft>
            </a:pPr>
            <a:r>
              <a:rPr sz="1300" b="0" i="0">
                <a:solidFill>
                  <a:srgbClr val="262626"/>
                </a:solidFill>
                <a:latin typeface="Open Sans"/>
              </a:rPr>
              <a:t>пилотная</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61872"/>
            <a:ext cx="11091672" cy="640080"/>
          </a:xfrm>
          <a:prstGeom prst="rect">
            <a:avLst/>
          </a:prstGeom>
          <a:noFill/>
        </p:spPr>
        <p:txBody>
          <a:bodyPr wrap="square" lIns="0" rIns="0" tIns="0" bIns="0" anchor="t"/>
          <a:lstStyle/>
          <a:p>
            <a:pPr algn="l"/>
            <a:r>
              <a:rPr sz="2400" b="1" i="0">
                <a:solidFill>
                  <a:srgbClr val="C00000"/>
                </a:solidFill>
                <a:latin typeface="Open Sans"/>
              </a:rPr>
              <a:t>Схема «попутная вода — Li₂CO₃» с ограниченной предочисткой</a:t>
            </a:r>
          </a:p>
        </p:txBody>
      </p:sp>
      <p:sp>
        <p:nvSpPr>
          <p:cNvPr id="3" name="TextBox 2"/>
          <p:cNvSpPr txBox="1"/>
          <p:nvPr/>
        </p:nvSpPr>
        <p:spPr>
          <a:xfrm>
            <a:off x="548640" y="6382512"/>
            <a:ext cx="1371600" cy="228600"/>
          </a:xfrm>
          <a:prstGeom prst="rect">
            <a:avLst/>
          </a:prstGeom>
          <a:noFill/>
        </p:spPr>
        <p:txBody>
          <a:bodyPr wrap="square" lIns="0" rIns="0" tIns="0" bIns="0" anchor="t"/>
          <a:lstStyle/>
          <a:p>
            <a:pPr algn="l"/>
            <a:r>
              <a:rPr sz="1000" b="0" i="0">
                <a:solidFill>
                  <a:srgbClr val="8C8C8C"/>
                </a:solidFill>
                <a:latin typeface="Open Sans"/>
              </a:rPr>
              <a:t>9 / 16</a:t>
            </a:r>
          </a:p>
        </p:txBody>
      </p:sp>
      <p:sp>
        <p:nvSpPr>
          <p:cNvPr id="4" name="Rectangle 3"/>
          <p:cNvSpPr/>
          <p:nvPr/>
        </p:nvSpPr>
        <p:spPr>
          <a:xfrm>
            <a:off x="548640" y="2286000"/>
            <a:ext cx="1371600" cy="11430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03503" y="2286000"/>
            <a:ext cx="1261872" cy="1143000"/>
          </a:xfrm>
          <a:prstGeom prst="rect">
            <a:avLst/>
          </a:prstGeom>
          <a:noFill/>
        </p:spPr>
        <p:txBody>
          <a:bodyPr wrap="square" lIns="0" rIns="0" tIns="0" bIns="0" anchor="ctr"/>
          <a:lstStyle/>
          <a:p>
            <a:pPr algn="ctr"/>
            <a:r>
              <a:rPr sz="1100" b="0" i="0">
                <a:solidFill>
                  <a:srgbClr val="262626"/>
                </a:solidFill>
                <a:latin typeface="Open Sans"/>
              </a:rPr>
              <a:t>Предочистка: нефть, взвеси, Fe, Mn, H</a:t>
            </a:r>
            <a:r>
              <a:rPr sz="1100" b="0" i="0" baseline="-25000">
                <a:solidFill>
                  <a:srgbClr val="262626"/>
                </a:solidFill>
                <a:latin typeface="Open Sans"/>
              </a:rPr>
              <a:t>2</a:t>
            </a:r>
            <a:r>
              <a:rPr sz="1100" b="0" i="0">
                <a:solidFill>
                  <a:srgbClr val="262626"/>
                </a:solidFill>
                <a:latin typeface="Open Sans"/>
              </a:rPr>
              <a:t>S</a:t>
            </a:r>
          </a:p>
        </p:txBody>
      </p:sp>
      <p:sp>
        <p:nvSpPr>
          <p:cNvPr id="6" name="TextBox 5"/>
          <p:cNvSpPr txBox="1"/>
          <p:nvPr/>
        </p:nvSpPr>
        <p:spPr>
          <a:xfrm>
            <a:off x="548640" y="1993392"/>
            <a:ext cx="1371600" cy="256032"/>
          </a:xfrm>
          <a:prstGeom prst="rect">
            <a:avLst/>
          </a:prstGeom>
          <a:noFill/>
        </p:spPr>
        <p:txBody>
          <a:bodyPr wrap="square" lIns="0" rIns="0" tIns="0" bIns="0" anchor="t"/>
          <a:lstStyle/>
          <a:p>
            <a:pPr algn="ctr"/>
            <a:r>
              <a:rPr sz="1100" b="1" i="0">
                <a:solidFill>
                  <a:srgbClr val="C00000"/>
                </a:solidFill>
                <a:latin typeface="Open Sans"/>
              </a:rPr>
              <a:t>1</a:t>
            </a:r>
          </a:p>
        </p:txBody>
      </p:sp>
      <p:cxnSp>
        <p:nvCxnSpPr>
          <p:cNvPr id="7" name="Connector 6"/>
          <p:cNvCxnSpPr/>
          <p:nvPr/>
        </p:nvCxnSpPr>
        <p:spPr>
          <a:xfrm>
            <a:off x="1947672" y="2857500"/>
            <a:ext cx="193548"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234440" y="3456432"/>
            <a:ext cx="0" cy="228600"/>
          </a:xfrm>
          <a:prstGeom prst="line">
            <a:avLst/>
          </a:prstGeom>
          <a:ln w="12700">
            <a:solidFill>
              <a:srgbClr val="BFBFBF"/>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19" y="3721608"/>
            <a:ext cx="1463040" cy="502920"/>
          </a:xfrm>
          <a:prstGeom prst="rect">
            <a:avLst/>
          </a:prstGeom>
          <a:noFill/>
        </p:spPr>
        <p:txBody>
          <a:bodyPr wrap="square" lIns="0" rIns="0" tIns="0" bIns="0" anchor="t"/>
          <a:lstStyle/>
          <a:p>
            <a:pPr algn="ctr"/>
            <a:r>
              <a:rPr sz="1000" b="0" i="0">
                <a:solidFill>
                  <a:srgbClr val="595959"/>
                </a:solidFill>
                <a:latin typeface="Open Sans"/>
              </a:rPr>
              <a:t>нефтешлам</a:t>
            </a:r>
          </a:p>
        </p:txBody>
      </p:sp>
      <p:sp>
        <p:nvSpPr>
          <p:cNvPr id="10" name="Rectangle 9"/>
          <p:cNvSpPr/>
          <p:nvPr/>
        </p:nvSpPr>
        <p:spPr>
          <a:xfrm>
            <a:off x="2168652" y="2286000"/>
            <a:ext cx="1371600" cy="11430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223516" y="2286000"/>
            <a:ext cx="1261872" cy="1143000"/>
          </a:xfrm>
          <a:prstGeom prst="rect">
            <a:avLst/>
          </a:prstGeom>
          <a:noFill/>
        </p:spPr>
        <p:txBody>
          <a:bodyPr wrap="square" lIns="0" rIns="0" tIns="0" bIns="0" anchor="ctr"/>
          <a:lstStyle/>
          <a:p>
            <a:pPr algn="ctr"/>
            <a:r>
              <a:rPr sz="1100" b="0" i="0">
                <a:solidFill>
                  <a:srgbClr val="262626"/>
                </a:solidFill>
                <a:latin typeface="Open Sans"/>
              </a:rPr>
              <a:t>Сорбция Li</a:t>
            </a:r>
            <a:r>
              <a:rPr sz="1100" b="0" i="0" baseline="30000">
                <a:solidFill>
                  <a:srgbClr val="262626"/>
                </a:solidFill>
                <a:latin typeface="Open Sans"/>
              </a:rPr>
              <a:t>+</a:t>
            </a:r>
            <a:r>
              <a:rPr sz="1100" b="0" i="0">
                <a:solidFill>
                  <a:srgbClr val="262626"/>
                </a:solidFill>
                <a:latin typeface="Open Sans"/>
              </a:rPr>
              <a:t> в колоннах ДГАЛ-Cl</a:t>
            </a:r>
          </a:p>
        </p:txBody>
      </p:sp>
      <p:sp>
        <p:nvSpPr>
          <p:cNvPr id="12" name="TextBox 11"/>
          <p:cNvSpPr txBox="1"/>
          <p:nvPr/>
        </p:nvSpPr>
        <p:spPr>
          <a:xfrm>
            <a:off x="2168652" y="1993392"/>
            <a:ext cx="1371600" cy="256032"/>
          </a:xfrm>
          <a:prstGeom prst="rect">
            <a:avLst/>
          </a:prstGeom>
          <a:noFill/>
        </p:spPr>
        <p:txBody>
          <a:bodyPr wrap="square" lIns="0" rIns="0" tIns="0" bIns="0" anchor="t"/>
          <a:lstStyle/>
          <a:p>
            <a:pPr algn="ctr"/>
            <a:r>
              <a:rPr sz="1100" b="1" i="0">
                <a:solidFill>
                  <a:srgbClr val="C00000"/>
                </a:solidFill>
                <a:latin typeface="Open Sans"/>
              </a:rPr>
              <a:t>2</a:t>
            </a:r>
          </a:p>
        </p:txBody>
      </p:sp>
      <p:cxnSp>
        <p:nvCxnSpPr>
          <p:cNvPr id="13" name="Connector 12"/>
          <p:cNvCxnSpPr/>
          <p:nvPr/>
        </p:nvCxnSpPr>
        <p:spPr>
          <a:xfrm>
            <a:off x="3567683" y="2857500"/>
            <a:ext cx="193549"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854452" y="3456432"/>
            <a:ext cx="0" cy="228600"/>
          </a:xfrm>
          <a:prstGeom prst="line">
            <a:avLst/>
          </a:prstGeom>
          <a:ln w="12700">
            <a:solidFill>
              <a:srgbClr val="BFBFBF"/>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122932" y="3721608"/>
            <a:ext cx="1463040" cy="502920"/>
          </a:xfrm>
          <a:prstGeom prst="rect">
            <a:avLst/>
          </a:prstGeom>
          <a:noFill/>
        </p:spPr>
        <p:txBody>
          <a:bodyPr wrap="square" lIns="0" rIns="0" tIns="0" bIns="0" anchor="t"/>
          <a:lstStyle/>
          <a:p>
            <a:pPr algn="ctr"/>
            <a:r>
              <a:rPr sz="1000" b="0" i="0">
                <a:solidFill>
                  <a:srgbClr val="595959"/>
                </a:solidFill>
                <a:latin typeface="Open Sans"/>
              </a:rPr>
              <a:t>обедненный рассол → ППД</a:t>
            </a:r>
          </a:p>
        </p:txBody>
      </p:sp>
      <p:sp>
        <p:nvSpPr>
          <p:cNvPr id="16" name="Rectangle 15"/>
          <p:cNvSpPr/>
          <p:nvPr/>
        </p:nvSpPr>
        <p:spPr>
          <a:xfrm>
            <a:off x="3788664" y="2286000"/>
            <a:ext cx="1371600" cy="11430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843528" y="2286000"/>
            <a:ext cx="1261872" cy="1143000"/>
          </a:xfrm>
          <a:prstGeom prst="rect">
            <a:avLst/>
          </a:prstGeom>
          <a:noFill/>
        </p:spPr>
        <p:txBody>
          <a:bodyPr wrap="square" lIns="0" rIns="0" tIns="0" bIns="0" anchor="ctr"/>
          <a:lstStyle/>
          <a:p>
            <a:pPr algn="ctr"/>
            <a:r>
              <a:rPr sz="1100" b="0" i="0">
                <a:solidFill>
                  <a:srgbClr val="262626"/>
                </a:solidFill>
                <a:latin typeface="Open Sans"/>
              </a:rPr>
              <a:t>Промывка слоя сорбента</a:t>
            </a:r>
          </a:p>
        </p:txBody>
      </p:sp>
      <p:sp>
        <p:nvSpPr>
          <p:cNvPr id="18" name="TextBox 17"/>
          <p:cNvSpPr txBox="1"/>
          <p:nvPr/>
        </p:nvSpPr>
        <p:spPr>
          <a:xfrm>
            <a:off x="3788664" y="1993392"/>
            <a:ext cx="1371600" cy="256032"/>
          </a:xfrm>
          <a:prstGeom prst="rect">
            <a:avLst/>
          </a:prstGeom>
          <a:noFill/>
        </p:spPr>
        <p:txBody>
          <a:bodyPr wrap="square" lIns="0" rIns="0" tIns="0" bIns="0" anchor="t"/>
          <a:lstStyle/>
          <a:p>
            <a:pPr algn="ctr"/>
            <a:r>
              <a:rPr sz="1100" b="1" i="0">
                <a:solidFill>
                  <a:srgbClr val="C00000"/>
                </a:solidFill>
                <a:latin typeface="Open Sans"/>
              </a:rPr>
              <a:t>3</a:t>
            </a:r>
          </a:p>
        </p:txBody>
      </p:sp>
      <p:cxnSp>
        <p:nvCxnSpPr>
          <p:cNvPr id="19" name="Connector 18"/>
          <p:cNvCxnSpPr/>
          <p:nvPr/>
        </p:nvCxnSpPr>
        <p:spPr>
          <a:xfrm>
            <a:off x="5187696" y="2857500"/>
            <a:ext cx="193548"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474464" y="3456432"/>
            <a:ext cx="0" cy="228600"/>
          </a:xfrm>
          <a:prstGeom prst="line">
            <a:avLst/>
          </a:prstGeom>
          <a:ln w="12700">
            <a:solidFill>
              <a:srgbClr val="BFBFBF"/>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742944" y="3721608"/>
            <a:ext cx="1463040" cy="502920"/>
          </a:xfrm>
          <a:prstGeom prst="rect">
            <a:avLst/>
          </a:prstGeom>
          <a:noFill/>
        </p:spPr>
        <p:txBody>
          <a:bodyPr wrap="square" lIns="0" rIns="0" tIns="0" bIns="0" anchor="t"/>
          <a:lstStyle/>
          <a:p>
            <a:pPr algn="ctr"/>
            <a:r>
              <a:rPr sz="1000" b="0" i="0">
                <a:solidFill>
                  <a:srgbClr val="595959"/>
                </a:solidFill>
                <a:latin typeface="Open Sans"/>
              </a:rPr>
              <a:t>промывные воды → стадия 1</a:t>
            </a:r>
          </a:p>
        </p:txBody>
      </p:sp>
      <p:sp>
        <p:nvSpPr>
          <p:cNvPr id="22" name="Rectangle 21"/>
          <p:cNvSpPr/>
          <p:nvPr/>
        </p:nvSpPr>
        <p:spPr>
          <a:xfrm>
            <a:off x="5408676" y="2286000"/>
            <a:ext cx="1371600" cy="11430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463540" y="2286000"/>
            <a:ext cx="1261872" cy="1143000"/>
          </a:xfrm>
          <a:prstGeom prst="rect">
            <a:avLst/>
          </a:prstGeom>
          <a:noFill/>
        </p:spPr>
        <p:txBody>
          <a:bodyPr wrap="square" lIns="0" rIns="0" tIns="0" bIns="0" anchor="ctr"/>
          <a:lstStyle/>
          <a:p>
            <a:pPr algn="ctr"/>
            <a:r>
              <a:rPr sz="1100" b="0" i="0">
                <a:solidFill>
                  <a:srgbClr val="262626"/>
                </a:solidFill>
                <a:latin typeface="Open Sans"/>
              </a:rPr>
              <a:t>Десорбция пресной водой</a:t>
            </a:r>
          </a:p>
        </p:txBody>
      </p:sp>
      <p:sp>
        <p:nvSpPr>
          <p:cNvPr id="24" name="TextBox 23"/>
          <p:cNvSpPr txBox="1"/>
          <p:nvPr/>
        </p:nvSpPr>
        <p:spPr>
          <a:xfrm>
            <a:off x="5408676" y="1993392"/>
            <a:ext cx="1371600" cy="256032"/>
          </a:xfrm>
          <a:prstGeom prst="rect">
            <a:avLst/>
          </a:prstGeom>
          <a:noFill/>
        </p:spPr>
        <p:txBody>
          <a:bodyPr wrap="square" lIns="0" rIns="0" tIns="0" bIns="0" anchor="t"/>
          <a:lstStyle/>
          <a:p>
            <a:pPr algn="ctr"/>
            <a:r>
              <a:rPr sz="1100" b="1" i="0">
                <a:solidFill>
                  <a:srgbClr val="C00000"/>
                </a:solidFill>
                <a:latin typeface="Open Sans"/>
              </a:rPr>
              <a:t>4</a:t>
            </a:r>
          </a:p>
        </p:txBody>
      </p:sp>
      <p:cxnSp>
        <p:nvCxnSpPr>
          <p:cNvPr id="25" name="Connector 24"/>
          <p:cNvCxnSpPr/>
          <p:nvPr/>
        </p:nvCxnSpPr>
        <p:spPr>
          <a:xfrm>
            <a:off x="6807708" y="2857500"/>
            <a:ext cx="193548"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094476" y="3456432"/>
            <a:ext cx="0" cy="228600"/>
          </a:xfrm>
          <a:prstGeom prst="line">
            <a:avLst/>
          </a:prstGeom>
          <a:ln w="12700">
            <a:solidFill>
              <a:srgbClr val="BFBFBF"/>
            </a:solidFill>
            <a:prstDash val="dash"/>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362956" y="3721608"/>
            <a:ext cx="1463040" cy="502920"/>
          </a:xfrm>
          <a:prstGeom prst="rect">
            <a:avLst/>
          </a:prstGeom>
          <a:noFill/>
        </p:spPr>
        <p:txBody>
          <a:bodyPr wrap="square" lIns="0" rIns="0" tIns="0" bIns="0" anchor="t"/>
          <a:lstStyle/>
          <a:p>
            <a:pPr algn="ctr"/>
            <a:r>
              <a:rPr sz="1000" b="0" i="0">
                <a:solidFill>
                  <a:srgbClr val="595959"/>
                </a:solidFill>
                <a:latin typeface="Open Sans"/>
              </a:rPr>
              <a:t>вход: пресная вода</a:t>
            </a:r>
          </a:p>
        </p:txBody>
      </p:sp>
      <p:sp>
        <p:nvSpPr>
          <p:cNvPr id="28" name="Rectangle 27"/>
          <p:cNvSpPr/>
          <p:nvPr/>
        </p:nvSpPr>
        <p:spPr>
          <a:xfrm>
            <a:off x="7028688" y="2286000"/>
            <a:ext cx="1371600" cy="11430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083551" y="2286000"/>
            <a:ext cx="1261872" cy="1143000"/>
          </a:xfrm>
          <a:prstGeom prst="rect">
            <a:avLst/>
          </a:prstGeom>
          <a:noFill/>
        </p:spPr>
        <p:txBody>
          <a:bodyPr wrap="square" lIns="0" rIns="0" tIns="0" bIns="0" anchor="ctr"/>
          <a:lstStyle/>
          <a:p>
            <a:pPr algn="ctr"/>
            <a:r>
              <a:rPr sz="1100" b="0" i="0">
                <a:solidFill>
                  <a:srgbClr val="262626"/>
                </a:solidFill>
                <a:latin typeface="Open Sans"/>
              </a:rPr>
              <a:t>Очистка элюата от Ca</a:t>
            </a:r>
            <a:r>
              <a:rPr sz="1100" b="0" i="0" baseline="30000">
                <a:solidFill>
                  <a:srgbClr val="262626"/>
                </a:solidFill>
                <a:latin typeface="Open Sans"/>
              </a:rPr>
              <a:t>2+</a:t>
            </a:r>
            <a:r>
              <a:rPr sz="1100" b="0" i="0">
                <a:solidFill>
                  <a:srgbClr val="262626"/>
                </a:solidFill>
                <a:latin typeface="Open Sans"/>
              </a:rPr>
              <a:t>, Mg</a:t>
            </a:r>
            <a:r>
              <a:rPr sz="1100" b="0" i="0" baseline="30000">
                <a:solidFill>
                  <a:srgbClr val="262626"/>
                </a:solidFill>
                <a:latin typeface="Open Sans"/>
              </a:rPr>
              <a:t>2+</a:t>
            </a:r>
          </a:p>
        </p:txBody>
      </p:sp>
      <p:sp>
        <p:nvSpPr>
          <p:cNvPr id="30" name="TextBox 29"/>
          <p:cNvSpPr txBox="1"/>
          <p:nvPr/>
        </p:nvSpPr>
        <p:spPr>
          <a:xfrm>
            <a:off x="7028688" y="1993392"/>
            <a:ext cx="1371600" cy="256032"/>
          </a:xfrm>
          <a:prstGeom prst="rect">
            <a:avLst/>
          </a:prstGeom>
          <a:noFill/>
        </p:spPr>
        <p:txBody>
          <a:bodyPr wrap="square" lIns="0" rIns="0" tIns="0" bIns="0" anchor="t"/>
          <a:lstStyle/>
          <a:p>
            <a:pPr algn="ctr"/>
            <a:r>
              <a:rPr sz="1100" b="1" i="0">
                <a:solidFill>
                  <a:srgbClr val="C00000"/>
                </a:solidFill>
                <a:latin typeface="Open Sans"/>
              </a:rPr>
              <a:t>5</a:t>
            </a:r>
          </a:p>
        </p:txBody>
      </p:sp>
      <p:cxnSp>
        <p:nvCxnSpPr>
          <p:cNvPr id="31" name="Connector 30"/>
          <p:cNvCxnSpPr/>
          <p:nvPr/>
        </p:nvCxnSpPr>
        <p:spPr>
          <a:xfrm>
            <a:off x="8427720" y="2857500"/>
            <a:ext cx="193548"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714488" y="3456432"/>
            <a:ext cx="0" cy="228600"/>
          </a:xfrm>
          <a:prstGeom prst="line">
            <a:avLst/>
          </a:prstGeom>
          <a:ln w="12700">
            <a:solidFill>
              <a:srgbClr val="BFBFBF"/>
            </a:solidFill>
            <a:prstDash val="dash"/>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982968" y="3721608"/>
            <a:ext cx="1463040" cy="502920"/>
          </a:xfrm>
          <a:prstGeom prst="rect">
            <a:avLst/>
          </a:prstGeom>
          <a:noFill/>
        </p:spPr>
        <p:txBody>
          <a:bodyPr wrap="square" lIns="0" rIns="0" tIns="0" bIns="0" anchor="t"/>
          <a:lstStyle/>
          <a:p>
            <a:pPr algn="ctr"/>
            <a:r>
              <a:rPr sz="1000" b="0" i="0">
                <a:solidFill>
                  <a:srgbClr val="595959"/>
                </a:solidFill>
                <a:latin typeface="Open Sans"/>
              </a:rPr>
              <a:t>осадки CaCO</a:t>
            </a:r>
            <a:r>
              <a:rPr sz="1000" b="0" i="0" baseline="-25000">
                <a:solidFill>
                  <a:srgbClr val="595959"/>
                </a:solidFill>
                <a:latin typeface="Open Sans"/>
              </a:rPr>
              <a:t>3</a:t>
            </a:r>
            <a:r>
              <a:rPr sz="1000" b="0" i="0">
                <a:solidFill>
                  <a:srgbClr val="595959"/>
                </a:solidFill>
                <a:latin typeface="Open Sans"/>
              </a:rPr>
              <a:t>, Mg(OH)</a:t>
            </a:r>
            <a:r>
              <a:rPr sz="1000" b="0" i="0" baseline="-25000">
                <a:solidFill>
                  <a:srgbClr val="595959"/>
                </a:solidFill>
                <a:latin typeface="Open Sans"/>
              </a:rPr>
              <a:t>2</a:t>
            </a:r>
          </a:p>
        </p:txBody>
      </p:sp>
      <p:sp>
        <p:nvSpPr>
          <p:cNvPr id="34" name="Rectangle 33"/>
          <p:cNvSpPr/>
          <p:nvPr/>
        </p:nvSpPr>
        <p:spPr>
          <a:xfrm>
            <a:off x="8648700" y="2286000"/>
            <a:ext cx="1371600" cy="11430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703564" y="2286000"/>
            <a:ext cx="1261872" cy="1143000"/>
          </a:xfrm>
          <a:prstGeom prst="rect">
            <a:avLst/>
          </a:prstGeom>
          <a:noFill/>
        </p:spPr>
        <p:txBody>
          <a:bodyPr wrap="square" lIns="0" rIns="0" tIns="0" bIns="0" anchor="ctr"/>
          <a:lstStyle/>
          <a:p>
            <a:pPr algn="ctr"/>
            <a:r>
              <a:rPr sz="1100" b="0" i="0">
                <a:solidFill>
                  <a:srgbClr val="262626"/>
                </a:solidFill>
                <a:latin typeface="Open Sans"/>
              </a:rPr>
              <a:t>Концентри­рование LiCl (ОО, выпаривание)</a:t>
            </a:r>
          </a:p>
        </p:txBody>
      </p:sp>
      <p:sp>
        <p:nvSpPr>
          <p:cNvPr id="36" name="TextBox 35"/>
          <p:cNvSpPr txBox="1"/>
          <p:nvPr/>
        </p:nvSpPr>
        <p:spPr>
          <a:xfrm>
            <a:off x="8648700" y="1993392"/>
            <a:ext cx="1371600" cy="256032"/>
          </a:xfrm>
          <a:prstGeom prst="rect">
            <a:avLst/>
          </a:prstGeom>
          <a:noFill/>
        </p:spPr>
        <p:txBody>
          <a:bodyPr wrap="square" lIns="0" rIns="0" tIns="0" bIns="0" anchor="t"/>
          <a:lstStyle/>
          <a:p>
            <a:pPr algn="ctr"/>
            <a:r>
              <a:rPr sz="1100" b="1" i="0">
                <a:solidFill>
                  <a:srgbClr val="C00000"/>
                </a:solidFill>
                <a:latin typeface="Open Sans"/>
              </a:rPr>
              <a:t>6</a:t>
            </a:r>
          </a:p>
        </p:txBody>
      </p:sp>
      <p:cxnSp>
        <p:nvCxnSpPr>
          <p:cNvPr id="37" name="Connector 36"/>
          <p:cNvCxnSpPr/>
          <p:nvPr/>
        </p:nvCxnSpPr>
        <p:spPr>
          <a:xfrm>
            <a:off x="10047732" y="2857500"/>
            <a:ext cx="193548"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334500" y="3456432"/>
            <a:ext cx="0" cy="228600"/>
          </a:xfrm>
          <a:prstGeom prst="line">
            <a:avLst/>
          </a:prstGeom>
          <a:ln w="12700">
            <a:solidFill>
              <a:srgbClr val="BFBFBF"/>
            </a:solidFill>
            <a:prstDash val="dash"/>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602980" y="3721608"/>
            <a:ext cx="1463040" cy="502920"/>
          </a:xfrm>
          <a:prstGeom prst="rect">
            <a:avLst/>
          </a:prstGeom>
          <a:noFill/>
        </p:spPr>
        <p:txBody>
          <a:bodyPr wrap="square" lIns="0" rIns="0" tIns="0" bIns="0" anchor="t"/>
          <a:lstStyle/>
          <a:p>
            <a:pPr algn="ctr"/>
            <a:r>
              <a:rPr sz="1000" b="0" i="0">
                <a:solidFill>
                  <a:srgbClr val="595959"/>
                </a:solidFill>
                <a:latin typeface="Open Sans"/>
              </a:rPr>
              <a:t>пермеат → десорбция</a:t>
            </a:r>
          </a:p>
        </p:txBody>
      </p:sp>
      <p:sp>
        <p:nvSpPr>
          <p:cNvPr id="40" name="Rectangle 39"/>
          <p:cNvSpPr/>
          <p:nvPr/>
        </p:nvSpPr>
        <p:spPr>
          <a:xfrm>
            <a:off x="10268712" y="2286000"/>
            <a:ext cx="1371600" cy="1143000"/>
          </a:xfrm>
          <a:prstGeom prst="rect">
            <a:avLst/>
          </a:prstGeom>
          <a:solidFill>
            <a:srgbClr val="C00000"/>
          </a:solidFill>
          <a:ln w="95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0323576" y="2286000"/>
            <a:ext cx="1261872" cy="1143000"/>
          </a:xfrm>
          <a:prstGeom prst="rect">
            <a:avLst/>
          </a:prstGeom>
          <a:noFill/>
        </p:spPr>
        <p:txBody>
          <a:bodyPr wrap="square" lIns="0" rIns="0" tIns="0" bIns="0" anchor="ctr"/>
          <a:lstStyle/>
          <a:p>
            <a:pPr algn="ctr"/>
            <a:r>
              <a:rPr sz="1100" b="1" i="0">
                <a:solidFill>
                  <a:srgbClr val="FFFFFF"/>
                </a:solidFill>
                <a:latin typeface="Open Sans"/>
              </a:rPr>
              <a:t>Осаждение Li</a:t>
            </a:r>
            <a:r>
              <a:rPr sz="1100" b="1" i="0" baseline="-25000">
                <a:solidFill>
                  <a:srgbClr val="FFFFFF"/>
                </a:solidFill>
                <a:latin typeface="Open Sans"/>
              </a:rPr>
              <a:t>2</a:t>
            </a:r>
            <a:r>
              <a:rPr sz="1100" b="1" i="0">
                <a:solidFill>
                  <a:srgbClr val="FFFFFF"/>
                </a:solidFill>
                <a:latin typeface="Open Sans"/>
              </a:rPr>
              <a:t>CO</a:t>
            </a:r>
            <a:r>
              <a:rPr sz="1100" b="1" i="0" baseline="-25000">
                <a:solidFill>
                  <a:srgbClr val="FFFFFF"/>
                </a:solidFill>
                <a:latin typeface="Open Sans"/>
              </a:rPr>
              <a:t>3</a:t>
            </a:r>
            <a:r>
              <a:rPr sz="1100" b="1" i="0">
                <a:solidFill>
                  <a:srgbClr val="FFFFFF"/>
                </a:solidFill>
                <a:latin typeface="Open Sans"/>
              </a:rPr>
              <a:t> содой</a:t>
            </a:r>
          </a:p>
        </p:txBody>
      </p:sp>
      <p:sp>
        <p:nvSpPr>
          <p:cNvPr id="42" name="TextBox 41"/>
          <p:cNvSpPr txBox="1"/>
          <p:nvPr/>
        </p:nvSpPr>
        <p:spPr>
          <a:xfrm>
            <a:off x="10268712" y="1993392"/>
            <a:ext cx="1371600" cy="256032"/>
          </a:xfrm>
          <a:prstGeom prst="rect">
            <a:avLst/>
          </a:prstGeom>
          <a:noFill/>
        </p:spPr>
        <p:txBody>
          <a:bodyPr wrap="square" lIns="0" rIns="0" tIns="0" bIns="0" anchor="t"/>
          <a:lstStyle/>
          <a:p>
            <a:pPr algn="ctr"/>
            <a:r>
              <a:rPr sz="1100" b="1" i="0">
                <a:solidFill>
                  <a:srgbClr val="C00000"/>
                </a:solidFill>
                <a:latin typeface="Open Sans"/>
              </a:rPr>
              <a:t>7</a:t>
            </a:r>
          </a:p>
        </p:txBody>
      </p:sp>
      <p:cxnSp>
        <p:nvCxnSpPr>
          <p:cNvPr id="43" name="Connector 42"/>
          <p:cNvCxnSpPr/>
          <p:nvPr/>
        </p:nvCxnSpPr>
        <p:spPr>
          <a:xfrm>
            <a:off x="10954512" y="3456432"/>
            <a:ext cx="0" cy="228600"/>
          </a:xfrm>
          <a:prstGeom prst="line">
            <a:avLst/>
          </a:prstGeom>
          <a:ln w="12700">
            <a:solidFill>
              <a:srgbClr val="BFBFBF"/>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222992" y="3721608"/>
            <a:ext cx="1463040" cy="502920"/>
          </a:xfrm>
          <a:prstGeom prst="rect">
            <a:avLst/>
          </a:prstGeom>
          <a:noFill/>
        </p:spPr>
        <p:txBody>
          <a:bodyPr wrap="square" lIns="0" rIns="0" tIns="0" bIns="0" anchor="t"/>
          <a:lstStyle/>
          <a:p>
            <a:pPr algn="ctr"/>
            <a:r>
              <a:rPr sz="1000" b="0" i="0">
                <a:solidFill>
                  <a:srgbClr val="595959"/>
                </a:solidFill>
                <a:latin typeface="Open Sans"/>
              </a:rPr>
              <a:t>маточный раствор → стадия 6</a:t>
            </a:r>
          </a:p>
        </p:txBody>
      </p:sp>
      <p:sp>
        <p:nvSpPr>
          <p:cNvPr id="45" name="TextBox 44"/>
          <p:cNvSpPr txBox="1"/>
          <p:nvPr/>
        </p:nvSpPr>
        <p:spPr>
          <a:xfrm>
            <a:off x="548640" y="4160520"/>
            <a:ext cx="11091672" cy="320040"/>
          </a:xfrm>
          <a:prstGeom prst="rect">
            <a:avLst/>
          </a:prstGeom>
          <a:noFill/>
        </p:spPr>
        <p:txBody>
          <a:bodyPr wrap="square" lIns="0" rIns="0" tIns="0" bIns="0" anchor="t"/>
          <a:lstStyle/>
          <a:p>
            <a:pPr algn="l"/>
            <a:r>
              <a:rPr sz="1400" b="1" i="0">
                <a:solidFill>
                  <a:srgbClr val="262626"/>
                </a:solidFill>
                <a:latin typeface="Open Sans"/>
              </a:rPr>
              <a:t>Опытная колонна ДГАЛ-Cl на рассоле с 349 г/л MgCl₂ (Менжерес и др., 2004)</a:t>
            </a:r>
          </a:p>
        </p:txBody>
      </p:sp>
      <p:sp>
        <p:nvSpPr>
          <p:cNvPr id="46" name="TextBox 45"/>
          <p:cNvSpPr txBox="1"/>
          <p:nvPr/>
        </p:nvSpPr>
        <p:spPr>
          <a:xfrm>
            <a:off x="548640" y="4526280"/>
            <a:ext cx="2544318" cy="502920"/>
          </a:xfrm>
          <a:prstGeom prst="rect">
            <a:avLst/>
          </a:prstGeom>
          <a:noFill/>
        </p:spPr>
        <p:txBody>
          <a:bodyPr wrap="square" lIns="0" rIns="0" tIns="0" bIns="0" anchor="b"/>
          <a:lstStyle/>
          <a:p>
            <a:pPr algn="l"/>
            <a:r>
              <a:rPr sz="2400" b="1" i="0">
                <a:solidFill>
                  <a:srgbClr val="C00000"/>
                </a:solidFill>
                <a:latin typeface="Open Sans"/>
              </a:rPr>
              <a:t>3,6 г/кг</a:t>
            </a:r>
          </a:p>
        </p:txBody>
      </p:sp>
      <p:sp>
        <p:nvSpPr>
          <p:cNvPr id="47" name="TextBox 46"/>
          <p:cNvSpPr txBox="1"/>
          <p:nvPr/>
        </p:nvSpPr>
        <p:spPr>
          <a:xfrm>
            <a:off x="548640" y="5093208"/>
            <a:ext cx="2544318" cy="640080"/>
          </a:xfrm>
          <a:prstGeom prst="rect">
            <a:avLst/>
          </a:prstGeom>
          <a:noFill/>
        </p:spPr>
        <p:txBody>
          <a:bodyPr wrap="square" lIns="0" rIns="0" tIns="0" bIns="0" anchor="t"/>
          <a:lstStyle/>
          <a:p>
            <a:pPr algn="l"/>
            <a:r>
              <a:rPr sz="1200" b="0" i="0">
                <a:solidFill>
                  <a:srgbClr val="595959"/>
                </a:solidFill>
                <a:latin typeface="Open Sans"/>
              </a:rPr>
              <a:t>динамическая емкость (51 % статической)</a:t>
            </a:r>
          </a:p>
        </p:txBody>
      </p:sp>
      <p:sp>
        <p:nvSpPr>
          <p:cNvPr id="48" name="TextBox 47"/>
          <p:cNvSpPr txBox="1"/>
          <p:nvPr/>
        </p:nvSpPr>
        <p:spPr>
          <a:xfrm>
            <a:off x="3321558" y="4526280"/>
            <a:ext cx="2544318" cy="502920"/>
          </a:xfrm>
          <a:prstGeom prst="rect">
            <a:avLst/>
          </a:prstGeom>
          <a:noFill/>
        </p:spPr>
        <p:txBody>
          <a:bodyPr wrap="square" lIns="0" rIns="0" tIns="0" bIns="0" anchor="b"/>
          <a:lstStyle/>
          <a:p>
            <a:pPr algn="l"/>
            <a:r>
              <a:rPr sz="2400" b="1" i="0">
                <a:solidFill>
                  <a:srgbClr val="C00000"/>
                </a:solidFill>
                <a:latin typeface="Open Sans"/>
              </a:rPr>
              <a:t>80 %</a:t>
            </a:r>
          </a:p>
        </p:txBody>
      </p:sp>
      <p:sp>
        <p:nvSpPr>
          <p:cNvPr id="49" name="TextBox 48"/>
          <p:cNvSpPr txBox="1"/>
          <p:nvPr/>
        </p:nvSpPr>
        <p:spPr>
          <a:xfrm>
            <a:off x="3321558" y="5093208"/>
            <a:ext cx="2544318" cy="640080"/>
          </a:xfrm>
          <a:prstGeom prst="rect">
            <a:avLst/>
          </a:prstGeom>
          <a:noFill/>
        </p:spPr>
        <p:txBody>
          <a:bodyPr wrap="square" lIns="0" rIns="0" tIns="0" bIns="0" anchor="t"/>
          <a:lstStyle/>
          <a:p>
            <a:pPr algn="l"/>
            <a:r>
              <a:rPr sz="1200" b="0" i="0">
                <a:solidFill>
                  <a:srgbClr val="595959"/>
                </a:solidFill>
                <a:latin typeface="Open Sans"/>
              </a:rPr>
              <a:t>извлечение лития на стадии сорбции</a:t>
            </a:r>
          </a:p>
        </p:txBody>
      </p:sp>
      <p:sp>
        <p:nvSpPr>
          <p:cNvPr id="50" name="TextBox 49"/>
          <p:cNvSpPr txBox="1"/>
          <p:nvPr/>
        </p:nvSpPr>
        <p:spPr>
          <a:xfrm>
            <a:off x="6094476" y="4526280"/>
            <a:ext cx="2544318" cy="502920"/>
          </a:xfrm>
          <a:prstGeom prst="rect">
            <a:avLst/>
          </a:prstGeom>
          <a:noFill/>
        </p:spPr>
        <p:txBody>
          <a:bodyPr wrap="square" lIns="0" rIns="0" tIns="0" bIns="0" anchor="b"/>
          <a:lstStyle/>
          <a:p>
            <a:pPr algn="l"/>
            <a:r>
              <a:rPr sz="2400" b="1" i="0">
                <a:solidFill>
                  <a:srgbClr val="C00000"/>
                </a:solidFill>
                <a:latin typeface="Open Sans"/>
              </a:rPr>
              <a:t>93 → 1,3–2,3</a:t>
            </a:r>
          </a:p>
        </p:txBody>
      </p:sp>
      <p:sp>
        <p:nvSpPr>
          <p:cNvPr id="51" name="TextBox 50"/>
          <p:cNvSpPr txBox="1"/>
          <p:nvPr/>
        </p:nvSpPr>
        <p:spPr>
          <a:xfrm>
            <a:off x="6094476" y="5093208"/>
            <a:ext cx="2544318" cy="640080"/>
          </a:xfrm>
          <a:prstGeom prst="rect">
            <a:avLst/>
          </a:prstGeom>
          <a:noFill/>
        </p:spPr>
        <p:txBody>
          <a:bodyPr wrap="square" lIns="0" rIns="0" tIns="0" bIns="0" anchor="t"/>
          <a:lstStyle/>
          <a:p>
            <a:pPr algn="l"/>
            <a:r>
              <a:rPr sz="1200" b="0" i="0">
                <a:solidFill>
                  <a:srgbClr val="595959"/>
                </a:solidFill>
                <a:latin typeface="Open Sans"/>
              </a:rPr>
              <a:t>отношение (Ca+Mg)/Li: снижение в 40–70 раз</a:t>
            </a:r>
          </a:p>
        </p:txBody>
      </p:sp>
      <p:sp>
        <p:nvSpPr>
          <p:cNvPr id="52" name="TextBox 51"/>
          <p:cNvSpPr txBox="1"/>
          <p:nvPr/>
        </p:nvSpPr>
        <p:spPr>
          <a:xfrm>
            <a:off x="8867394" y="4526280"/>
            <a:ext cx="2544318" cy="502920"/>
          </a:xfrm>
          <a:prstGeom prst="rect">
            <a:avLst/>
          </a:prstGeom>
          <a:noFill/>
        </p:spPr>
        <p:txBody>
          <a:bodyPr wrap="square" lIns="0" rIns="0" tIns="0" bIns="0" anchor="b"/>
          <a:lstStyle/>
          <a:p>
            <a:pPr algn="l"/>
            <a:r>
              <a:rPr sz="2400" b="1" i="0">
                <a:solidFill>
                  <a:srgbClr val="C00000"/>
                </a:solidFill>
                <a:latin typeface="Open Sans"/>
              </a:rPr>
              <a:t>99,6 %</a:t>
            </a:r>
          </a:p>
        </p:txBody>
      </p:sp>
      <p:sp>
        <p:nvSpPr>
          <p:cNvPr id="53" name="TextBox 52"/>
          <p:cNvSpPr txBox="1"/>
          <p:nvPr/>
        </p:nvSpPr>
        <p:spPr>
          <a:xfrm>
            <a:off x="8867394" y="5093208"/>
            <a:ext cx="2544318" cy="640080"/>
          </a:xfrm>
          <a:prstGeom prst="rect">
            <a:avLst/>
          </a:prstGeom>
          <a:noFill/>
        </p:spPr>
        <p:txBody>
          <a:bodyPr wrap="square" lIns="0" rIns="0" tIns="0" bIns="0" anchor="t"/>
          <a:lstStyle/>
          <a:p>
            <a:pPr algn="l"/>
            <a:r>
              <a:rPr sz="1200" b="0" i="0">
                <a:solidFill>
                  <a:srgbClr val="595959"/>
                </a:solidFill>
                <a:latin typeface="Open Sans"/>
              </a:rPr>
              <a:t>чистота Li</a:t>
            </a:r>
            <a:r>
              <a:rPr sz="1200" b="0" i="0" baseline="-25000">
                <a:solidFill>
                  <a:srgbClr val="595959"/>
                </a:solidFill>
                <a:latin typeface="Open Sans"/>
              </a:rPr>
              <a:t>2</a:t>
            </a:r>
            <a:r>
              <a:rPr sz="1200" b="0" i="0">
                <a:solidFill>
                  <a:srgbClr val="595959"/>
                </a:solidFill>
                <a:latin typeface="Open Sans"/>
              </a:rPr>
              <a:t>CO</a:t>
            </a:r>
            <a:r>
              <a:rPr sz="1200" b="0" i="0" baseline="-25000">
                <a:solidFill>
                  <a:srgbClr val="595959"/>
                </a:solidFill>
                <a:latin typeface="Open Sans"/>
              </a:rPr>
              <a:t>3</a:t>
            </a:r>
            <a:r>
              <a:rPr sz="1200" b="0" i="0">
                <a:solidFill>
                  <a:srgbClr val="595959"/>
                </a:solidFill>
                <a:latin typeface="Open Sans"/>
              </a:rPr>
              <a:t> после очистки элюата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61872"/>
            <a:ext cx="11091672" cy="640080"/>
          </a:xfrm>
          <a:prstGeom prst="rect">
            <a:avLst/>
          </a:prstGeom>
          <a:noFill/>
        </p:spPr>
        <p:txBody>
          <a:bodyPr wrap="square" lIns="0" rIns="0" tIns="0" bIns="0" anchor="t"/>
          <a:lstStyle/>
          <a:p>
            <a:pPr algn="l"/>
            <a:r>
              <a:rPr sz="2400" b="1" i="0">
                <a:solidFill>
                  <a:srgbClr val="C00000"/>
                </a:solidFill>
                <a:latin typeface="Open Sans"/>
              </a:rPr>
              <a:t>Материальный баланс: сквозное извлечение 0,44–0,78</a:t>
            </a:r>
          </a:p>
        </p:txBody>
      </p:sp>
      <p:sp>
        <p:nvSpPr>
          <p:cNvPr id="3" name="TextBox 2"/>
          <p:cNvSpPr txBox="1"/>
          <p:nvPr/>
        </p:nvSpPr>
        <p:spPr>
          <a:xfrm>
            <a:off x="548640" y="6382512"/>
            <a:ext cx="1371600" cy="228600"/>
          </a:xfrm>
          <a:prstGeom prst="rect">
            <a:avLst/>
          </a:prstGeom>
          <a:noFill/>
        </p:spPr>
        <p:txBody>
          <a:bodyPr wrap="square" lIns="0" rIns="0" tIns="0" bIns="0" anchor="t"/>
          <a:lstStyle/>
          <a:p>
            <a:pPr algn="l"/>
            <a:r>
              <a:rPr sz="1000" b="0" i="0">
                <a:solidFill>
                  <a:srgbClr val="8C8C8C"/>
                </a:solidFill>
                <a:latin typeface="Open Sans"/>
              </a:rPr>
              <a:t>10 / 16</a:t>
            </a:r>
          </a:p>
        </p:txBody>
      </p:sp>
      <p:sp>
        <p:nvSpPr>
          <p:cNvPr id="4" name="TextBox 3"/>
          <p:cNvSpPr txBox="1"/>
          <p:nvPr/>
        </p:nvSpPr>
        <p:spPr>
          <a:xfrm>
            <a:off x="548640" y="5943600"/>
            <a:ext cx="9052560" cy="365760"/>
          </a:xfrm>
          <a:prstGeom prst="rect">
            <a:avLst/>
          </a:prstGeom>
          <a:noFill/>
        </p:spPr>
        <p:txBody>
          <a:bodyPr wrap="square" lIns="0" rIns="0" tIns="0" bIns="0" anchor="t"/>
          <a:lstStyle/>
          <a:p>
            <a:pPr algn="l"/>
            <a:r>
              <a:rPr sz="900" b="0" i="1">
                <a:solidFill>
                  <a:srgbClr val="8C8C8C"/>
                </a:solidFill>
                <a:latin typeface="Open Sans"/>
              </a:rPr>
              <a:t>Расчет авторов; η</a:t>
            </a:r>
            <a:r>
              <a:rPr sz="900" b="0" i="1" baseline="-25000">
                <a:solidFill>
                  <a:srgbClr val="8C8C8C"/>
                </a:solidFill>
                <a:latin typeface="Open Sans"/>
              </a:rPr>
              <a:t>sorp</a:t>
            </a:r>
            <a:r>
              <a:rPr sz="900" b="0" i="1">
                <a:solidFill>
                  <a:srgbClr val="8C8C8C"/>
                </a:solidFill>
                <a:latin typeface="Open Sans"/>
              </a:rPr>
              <a:t>, η</a:t>
            </a:r>
            <a:r>
              <a:rPr sz="900" b="0" i="1" baseline="-25000">
                <a:solidFill>
                  <a:srgbClr val="8C8C8C"/>
                </a:solidFill>
                <a:latin typeface="Open Sans"/>
              </a:rPr>
              <a:t>des</a:t>
            </a:r>
            <a:r>
              <a:rPr sz="900" b="0" i="1">
                <a:solidFill>
                  <a:srgbClr val="8C8C8C"/>
                </a:solidFill>
                <a:latin typeface="Open Sans"/>
              </a:rPr>
              <a:t> — по Knapik et al., 2023; Менжерес и др., 2004; остальные параметры — допущения</a:t>
            </a:r>
          </a:p>
        </p:txBody>
      </p:sp>
      <p:graphicFrame>
        <p:nvGraphicFramePr>
          <p:cNvPr id="5" name="Table 4"/>
          <p:cNvGraphicFramePr>
            <a:graphicFrameLocks noGrp="1"/>
          </p:cNvGraphicFramePr>
          <p:nvPr/>
        </p:nvGraphicFramePr>
        <p:xfrm>
          <a:off x="548640" y="2011680"/>
          <a:ext cx="6126480" cy="3739896"/>
        </p:xfrm>
        <a:graphic>
          <a:graphicData uri="http://schemas.openxmlformats.org/drawingml/2006/table">
            <a:tbl>
              <a:tblPr>
                <a:tableStyleId>{5C22544A-7EE6-4342-B048-85BDC9FD1C3A}</a:tableStyleId>
              </a:tblPr>
              <a:tblGrid>
                <a:gridCol w="1920240"/>
                <a:gridCol w="1645920"/>
                <a:gridCol w="1005840"/>
                <a:gridCol w="1554480"/>
              </a:tblGrid>
              <a:tr h="411480">
                <a:tc>
                  <a:txBody>
                    <a:bodyPr wrap="square"/>
                    <a:lstStyle/>
                    <a:p>
                      <a:pPr algn="ctr"/>
                      <a:r>
                        <a:rPr sz="1200" b="1" i="0">
                          <a:solidFill>
                            <a:srgbClr val="262626"/>
                          </a:solidFill>
                          <a:latin typeface="Open Sans"/>
                        </a:rPr>
                        <a:t>Показатель</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00" b="1" i="0">
                          <a:solidFill>
                            <a:srgbClr val="262626"/>
                          </a:solidFill>
                          <a:latin typeface="Open Sans"/>
                        </a:rPr>
                        <a:t>Неблагоприятный</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00" b="1" i="0">
                          <a:solidFill>
                            <a:srgbClr val="262626"/>
                          </a:solidFill>
                          <a:latin typeface="Open Sans"/>
                        </a:rPr>
                        <a:t>Базовый</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200" b="1" i="0">
                          <a:solidFill>
                            <a:srgbClr val="262626"/>
                          </a:solidFill>
                          <a:latin typeface="Open Sans"/>
                        </a:rPr>
                        <a:t>Благоприятный</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r>
              <a:tr h="475488">
                <a:tc>
                  <a:txBody>
                    <a:bodyPr wrap="square"/>
                    <a:lstStyle/>
                    <a:p>
                      <a:pPr algn="l"/>
                      <a:r>
                        <a:rPr sz="1200" b="0" i="0">
                          <a:solidFill>
                            <a:srgbClr val="262626"/>
                          </a:solidFill>
                          <a:latin typeface="Open Sans"/>
                        </a:rPr>
                        <a:t>C</a:t>
                      </a:r>
                      <a:r>
                        <a:rPr sz="1200" b="0" i="0" baseline="-25000">
                          <a:solidFill>
                            <a:srgbClr val="262626"/>
                          </a:solidFill>
                          <a:latin typeface="Open Sans"/>
                        </a:rPr>
                        <a:t>Li</a:t>
                      </a:r>
                      <a:r>
                        <a:rPr sz="1200" b="0" i="0">
                          <a:solidFill>
                            <a:srgbClr val="262626"/>
                          </a:solidFill>
                          <a:latin typeface="Open Sans"/>
                        </a:rPr>
                        <a:t>, мг/л</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60</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200</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380</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475488">
                <a:tc>
                  <a:txBody>
                    <a:bodyPr wrap="square"/>
                    <a:lstStyle/>
                    <a:p>
                      <a:pPr algn="l"/>
                      <a:r>
                        <a:rPr sz="1200" b="0" i="0">
                          <a:solidFill>
                            <a:srgbClr val="262626"/>
                          </a:solidFill>
                          <a:latin typeface="Open Sans"/>
                        </a:rPr>
                        <a:t>Q, млн м</a:t>
                      </a:r>
                      <a:r>
                        <a:rPr sz="1200" b="0" i="0" baseline="30000">
                          <a:solidFill>
                            <a:srgbClr val="262626"/>
                          </a:solidFill>
                          <a:latin typeface="Open Sans"/>
                        </a:rPr>
                        <a:t>3</a:t>
                      </a:r>
                      <a:r>
                        <a:rPr sz="1200" b="0" i="0">
                          <a:solidFill>
                            <a:srgbClr val="262626"/>
                          </a:solidFill>
                          <a:latin typeface="Open Sans"/>
                        </a:rPr>
                        <a:t>/год</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0,44</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1,50</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3,00</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475488">
                <a:tc>
                  <a:txBody>
                    <a:bodyPr wrap="square"/>
                    <a:lstStyle/>
                    <a:p>
                      <a:pPr algn="l"/>
                      <a:r>
                        <a:rPr sz="1200" b="0" i="0">
                          <a:solidFill>
                            <a:srgbClr val="262626"/>
                          </a:solidFill>
                          <a:latin typeface="Open Sans"/>
                        </a:rPr>
                        <a:t>Ресурс сорбента N, циклов</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200</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500</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1000</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475488">
                <a:tc>
                  <a:txBody>
                    <a:bodyPr wrap="square"/>
                    <a:lstStyle/>
                    <a:p>
                      <a:pPr algn="l"/>
                      <a:r>
                        <a:rPr sz="1200" b="0" i="0">
                          <a:solidFill>
                            <a:srgbClr val="262626"/>
                          </a:solidFill>
                          <a:latin typeface="Open Sans"/>
                        </a:rPr>
                        <a:t>Сквозное извлечение η</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0,44</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0,61</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0,78</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475488">
                <a:tc>
                  <a:txBody>
                    <a:bodyPr wrap="square"/>
                    <a:lstStyle/>
                    <a:p>
                      <a:pPr algn="l"/>
                      <a:r>
                        <a:rPr sz="1200" b="0" i="0">
                          <a:solidFill>
                            <a:srgbClr val="262626"/>
                          </a:solidFill>
                          <a:latin typeface="Open Sans"/>
                        </a:rPr>
                        <a:t>Li</a:t>
                      </a:r>
                      <a:r>
                        <a:rPr sz="1200" b="0" i="0" baseline="-25000">
                          <a:solidFill>
                            <a:srgbClr val="262626"/>
                          </a:solidFill>
                          <a:latin typeface="Open Sans"/>
                        </a:rPr>
                        <a:t>2</a:t>
                      </a:r>
                      <a:r>
                        <a:rPr sz="1200" b="0" i="0">
                          <a:solidFill>
                            <a:srgbClr val="262626"/>
                          </a:solidFill>
                          <a:latin typeface="Open Sans"/>
                        </a:rPr>
                        <a:t>CO</a:t>
                      </a:r>
                      <a:r>
                        <a:rPr sz="1200" b="0" i="0" baseline="-25000">
                          <a:solidFill>
                            <a:srgbClr val="262626"/>
                          </a:solidFill>
                          <a:latin typeface="Open Sans"/>
                        </a:rPr>
                        <a:t>3</a:t>
                      </a:r>
                      <a:r>
                        <a:rPr sz="1200" b="0" i="0">
                          <a:solidFill>
                            <a:srgbClr val="262626"/>
                          </a:solidFill>
                          <a:latin typeface="Open Sans"/>
                        </a:rPr>
                        <a:t>, т/год</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62</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980</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4720</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475488">
                <a:tc>
                  <a:txBody>
                    <a:bodyPr wrap="square"/>
                    <a:lstStyle/>
                    <a:p>
                      <a:pPr algn="l"/>
                      <a:r>
                        <a:rPr sz="1200" b="0" i="0">
                          <a:solidFill>
                            <a:srgbClr val="262626"/>
                          </a:solidFill>
                          <a:latin typeface="Open Sans"/>
                        </a:rPr>
                        <a:t>Na</a:t>
                      </a:r>
                      <a:r>
                        <a:rPr sz="1200" b="0" i="0" baseline="-25000">
                          <a:solidFill>
                            <a:srgbClr val="262626"/>
                          </a:solidFill>
                          <a:latin typeface="Open Sans"/>
                        </a:rPr>
                        <a:t>2</a:t>
                      </a:r>
                      <a:r>
                        <a:rPr sz="1200" b="0" i="0">
                          <a:solidFill>
                            <a:srgbClr val="262626"/>
                          </a:solidFill>
                          <a:latin typeface="Open Sans"/>
                        </a:rPr>
                        <a:t>CO</a:t>
                      </a:r>
                      <a:r>
                        <a:rPr sz="1200" b="0" i="0" baseline="-25000">
                          <a:solidFill>
                            <a:srgbClr val="262626"/>
                          </a:solidFill>
                          <a:latin typeface="Open Sans"/>
                        </a:rPr>
                        <a:t>3</a:t>
                      </a:r>
                      <a:r>
                        <a:rPr sz="1200" b="0" i="0">
                          <a:solidFill>
                            <a:srgbClr val="262626"/>
                          </a:solidFill>
                          <a:latin typeface="Open Sans"/>
                        </a:rPr>
                        <a:t>, т/год</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112</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1757</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ctr"/>
                      <a:r>
                        <a:rPr sz="1200" b="0" i="0">
                          <a:solidFill>
                            <a:srgbClr val="262626"/>
                          </a:solidFill>
                          <a:latin typeface="Open Sans"/>
                        </a:rPr>
                        <a:t>8461</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475488">
                <a:tc>
                  <a:txBody>
                    <a:bodyPr wrap="square"/>
                    <a:lstStyle/>
                    <a:p>
                      <a:pPr algn="l"/>
                      <a:r>
                        <a:rPr sz="1200" b="1" i="0">
                          <a:solidFill>
                            <a:srgbClr val="262626"/>
                          </a:solidFill>
                          <a:latin typeface="Open Sans"/>
                        </a:rPr>
                        <a:t>Удельные затраты, тыс. долл./т</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BEFEF"/>
                    </a:solidFill>
                  </a:tcPr>
                </a:tc>
                <a:tc>
                  <a:txBody>
                    <a:bodyPr wrap="square"/>
                    <a:lstStyle/>
                    <a:p>
                      <a:pPr algn="ctr"/>
                      <a:r>
                        <a:rPr sz="1200" b="0" i="0">
                          <a:solidFill>
                            <a:srgbClr val="262626"/>
                          </a:solidFill>
                          <a:latin typeface="Open Sans"/>
                        </a:rPr>
                        <a:t>62,1</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BEFEF"/>
                    </a:solidFill>
                  </a:tcPr>
                </a:tc>
                <a:tc>
                  <a:txBody>
                    <a:bodyPr wrap="square"/>
                    <a:lstStyle/>
                    <a:p>
                      <a:pPr algn="ctr"/>
                      <a:r>
                        <a:rPr sz="1200" b="0" i="0">
                          <a:solidFill>
                            <a:srgbClr val="262626"/>
                          </a:solidFill>
                          <a:latin typeface="Open Sans"/>
                        </a:rPr>
                        <a:t>11,2</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BEFEF"/>
                    </a:solidFill>
                  </a:tcPr>
                </a:tc>
                <a:tc>
                  <a:txBody>
                    <a:bodyPr wrap="square"/>
                    <a:lstStyle/>
                    <a:p>
                      <a:pPr algn="ctr"/>
                      <a:r>
                        <a:rPr sz="1200" b="0" i="0">
                          <a:solidFill>
                            <a:srgbClr val="262626"/>
                          </a:solidFill>
                          <a:latin typeface="Open Sans"/>
                        </a:rPr>
                        <a:t>4,7</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BEFEF"/>
                    </a:solidFill>
                  </a:tcPr>
                </a:tc>
              </a:tr>
            </a:tbl>
          </a:graphicData>
        </a:graphic>
      </p:graphicFrame>
      <p:sp>
        <p:nvSpPr>
          <p:cNvPr id="6" name="TextBox 5"/>
          <p:cNvSpPr txBox="1"/>
          <p:nvPr/>
        </p:nvSpPr>
        <p:spPr>
          <a:xfrm>
            <a:off x="7086600" y="2011680"/>
            <a:ext cx="4572000" cy="320040"/>
          </a:xfrm>
          <a:prstGeom prst="rect">
            <a:avLst/>
          </a:prstGeom>
          <a:noFill/>
        </p:spPr>
        <p:txBody>
          <a:bodyPr wrap="square" lIns="0" rIns="0" tIns="0" bIns="0" anchor="t"/>
          <a:lstStyle/>
          <a:p>
            <a:pPr algn="l"/>
            <a:r>
              <a:rPr sz="1400" b="1" i="0">
                <a:solidFill>
                  <a:srgbClr val="262626"/>
                </a:solidFill>
                <a:latin typeface="Open Sans"/>
              </a:rPr>
              <a:t>Базовый сценарий: 300 т Li/год, т</a:t>
            </a:r>
          </a:p>
        </p:txBody>
      </p:sp>
      <p:graphicFrame>
        <p:nvGraphicFramePr>
          <p:cNvPr id="7" name="Chart 6"/>
          <p:cNvGraphicFramePr>
            <a:graphicFrameLocks noGrp="1"/>
          </p:cNvGraphicFramePr>
          <p:nvPr/>
        </p:nvGraphicFramePr>
        <p:xfrm>
          <a:off x="6949440" y="2377440"/>
          <a:ext cx="4709160" cy="3429000"/>
        </p:xfrm>
        <a:graphic>
          <a:graphicData uri="http://schemas.openxmlformats.org/drawingml/2006/chart">
            <c:chart xmlns:c="http://schemas.openxmlformats.org/drawingml/2006/chart" r:id="rId3"/>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61872"/>
            <a:ext cx="11091672" cy="640080"/>
          </a:xfrm>
          <a:prstGeom prst="rect">
            <a:avLst/>
          </a:prstGeom>
          <a:noFill/>
        </p:spPr>
        <p:txBody>
          <a:bodyPr wrap="square" lIns="0" rIns="0" tIns="0" bIns="0" anchor="t"/>
          <a:lstStyle/>
          <a:p>
            <a:pPr algn="l"/>
            <a:r>
              <a:rPr sz="2400" b="1" i="0">
                <a:solidFill>
                  <a:srgbClr val="C00000"/>
                </a:solidFill>
                <a:latin typeface="Open Sans"/>
              </a:rPr>
              <a:t>Пороговая концентрация лития зависит от объема воды и цены</a:t>
            </a:r>
          </a:p>
        </p:txBody>
      </p:sp>
      <p:sp>
        <p:nvSpPr>
          <p:cNvPr id="3" name="TextBox 2"/>
          <p:cNvSpPr txBox="1"/>
          <p:nvPr/>
        </p:nvSpPr>
        <p:spPr>
          <a:xfrm>
            <a:off x="548640" y="6382512"/>
            <a:ext cx="1371600" cy="228600"/>
          </a:xfrm>
          <a:prstGeom prst="rect">
            <a:avLst/>
          </a:prstGeom>
          <a:noFill/>
        </p:spPr>
        <p:txBody>
          <a:bodyPr wrap="square" lIns="0" rIns="0" tIns="0" bIns="0" anchor="t"/>
          <a:lstStyle/>
          <a:p>
            <a:pPr algn="l"/>
            <a:r>
              <a:rPr sz="1000" b="0" i="0">
                <a:solidFill>
                  <a:srgbClr val="8C8C8C"/>
                </a:solidFill>
                <a:latin typeface="Open Sans"/>
              </a:rPr>
              <a:t>11 / 16</a:t>
            </a:r>
          </a:p>
        </p:txBody>
      </p:sp>
      <p:sp>
        <p:nvSpPr>
          <p:cNvPr id="4" name="TextBox 3"/>
          <p:cNvSpPr txBox="1"/>
          <p:nvPr/>
        </p:nvSpPr>
        <p:spPr>
          <a:xfrm>
            <a:off x="548640" y="2011680"/>
            <a:ext cx="2743200" cy="274320"/>
          </a:xfrm>
          <a:prstGeom prst="rect">
            <a:avLst/>
          </a:prstGeom>
          <a:noFill/>
        </p:spPr>
        <p:txBody>
          <a:bodyPr wrap="square" lIns="0" rIns="0" tIns="0" bIns="0" anchor="t"/>
          <a:lstStyle/>
          <a:p>
            <a:pPr algn="l"/>
            <a:r>
              <a:rPr sz="1200" b="0" i="0">
                <a:solidFill>
                  <a:srgbClr val="595959"/>
                </a:solidFill>
                <a:latin typeface="Open Sans"/>
              </a:rPr>
              <a:t>C</a:t>
            </a:r>
            <a:r>
              <a:rPr sz="1200" b="0" i="0" baseline="-25000">
                <a:solidFill>
                  <a:srgbClr val="595959"/>
                </a:solidFill>
                <a:latin typeface="Open Sans"/>
              </a:rPr>
              <a:t>Li</a:t>
            </a:r>
            <a:r>
              <a:rPr sz="1200" b="0" i="0" baseline="30000">
                <a:solidFill>
                  <a:srgbClr val="595959"/>
                </a:solidFill>
                <a:latin typeface="Open Sans"/>
              </a:rPr>
              <a:t>*</a:t>
            </a:r>
            <a:r>
              <a:rPr sz="1200" b="0" i="0">
                <a:solidFill>
                  <a:srgbClr val="595959"/>
                </a:solidFill>
                <a:latin typeface="Open Sans"/>
              </a:rPr>
              <a:t>, мг/л</a:t>
            </a:r>
          </a:p>
        </p:txBody>
      </p:sp>
      <p:graphicFrame>
        <p:nvGraphicFramePr>
          <p:cNvPr id="5" name="Chart 4"/>
          <p:cNvGraphicFramePr>
            <a:graphicFrameLocks noGrp="1"/>
          </p:cNvGraphicFramePr>
          <p:nvPr/>
        </p:nvGraphicFramePr>
        <p:xfrm>
          <a:off x="457200" y="2240280"/>
          <a:ext cx="7223760" cy="3246120"/>
        </p:xfrm>
        <a:graphic>
          <a:graphicData uri="http://schemas.openxmlformats.org/drawingml/2006/chart">
            <c:chart xmlns:c="http://schemas.openxmlformats.org/drawingml/2006/chart" r:id="rId3"/>
          </a:graphicData>
        </a:graphic>
      </p:graphicFrame>
      <p:sp>
        <p:nvSpPr>
          <p:cNvPr id="6" name="TextBox 5"/>
          <p:cNvSpPr txBox="1"/>
          <p:nvPr/>
        </p:nvSpPr>
        <p:spPr>
          <a:xfrm>
            <a:off x="548640" y="5486400"/>
            <a:ext cx="7040880" cy="274320"/>
          </a:xfrm>
          <a:prstGeom prst="rect">
            <a:avLst/>
          </a:prstGeom>
          <a:noFill/>
        </p:spPr>
        <p:txBody>
          <a:bodyPr wrap="square" lIns="0" rIns="0" tIns="0" bIns="0" anchor="t"/>
          <a:lstStyle/>
          <a:p>
            <a:pPr algn="ctr"/>
            <a:r>
              <a:rPr sz="1200" b="0" i="0">
                <a:solidFill>
                  <a:srgbClr val="595959"/>
                </a:solidFill>
                <a:latin typeface="Open Sans"/>
              </a:rPr>
              <a:t>Объем попутной воды Q, млн м</a:t>
            </a:r>
            <a:r>
              <a:rPr sz="1200" b="0" i="0" baseline="30000">
                <a:solidFill>
                  <a:srgbClr val="595959"/>
                </a:solidFill>
                <a:latin typeface="Open Sans"/>
              </a:rPr>
              <a:t>3</a:t>
            </a:r>
            <a:r>
              <a:rPr sz="1200" b="0" i="0">
                <a:solidFill>
                  <a:srgbClr val="595959"/>
                </a:solidFill>
                <a:latin typeface="Open Sans"/>
              </a:rPr>
              <a:t>/год</a:t>
            </a:r>
          </a:p>
        </p:txBody>
      </p:sp>
      <p:sp>
        <p:nvSpPr>
          <p:cNvPr id="7" name="TextBox 6"/>
          <p:cNvSpPr txBox="1"/>
          <p:nvPr/>
        </p:nvSpPr>
        <p:spPr>
          <a:xfrm>
            <a:off x="7955279" y="2011680"/>
            <a:ext cx="3685032" cy="320040"/>
          </a:xfrm>
          <a:prstGeom prst="rect">
            <a:avLst/>
          </a:prstGeom>
          <a:noFill/>
        </p:spPr>
        <p:txBody>
          <a:bodyPr wrap="square" lIns="0" rIns="0" tIns="0" bIns="0" anchor="t"/>
          <a:lstStyle/>
          <a:p>
            <a:pPr algn="l"/>
            <a:r>
              <a:rPr sz="1400" b="1" i="0">
                <a:solidFill>
                  <a:srgbClr val="262626"/>
                </a:solidFill>
                <a:latin typeface="Open Sans"/>
              </a:rPr>
              <a:t>Положение объектов</a:t>
            </a:r>
          </a:p>
        </p:txBody>
      </p:sp>
      <p:sp>
        <p:nvSpPr>
          <p:cNvPr id="8" name="Rectangle 7"/>
          <p:cNvSpPr/>
          <p:nvPr/>
        </p:nvSpPr>
        <p:spPr>
          <a:xfrm>
            <a:off x="7955279" y="2423160"/>
            <a:ext cx="3685032" cy="103327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138159" y="2496312"/>
            <a:ext cx="3319272" cy="274320"/>
          </a:xfrm>
          <a:prstGeom prst="rect">
            <a:avLst/>
          </a:prstGeom>
          <a:noFill/>
        </p:spPr>
        <p:txBody>
          <a:bodyPr wrap="square" lIns="0" rIns="0" tIns="0" bIns="0" anchor="t"/>
          <a:lstStyle/>
          <a:p>
            <a:pPr algn="l"/>
            <a:r>
              <a:rPr sz="1300" b="1" i="0">
                <a:solidFill>
                  <a:srgbClr val="C00000"/>
                </a:solidFill>
                <a:latin typeface="Open Sans"/>
              </a:rPr>
              <a:t>Ярактинская УПН</a:t>
            </a:r>
          </a:p>
        </p:txBody>
      </p:sp>
      <p:sp>
        <p:nvSpPr>
          <p:cNvPr id="10" name="TextBox 9"/>
          <p:cNvSpPr txBox="1"/>
          <p:nvPr/>
        </p:nvSpPr>
        <p:spPr>
          <a:xfrm>
            <a:off x="8138159" y="2788920"/>
            <a:ext cx="3319272" cy="256032"/>
          </a:xfrm>
          <a:prstGeom prst="rect">
            <a:avLst/>
          </a:prstGeom>
          <a:noFill/>
        </p:spPr>
        <p:txBody>
          <a:bodyPr wrap="square" lIns="0" rIns="0" tIns="0" bIns="0" anchor="t"/>
          <a:lstStyle/>
          <a:p>
            <a:pPr algn="l"/>
            <a:r>
              <a:rPr sz="1100" b="0" i="0">
                <a:solidFill>
                  <a:srgbClr val="262626"/>
                </a:solidFill>
                <a:latin typeface="Open Sans"/>
              </a:rPr>
              <a:t>60 мг/л · 0,44 млн м</a:t>
            </a:r>
            <a:r>
              <a:rPr sz="1100" b="0" i="0" baseline="30000">
                <a:solidFill>
                  <a:srgbClr val="262626"/>
                </a:solidFill>
                <a:latin typeface="Open Sans"/>
              </a:rPr>
              <a:t>3</a:t>
            </a:r>
            <a:r>
              <a:rPr sz="1100" b="0" i="0">
                <a:solidFill>
                  <a:srgbClr val="262626"/>
                </a:solidFill>
                <a:latin typeface="Open Sans"/>
              </a:rPr>
              <a:t>/год</a:t>
            </a:r>
          </a:p>
        </p:txBody>
      </p:sp>
      <p:sp>
        <p:nvSpPr>
          <p:cNvPr id="11" name="TextBox 10"/>
          <p:cNvSpPr txBox="1"/>
          <p:nvPr/>
        </p:nvSpPr>
        <p:spPr>
          <a:xfrm>
            <a:off x="8138159" y="3044952"/>
            <a:ext cx="3319272" cy="384048"/>
          </a:xfrm>
          <a:prstGeom prst="rect">
            <a:avLst/>
          </a:prstGeom>
          <a:noFill/>
        </p:spPr>
        <p:txBody>
          <a:bodyPr wrap="square" lIns="0" rIns="0" tIns="0" bIns="0" anchor="t"/>
          <a:lstStyle/>
          <a:p>
            <a:pPr algn="l"/>
            <a:r>
              <a:rPr sz="1100" b="0" i="0">
                <a:solidFill>
                  <a:srgbClr val="595959"/>
                </a:solidFill>
                <a:latin typeface="Open Sans"/>
              </a:rPr>
              <a:t>порог 141 мг/л даже при 20 тыс. долл./т — нерентабельно</a:t>
            </a:r>
          </a:p>
        </p:txBody>
      </p:sp>
      <p:sp>
        <p:nvSpPr>
          <p:cNvPr id="12" name="Rectangle 11"/>
          <p:cNvSpPr/>
          <p:nvPr/>
        </p:nvSpPr>
        <p:spPr>
          <a:xfrm>
            <a:off x="7955279" y="3547872"/>
            <a:ext cx="3685032" cy="103327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38159" y="3621024"/>
            <a:ext cx="3319272" cy="274320"/>
          </a:xfrm>
          <a:prstGeom prst="rect">
            <a:avLst/>
          </a:prstGeom>
          <a:noFill/>
        </p:spPr>
        <p:txBody>
          <a:bodyPr wrap="square" lIns="0" rIns="0" tIns="0" bIns="0" anchor="t"/>
          <a:lstStyle/>
          <a:p>
            <a:pPr algn="l"/>
            <a:r>
              <a:rPr sz="1300" b="1" i="0">
                <a:solidFill>
                  <a:srgbClr val="C00000"/>
                </a:solidFill>
                <a:latin typeface="Open Sans"/>
              </a:rPr>
              <a:t>Оренбургское НГКМ</a:t>
            </a:r>
          </a:p>
        </p:txBody>
      </p:sp>
      <p:sp>
        <p:nvSpPr>
          <p:cNvPr id="14" name="TextBox 13"/>
          <p:cNvSpPr txBox="1"/>
          <p:nvPr/>
        </p:nvSpPr>
        <p:spPr>
          <a:xfrm>
            <a:off x="8138159" y="3913632"/>
            <a:ext cx="3319272" cy="256032"/>
          </a:xfrm>
          <a:prstGeom prst="rect">
            <a:avLst/>
          </a:prstGeom>
          <a:noFill/>
        </p:spPr>
        <p:txBody>
          <a:bodyPr wrap="square" lIns="0" rIns="0" tIns="0" bIns="0" anchor="t"/>
          <a:lstStyle/>
          <a:p>
            <a:pPr algn="l"/>
            <a:r>
              <a:rPr sz="1100" b="0" i="0">
                <a:solidFill>
                  <a:srgbClr val="262626"/>
                </a:solidFill>
                <a:latin typeface="Open Sans"/>
              </a:rPr>
              <a:t>граница 200 мг/л · 1,5 млн м</a:t>
            </a:r>
            <a:r>
              <a:rPr sz="1100" b="0" i="0" baseline="30000">
                <a:solidFill>
                  <a:srgbClr val="262626"/>
                </a:solidFill>
                <a:latin typeface="Open Sans"/>
              </a:rPr>
              <a:t>3</a:t>
            </a:r>
            <a:r>
              <a:rPr sz="1100" b="0" i="0">
                <a:solidFill>
                  <a:srgbClr val="262626"/>
                </a:solidFill>
                <a:latin typeface="Open Sans"/>
              </a:rPr>
              <a:t>/год</a:t>
            </a:r>
          </a:p>
        </p:txBody>
      </p:sp>
      <p:sp>
        <p:nvSpPr>
          <p:cNvPr id="15" name="TextBox 14"/>
          <p:cNvSpPr txBox="1"/>
          <p:nvPr/>
        </p:nvSpPr>
        <p:spPr>
          <a:xfrm>
            <a:off x="8138159" y="4169664"/>
            <a:ext cx="3319272" cy="384048"/>
          </a:xfrm>
          <a:prstGeom prst="rect">
            <a:avLst/>
          </a:prstGeom>
          <a:noFill/>
        </p:spPr>
        <p:txBody>
          <a:bodyPr wrap="square" lIns="0" rIns="0" tIns="0" bIns="0" anchor="t"/>
          <a:lstStyle/>
          <a:p>
            <a:pPr algn="l"/>
            <a:r>
              <a:rPr sz="1100" b="0" i="0">
                <a:solidFill>
                  <a:srgbClr val="595959"/>
                </a:solidFill>
                <a:latin typeface="Open Sans"/>
              </a:rPr>
              <a:t>соответствует цене ≈ 11 тыс. долл./т</a:t>
            </a:r>
          </a:p>
        </p:txBody>
      </p:sp>
      <p:sp>
        <p:nvSpPr>
          <p:cNvPr id="16" name="Rectangle 15"/>
          <p:cNvSpPr/>
          <p:nvPr/>
        </p:nvSpPr>
        <p:spPr>
          <a:xfrm>
            <a:off x="7955279" y="4672584"/>
            <a:ext cx="3685032" cy="1033271"/>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138159" y="4745736"/>
            <a:ext cx="3319272" cy="274320"/>
          </a:xfrm>
          <a:prstGeom prst="rect">
            <a:avLst/>
          </a:prstGeom>
          <a:noFill/>
        </p:spPr>
        <p:txBody>
          <a:bodyPr wrap="square" lIns="0" rIns="0" tIns="0" bIns="0" anchor="t"/>
          <a:lstStyle/>
          <a:p>
            <a:pPr algn="l"/>
            <a:r>
              <a:rPr sz="1300" b="1" i="0">
                <a:solidFill>
                  <a:srgbClr val="C00000"/>
                </a:solidFill>
                <a:latin typeface="Open Sans"/>
              </a:rPr>
              <a:t>М-е им. Кокорина</a:t>
            </a:r>
          </a:p>
        </p:txBody>
      </p:sp>
      <p:sp>
        <p:nvSpPr>
          <p:cNvPr id="18" name="TextBox 17"/>
          <p:cNvSpPr txBox="1"/>
          <p:nvPr/>
        </p:nvSpPr>
        <p:spPr>
          <a:xfrm>
            <a:off x="8138159" y="5038344"/>
            <a:ext cx="3319272" cy="256032"/>
          </a:xfrm>
          <a:prstGeom prst="rect">
            <a:avLst/>
          </a:prstGeom>
          <a:noFill/>
        </p:spPr>
        <p:txBody>
          <a:bodyPr wrap="square" lIns="0" rIns="0" tIns="0" bIns="0" anchor="t"/>
          <a:lstStyle/>
          <a:p>
            <a:pPr algn="l"/>
            <a:r>
              <a:rPr sz="1100" b="0" i="0">
                <a:solidFill>
                  <a:srgbClr val="262626"/>
                </a:solidFill>
                <a:latin typeface="Open Sans"/>
              </a:rPr>
              <a:t>169–383 мг/л · 6,2 млн м</a:t>
            </a:r>
            <a:r>
              <a:rPr sz="1100" b="0" i="0" baseline="30000">
                <a:solidFill>
                  <a:srgbClr val="262626"/>
                </a:solidFill>
                <a:latin typeface="Open Sans"/>
              </a:rPr>
              <a:t>3</a:t>
            </a:r>
            <a:r>
              <a:rPr sz="1100" b="0" i="0">
                <a:solidFill>
                  <a:srgbClr val="262626"/>
                </a:solidFill>
                <a:latin typeface="Open Sans"/>
              </a:rPr>
              <a:t>/год</a:t>
            </a:r>
          </a:p>
        </p:txBody>
      </p:sp>
      <p:sp>
        <p:nvSpPr>
          <p:cNvPr id="19" name="TextBox 18"/>
          <p:cNvSpPr txBox="1"/>
          <p:nvPr/>
        </p:nvSpPr>
        <p:spPr>
          <a:xfrm>
            <a:off x="8138159" y="5294376"/>
            <a:ext cx="3319272" cy="384048"/>
          </a:xfrm>
          <a:prstGeom prst="rect">
            <a:avLst/>
          </a:prstGeom>
          <a:noFill/>
        </p:spPr>
        <p:txBody>
          <a:bodyPr wrap="square" lIns="0" rIns="0" tIns="0" bIns="0" anchor="t"/>
          <a:lstStyle/>
          <a:p>
            <a:pPr algn="l"/>
            <a:r>
              <a:rPr sz="1100" b="0" i="0">
                <a:solidFill>
                  <a:srgbClr val="595959"/>
                </a:solidFill>
                <a:latin typeface="Open Sans"/>
              </a:rPr>
              <a:t>порог 185 мг/л — реализуемо при цене 2025 г.</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61872"/>
            <a:ext cx="11091672" cy="640080"/>
          </a:xfrm>
          <a:prstGeom prst="rect">
            <a:avLst/>
          </a:prstGeom>
          <a:noFill/>
        </p:spPr>
        <p:txBody>
          <a:bodyPr wrap="square" lIns="0" rIns="0" tIns="0" bIns="0" anchor="t"/>
          <a:lstStyle/>
          <a:p>
            <a:pPr algn="l"/>
            <a:r>
              <a:rPr sz="2400" b="1" i="0">
                <a:solidFill>
                  <a:srgbClr val="C00000"/>
                </a:solidFill>
                <a:latin typeface="Open Sans"/>
              </a:rPr>
              <a:t>Главные факторы — цена, извлечение и капитальные затраты</a:t>
            </a:r>
          </a:p>
        </p:txBody>
      </p:sp>
      <p:sp>
        <p:nvSpPr>
          <p:cNvPr id="3" name="TextBox 2"/>
          <p:cNvSpPr txBox="1"/>
          <p:nvPr/>
        </p:nvSpPr>
        <p:spPr>
          <a:xfrm>
            <a:off x="548640" y="6382512"/>
            <a:ext cx="1371600" cy="228600"/>
          </a:xfrm>
          <a:prstGeom prst="rect">
            <a:avLst/>
          </a:prstGeom>
          <a:noFill/>
        </p:spPr>
        <p:txBody>
          <a:bodyPr wrap="square" lIns="0" rIns="0" tIns="0" bIns="0" anchor="t"/>
          <a:lstStyle/>
          <a:p>
            <a:pPr algn="l"/>
            <a:r>
              <a:rPr sz="1000" b="0" i="0">
                <a:solidFill>
                  <a:srgbClr val="8C8C8C"/>
                </a:solidFill>
                <a:latin typeface="Open Sans"/>
              </a:rPr>
              <a:t>12 / 16</a:t>
            </a:r>
          </a:p>
        </p:txBody>
      </p:sp>
      <p:sp>
        <p:nvSpPr>
          <p:cNvPr id="4" name="TextBox 3"/>
          <p:cNvSpPr txBox="1"/>
          <p:nvPr/>
        </p:nvSpPr>
        <p:spPr>
          <a:xfrm>
            <a:off x="548640" y="2011680"/>
            <a:ext cx="7498079" cy="502920"/>
          </a:xfrm>
          <a:prstGeom prst="rect">
            <a:avLst/>
          </a:prstGeom>
          <a:noFill/>
        </p:spPr>
        <p:txBody>
          <a:bodyPr wrap="square" lIns="0" rIns="0" tIns="0" bIns="0" anchor="t"/>
          <a:lstStyle/>
          <a:p>
            <a:pPr algn="l"/>
            <a:r>
              <a:rPr sz="1300" b="1" i="0">
                <a:solidFill>
                  <a:srgbClr val="262626"/>
                </a:solidFill>
                <a:latin typeface="Open Sans"/>
              </a:rPr>
              <a:t>Изменение пороговой концентрации при изменении параметра на ±30 %, мг/л (база 270 мг/л, 9 тыс. долл./т)</a:t>
            </a:r>
          </a:p>
        </p:txBody>
      </p:sp>
      <p:graphicFrame>
        <p:nvGraphicFramePr>
          <p:cNvPr id="5" name="Chart 4"/>
          <p:cNvGraphicFramePr>
            <a:graphicFrameLocks noGrp="1"/>
          </p:cNvGraphicFramePr>
          <p:nvPr/>
        </p:nvGraphicFramePr>
        <p:xfrm>
          <a:off x="457200" y="2514600"/>
          <a:ext cx="7589520" cy="3291840"/>
        </p:xfrm>
        <a:graphic>
          <a:graphicData uri="http://schemas.openxmlformats.org/drawingml/2006/chart">
            <c:chart xmlns:c="http://schemas.openxmlformats.org/drawingml/2006/chart" r:id="rId3"/>
          </a:graphicData>
        </a:graphic>
      </p:graphicFrame>
      <p:sp>
        <p:nvSpPr>
          <p:cNvPr id="6" name="Rectangle 5"/>
          <p:cNvSpPr/>
          <p:nvPr/>
        </p:nvSpPr>
        <p:spPr>
          <a:xfrm>
            <a:off x="8412480" y="2011680"/>
            <a:ext cx="3227832" cy="374903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41080" y="2194560"/>
            <a:ext cx="2770632" cy="320040"/>
          </a:xfrm>
          <a:prstGeom prst="rect">
            <a:avLst/>
          </a:prstGeom>
          <a:noFill/>
        </p:spPr>
        <p:txBody>
          <a:bodyPr wrap="square" lIns="0" rIns="0" tIns="0" bIns="0" anchor="t"/>
          <a:lstStyle/>
          <a:p>
            <a:pPr algn="l"/>
            <a:r>
              <a:rPr sz="1500" b="1" i="0">
                <a:solidFill>
                  <a:srgbClr val="C00000"/>
                </a:solidFill>
                <a:latin typeface="Open Sans"/>
              </a:rPr>
              <a:t>Ресурс сорбента</a:t>
            </a:r>
          </a:p>
        </p:txBody>
      </p:sp>
      <p:sp>
        <p:nvSpPr>
          <p:cNvPr id="8" name="TextBox 7"/>
          <p:cNvSpPr txBox="1"/>
          <p:nvPr/>
        </p:nvSpPr>
        <p:spPr>
          <a:xfrm>
            <a:off x="8641080" y="2606040"/>
            <a:ext cx="2770632" cy="502920"/>
          </a:xfrm>
          <a:prstGeom prst="rect">
            <a:avLst/>
          </a:prstGeom>
          <a:noFill/>
        </p:spPr>
        <p:txBody>
          <a:bodyPr wrap="square" lIns="0" rIns="0" tIns="0" bIns="0" anchor="t"/>
          <a:lstStyle/>
          <a:p>
            <a:pPr algn="l"/>
            <a:r>
              <a:rPr sz="2600" b="1" i="0">
                <a:solidFill>
                  <a:srgbClr val="262626"/>
                </a:solidFill>
                <a:latin typeface="Open Sans"/>
              </a:rPr>
              <a:t>1,9 → 4,7</a:t>
            </a:r>
          </a:p>
        </p:txBody>
      </p:sp>
      <p:sp>
        <p:nvSpPr>
          <p:cNvPr id="9" name="TextBox 8"/>
          <p:cNvSpPr txBox="1"/>
          <p:nvPr/>
        </p:nvSpPr>
        <p:spPr>
          <a:xfrm>
            <a:off x="8641080" y="3154680"/>
            <a:ext cx="2770632" cy="868680"/>
          </a:xfrm>
          <a:prstGeom prst="rect">
            <a:avLst/>
          </a:prstGeom>
          <a:noFill/>
        </p:spPr>
        <p:txBody>
          <a:bodyPr wrap="square" lIns="0" rIns="0" tIns="0" bIns="0" anchor="t"/>
          <a:lstStyle/>
          <a:p>
            <a:pPr algn="l"/>
            <a:r>
              <a:rPr sz="1200" b="0" i="0">
                <a:solidFill>
                  <a:srgbClr val="595959"/>
                </a:solidFill>
                <a:latin typeface="Open Sans"/>
              </a:rPr>
              <a:t>тыс. долл./т — замена сорбента при снижении N с 500 до 200 циклов</a:t>
            </a:r>
          </a:p>
        </p:txBody>
      </p:sp>
      <p:sp>
        <p:nvSpPr>
          <p:cNvPr id="10" name="TextBox 9"/>
          <p:cNvSpPr txBox="1"/>
          <p:nvPr/>
        </p:nvSpPr>
        <p:spPr>
          <a:xfrm>
            <a:off x="8641080" y="4114800"/>
            <a:ext cx="2770632" cy="502920"/>
          </a:xfrm>
          <a:prstGeom prst="rect">
            <a:avLst/>
          </a:prstGeom>
          <a:noFill/>
        </p:spPr>
        <p:txBody>
          <a:bodyPr wrap="square" lIns="0" rIns="0" tIns="0" bIns="0" anchor="t"/>
          <a:lstStyle/>
          <a:p>
            <a:pPr algn="l"/>
            <a:r>
              <a:rPr sz="2600" b="1" i="0">
                <a:solidFill>
                  <a:srgbClr val="262626"/>
                </a:solidFill>
                <a:latin typeface="Open Sans"/>
              </a:rPr>
              <a:t>≤ 20 циклов</a:t>
            </a:r>
          </a:p>
        </p:txBody>
      </p:sp>
      <p:sp>
        <p:nvSpPr>
          <p:cNvPr id="11" name="TextBox 10"/>
          <p:cNvSpPr txBox="1"/>
          <p:nvPr/>
        </p:nvSpPr>
        <p:spPr>
          <a:xfrm>
            <a:off x="8641080" y="4663440"/>
            <a:ext cx="2770632" cy="1005840"/>
          </a:xfrm>
          <a:prstGeom prst="rect">
            <a:avLst/>
          </a:prstGeom>
          <a:noFill/>
        </p:spPr>
        <p:txBody>
          <a:bodyPr wrap="square" lIns="0" rIns="0" tIns="0" bIns="0" anchor="t"/>
          <a:lstStyle/>
          <a:p>
            <a:pPr algn="l"/>
            <a:r>
              <a:rPr sz="1200" b="0" i="0">
                <a:solidFill>
                  <a:srgbClr val="595959"/>
                </a:solidFill>
                <a:latin typeface="Open Sans"/>
              </a:rPr>
              <a:t>самые длинные опубликованные серии на реальных попутных водах (Pan et al., 2025)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61872"/>
            <a:ext cx="11091672" cy="640080"/>
          </a:xfrm>
          <a:prstGeom prst="rect">
            <a:avLst/>
          </a:prstGeom>
          <a:noFill/>
        </p:spPr>
        <p:txBody>
          <a:bodyPr wrap="square" lIns="0" rIns="0" tIns="0" bIns="0" anchor="t"/>
          <a:lstStyle/>
          <a:p>
            <a:pPr algn="l"/>
            <a:r>
              <a:rPr sz="2400" b="1" i="0">
                <a:solidFill>
                  <a:srgbClr val="C00000"/>
                </a:solidFill>
                <a:latin typeface="Open Sans"/>
              </a:rPr>
              <a:t>Водопотребление и обратная закачка — условия, а не детали</a:t>
            </a:r>
          </a:p>
        </p:txBody>
      </p:sp>
      <p:sp>
        <p:nvSpPr>
          <p:cNvPr id="3" name="TextBox 2"/>
          <p:cNvSpPr txBox="1"/>
          <p:nvPr/>
        </p:nvSpPr>
        <p:spPr>
          <a:xfrm>
            <a:off x="548640" y="6382512"/>
            <a:ext cx="1371600" cy="228600"/>
          </a:xfrm>
          <a:prstGeom prst="rect">
            <a:avLst/>
          </a:prstGeom>
          <a:noFill/>
        </p:spPr>
        <p:txBody>
          <a:bodyPr wrap="square" lIns="0" rIns="0" tIns="0" bIns="0" anchor="t"/>
          <a:lstStyle/>
          <a:p>
            <a:pPr algn="l"/>
            <a:r>
              <a:rPr sz="1000" b="0" i="0">
                <a:solidFill>
                  <a:srgbClr val="8C8C8C"/>
                </a:solidFill>
                <a:latin typeface="Open Sans"/>
              </a:rPr>
              <a:t>13 / 16</a:t>
            </a:r>
          </a:p>
        </p:txBody>
      </p:sp>
      <p:sp>
        <p:nvSpPr>
          <p:cNvPr id="4" name="TextBox 3"/>
          <p:cNvSpPr txBox="1"/>
          <p:nvPr/>
        </p:nvSpPr>
        <p:spPr>
          <a:xfrm>
            <a:off x="548640" y="5943600"/>
            <a:ext cx="9052560" cy="365760"/>
          </a:xfrm>
          <a:prstGeom prst="rect">
            <a:avLst/>
          </a:prstGeom>
          <a:noFill/>
        </p:spPr>
        <p:txBody>
          <a:bodyPr wrap="square" lIns="0" rIns="0" tIns="0" bIns="0" anchor="t"/>
          <a:lstStyle/>
          <a:p>
            <a:pPr algn="l"/>
            <a:r>
              <a:rPr sz="900" b="0" i="1">
                <a:solidFill>
                  <a:srgbClr val="8C8C8C"/>
                </a:solidFill>
                <a:latin typeface="Open Sans"/>
              </a:rPr>
              <a:t>Vera et al., 2023; Knapik et al., 2023; расчет авторов</a:t>
            </a:r>
          </a:p>
        </p:txBody>
      </p:sp>
      <p:sp>
        <p:nvSpPr>
          <p:cNvPr id="5" name="TextBox 4"/>
          <p:cNvSpPr txBox="1"/>
          <p:nvPr/>
        </p:nvSpPr>
        <p:spPr>
          <a:xfrm>
            <a:off x="548640" y="2011680"/>
            <a:ext cx="6675120" cy="320040"/>
          </a:xfrm>
          <a:prstGeom prst="rect">
            <a:avLst/>
          </a:prstGeom>
          <a:noFill/>
        </p:spPr>
        <p:txBody>
          <a:bodyPr wrap="square" lIns="0" rIns="0" tIns="0" bIns="0" anchor="t"/>
          <a:lstStyle/>
          <a:p>
            <a:pPr algn="l"/>
            <a:r>
              <a:rPr sz="1400" b="1" i="0">
                <a:solidFill>
                  <a:srgbClr val="262626"/>
                </a:solidFill>
                <a:latin typeface="Open Sans"/>
              </a:rPr>
              <a:t>Расход пресной воды, м³ на 1 т Li₂CO₃</a:t>
            </a:r>
          </a:p>
        </p:txBody>
      </p:sp>
      <p:cxnSp>
        <p:nvCxnSpPr>
          <p:cNvPr id="6" name="Connector 5"/>
          <p:cNvCxnSpPr/>
          <p:nvPr/>
        </p:nvCxnSpPr>
        <p:spPr>
          <a:xfrm>
            <a:off x="3291840" y="2423160"/>
            <a:ext cx="0" cy="2532888"/>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017520" y="4983480"/>
            <a:ext cx="548640" cy="228600"/>
          </a:xfrm>
          <a:prstGeom prst="rect">
            <a:avLst/>
          </a:prstGeom>
          <a:noFill/>
        </p:spPr>
        <p:txBody>
          <a:bodyPr wrap="square" lIns="0" rIns="0" tIns="0" bIns="0" anchor="t"/>
          <a:lstStyle/>
          <a:p>
            <a:pPr algn="ctr"/>
            <a:r>
              <a:rPr sz="1000" b="0" i="0">
                <a:solidFill>
                  <a:srgbClr val="595959"/>
                </a:solidFill>
                <a:latin typeface="Open Sans"/>
              </a:rPr>
              <a:t>0</a:t>
            </a:r>
          </a:p>
        </p:txBody>
      </p:sp>
      <p:cxnSp>
        <p:nvCxnSpPr>
          <p:cNvPr id="8" name="Connector 7"/>
          <p:cNvCxnSpPr/>
          <p:nvPr/>
        </p:nvCxnSpPr>
        <p:spPr>
          <a:xfrm>
            <a:off x="3901440" y="2423160"/>
            <a:ext cx="0" cy="2532888"/>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627120" y="4983480"/>
            <a:ext cx="548640" cy="228600"/>
          </a:xfrm>
          <a:prstGeom prst="rect">
            <a:avLst/>
          </a:prstGeom>
          <a:noFill/>
        </p:spPr>
        <p:txBody>
          <a:bodyPr wrap="square" lIns="0" rIns="0" tIns="0" bIns="0" anchor="t"/>
          <a:lstStyle/>
          <a:p>
            <a:pPr algn="ctr"/>
            <a:r>
              <a:rPr sz="1000" b="0" i="0">
                <a:solidFill>
                  <a:srgbClr val="595959"/>
                </a:solidFill>
                <a:latin typeface="Open Sans"/>
              </a:rPr>
              <a:t>100</a:t>
            </a:r>
          </a:p>
        </p:txBody>
      </p:sp>
      <p:cxnSp>
        <p:nvCxnSpPr>
          <p:cNvPr id="10" name="Connector 9"/>
          <p:cNvCxnSpPr/>
          <p:nvPr/>
        </p:nvCxnSpPr>
        <p:spPr>
          <a:xfrm>
            <a:off x="4511040" y="2423160"/>
            <a:ext cx="0" cy="2532888"/>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36720" y="4983480"/>
            <a:ext cx="548640" cy="228600"/>
          </a:xfrm>
          <a:prstGeom prst="rect">
            <a:avLst/>
          </a:prstGeom>
          <a:noFill/>
        </p:spPr>
        <p:txBody>
          <a:bodyPr wrap="square" lIns="0" rIns="0" tIns="0" bIns="0" anchor="t"/>
          <a:lstStyle/>
          <a:p>
            <a:pPr algn="ctr"/>
            <a:r>
              <a:rPr sz="1000" b="0" i="0">
                <a:solidFill>
                  <a:srgbClr val="595959"/>
                </a:solidFill>
                <a:latin typeface="Open Sans"/>
              </a:rPr>
              <a:t>200</a:t>
            </a:r>
          </a:p>
        </p:txBody>
      </p:sp>
      <p:cxnSp>
        <p:nvCxnSpPr>
          <p:cNvPr id="12" name="Connector 11"/>
          <p:cNvCxnSpPr/>
          <p:nvPr/>
        </p:nvCxnSpPr>
        <p:spPr>
          <a:xfrm>
            <a:off x="5120640" y="2423160"/>
            <a:ext cx="0" cy="2532888"/>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846320" y="4983480"/>
            <a:ext cx="548640" cy="228600"/>
          </a:xfrm>
          <a:prstGeom prst="rect">
            <a:avLst/>
          </a:prstGeom>
          <a:noFill/>
        </p:spPr>
        <p:txBody>
          <a:bodyPr wrap="square" lIns="0" rIns="0" tIns="0" bIns="0" anchor="t"/>
          <a:lstStyle/>
          <a:p>
            <a:pPr algn="ctr"/>
            <a:r>
              <a:rPr sz="1000" b="0" i="0">
                <a:solidFill>
                  <a:srgbClr val="595959"/>
                </a:solidFill>
                <a:latin typeface="Open Sans"/>
              </a:rPr>
              <a:t>300</a:t>
            </a:r>
          </a:p>
        </p:txBody>
      </p:sp>
      <p:cxnSp>
        <p:nvCxnSpPr>
          <p:cNvPr id="14" name="Connector 13"/>
          <p:cNvCxnSpPr/>
          <p:nvPr/>
        </p:nvCxnSpPr>
        <p:spPr>
          <a:xfrm>
            <a:off x="5730239" y="2423160"/>
            <a:ext cx="0" cy="2532888"/>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55919" y="4983480"/>
            <a:ext cx="548640" cy="228600"/>
          </a:xfrm>
          <a:prstGeom prst="rect">
            <a:avLst/>
          </a:prstGeom>
          <a:noFill/>
        </p:spPr>
        <p:txBody>
          <a:bodyPr wrap="square" lIns="0" rIns="0" tIns="0" bIns="0" anchor="t"/>
          <a:lstStyle/>
          <a:p>
            <a:pPr algn="ctr"/>
            <a:r>
              <a:rPr sz="1000" b="0" i="0">
                <a:solidFill>
                  <a:srgbClr val="595959"/>
                </a:solidFill>
                <a:latin typeface="Open Sans"/>
              </a:rPr>
              <a:t>400</a:t>
            </a:r>
          </a:p>
        </p:txBody>
      </p:sp>
      <p:cxnSp>
        <p:nvCxnSpPr>
          <p:cNvPr id="16" name="Connector 15"/>
          <p:cNvCxnSpPr/>
          <p:nvPr/>
        </p:nvCxnSpPr>
        <p:spPr>
          <a:xfrm>
            <a:off x="6339840" y="2423160"/>
            <a:ext cx="0" cy="2532888"/>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65520" y="4983480"/>
            <a:ext cx="548640" cy="228600"/>
          </a:xfrm>
          <a:prstGeom prst="rect">
            <a:avLst/>
          </a:prstGeom>
          <a:noFill/>
        </p:spPr>
        <p:txBody>
          <a:bodyPr wrap="square" lIns="0" rIns="0" tIns="0" bIns="0" anchor="t"/>
          <a:lstStyle/>
          <a:p>
            <a:pPr algn="ctr"/>
            <a:r>
              <a:rPr sz="1000" b="0" i="0">
                <a:solidFill>
                  <a:srgbClr val="595959"/>
                </a:solidFill>
                <a:latin typeface="Open Sans"/>
              </a:rPr>
              <a:t>500</a:t>
            </a:r>
          </a:p>
        </p:txBody>
      </p:sp>
      <p:cxnSp>
        <p:nvCxnSpPr>
          <p:cNvPr id="18" name="Connector 17"/>
          <p:cNvCxnSpPr/>
          <p:nvPr/>
        </p:nvCxnSpPr>
        <p:spPr>
          <a:xfrm>
            <a:off x="6949440" y="2423160"/>
            <a:ext cx="0" cy="2532888"/>
          </a:xfrm>
          <a:prstGeom prst="line">
            <a:avLst/>
          </a:prstGeom>
          <a:ln w="9525">
            <a:solidFill>
              <a:srgbClr val="E3E3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675120" y="4983480"/>
            <a:ext cx="548640" cy="228600"/>
          </a:xfrm>
          <a:prstGeom prst="rect">
            <a:avLst/>
          </a:prstGeom>
          <a:noFill/>
        </p:spPr>
        <p:txBody>
          <a:bodyPr wrap="square" lIns="0" rIns="0" tIns="0" bIns="0" anchor="t"/>
          <a:lstStyle/>
          <a:p>
            <a:pPr algn="ctr"/>
            <a:r>
              <a:rPr sz="1000" b="0" i="0">
                <a:solidFill>
                  <a:srgbClr val="595959"/>
                </a:solidFill>
                <a:latin typeface="Open Sans"/>
              </a:rPr>
              <a:t>600</a:t>
            </a:r>
          </a:p>
        </p:txBody>
      </p:sp>
      <p:sp>
        <p:nvSpPr>
          <p:cNvPr id="20" name="TextBox 19"/>
          <p:cNvSpPr txBox="1"/>
          <p:nvPr/>
        </p:nvSpPr>
        <p:spPr>
          <a:xfrm>
            <a:off x="548640" y="2468880"/>
            <a:ext cx="2606040" cy="530352"/>
          </a:xfrm>
          <a:prstGeom prst="rect">
            <a:avLst/>
          </a:prstGeom>
          <a:noFill/>
        </p:spPr>
        <p:txBody>
          <a:bodyPr wrap="square" lIns="0" rIns="0" tIns="0" bIns="0" anchor="ctr"/>
          <a:lstStyle/>
          <a:p>
            <a:pPr algn="r"/>
            <a:r>
              <a:rPr sz="1200" b="0" i="0">
                <a:solidFill>
                  <a:srgbClr val="262626"/>
                </a:solidFill>
                <a:latin typeface="Open Sans"/>
              </a:rPr>
              <a:t>Испарительная технология</a:t>
            </a:r>
          </a:p>
        </p:txBody>
      </p:sp>
      <p:sp>
        <p:nvSpPr>
          <p:cNvPr id="21" name="Rectangle 20"/>
          <p:cNvSpPr/>
          <p:nvPr/>
        </p:nvSpPr>
        <p:spPr>
          <a:xfrm>
            <a:off x="3429000" y="2606040"/>
            <a:ext cx="167640" cy="256032"/>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669792" y="2468880"/>
            <a:ext cx="914400" cy="530352"/>
          </a:xfrm>
          <a:prstGeom prst="rect">
            <a:avLst/>
          </a:prstGeom>
          <a:noFill/>
        </p:spPr>
        <p:txBody>
          <a:bodyPr wrap="square" lIns="0" rIns="0" tIns="0" bIns="0" anchor="ctr"/>
          <a:lstStyle/>
          <a:p>
            <a:pPr algn="l"/>
            <a:r>
              <a:rPr sz="1200" b="1" i="0">
                <a:solidFill>
                  <a:srgbClr val="262626"/>
                </a:solidFill>
                <a:latin typeface="Open Sans"/>
              </a:rPr>
              <a:t>22,5–50</a:t>
            </a:r>
          </a:p>
        </p:txBody>
      </p:sp>
      <p:sp>
        <p:nvSpPr>
          <p:cNvPr id="23" name="TextBox 22"/>
          <p:cNvSpPr txBox="1"/>
          <p:nvPr/>
        </p:nvSpPr>
        <p:spPr>
          <a:xfrm>
            <a:off x="548640" y="3090672"/>
            <a:ext cx="2606040" cy="530352"/>
          </a:xfrm>
          <a:prstGeom prst="rect">
            <a:avLst/>
          </a:prstGeom>
          <a:noFill/>
        </p:spPr>
        <p:txBody>
          <a:bodyPr wrap="square" lIns="0" rIns="0" tIns="0" bIns="0" anchor="ctr"/>
          <a:lstStyle/>
          <a:p>
            <a:pPr algn="r"/>
            <a:r>
              <a:rPr sz="1200" b="0" i="0">
                <a:solidFill>
                  <a:srgbClr val="262626"/>
                </a:solidFill>
                <a:latin typeface="Open Sans"/>
              </a:rPr>
              <a:t>DLE, Омбре-Муэрто (пром.)</a:t>
            </a:r>
          </a:p>
        </p:txBody>
      </p:sp>
      <p:sp>
        <p:nvSpPr>
          <p:cNvPr id="24" name="Rectangle 23"/>
          <p:cNvSpPr/>
          <p:nvPr/>
        </p:nvSpPr>
        <p:spPr>
          <a:xfrm>
            <a:off x="3694176" y="3227832"/>
            <a:ext cx="60959" cy="256032"/>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828288" y="3090672"/>
            <a:ext cx="914400" cy="530352"/>
          </a:xfrm>
          <a:prstGeom prst="rect">
            <a:avLst/>
          </a:prstGeom>
          <a:noFill/>
        </p:spPr>
        <p:txBody>
          <a:bodyPr wrap="square" lIns="0" rIns="0" tIns="0" bIns="0" anchor="ctr"/>
          <a:lstStyle/>
          <a:p>
            <a:pPr algn="l"/>
            <a:r>
              <a:rPr sz="1200" b="1" i="0">
                <a:solidFill>
                  <a:srgbClr val="262626"/>
                </a:solidFill>
                <a:latin typeface="Open Sans"/>
              </a:rPr>
              <a:t>71</a:t>
            </a:r>
          </a:p>
        </p:txBody>
      </p:sp>
      <p:sp>
        <p:nvSpPr>
          <p:cNvPr id="26" name="TextBox 25"/>
          <p:cNvSpPr txBox="1"/>
          <p:nvPr/>
        </p:nvSpPr>
        <p:spPr>
          <a:xfrm>
            <a:off x="548640" y="3712464"/>
            <a:ext cx="2606040" cy="530352"/>
          </a:xfrm>
          <a:prstGeom prst="rect">
            <a:avLst/>
          </a:prstGeom>
          <a:noFill/>
        </p:spPr>
        <p:txBody>
          <a:bodyPr wrap="square" lIns="0" rIns="0" tIns="0" bIns="0" anchor="ctr"/>
          <a:lstStyle/>
          <a:p>
            <a:pPr algn="r"/>
            <a:r>
              <a:rPr sz="1200" b="0" i="0">
                <a:solidFill>
                  <a:srgbClr val="262626"/>
                </a:solidFill>
                <a:latin typeface="Open Sans"/>
              </a:rPr>
              <a:t>ДГАЛ-Cl, расчет без рециркуляции</a:t>
            </a:r>
          </a:p>
        </p:txBody>
      </p:sp>
      <p:sp>
        <p:nvSpPr>
          <p:cNvPr id="27" name="Rectangle 26"/>
          <p:cNvSpPr/>
          <p:nvPr/>
        </p:nvSpPr>
        <p:spPr>
          <a:xfrm>
            <a:off x="4572000" y="3849624"/>
            <a:ext cx="670559" cy="256032"/>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315711" y="3712464"/>
            <a:ext cx="914400" cy="530352"/>
          </a:xfrm>
          <a:prstGeom prst="rect">
            <a:avLst/>
          </a:prstGeom>
          <a:noFill/>
        </p:spPr>
        <p:txBody>
          <a:bodyPr wrap="square" lIns="0" rIns="0" tIns="0" bIns="0" anchor="ctr"/>
          <a:lstStyle/>
          <a:p>
            <a:pPr algn="l"/>
            <a:r>
              <a:rPr sz="1200" b="1" i="0">
                <a:solidFill>
                  <a:srgbClr val="262626"/>
                </a:solidFill>
                <a:latin typeface="Open Sans"/>
              </a:rPr>
              <a:t>210–320</a:t>
            </a:r>
          </a:p>
        </p:txBody>
      </p:sp>
      <p:sp>
        <p:nvSpPr>
          <p:cNvPr id="29" name="TextBox 28"/>
          <p:cNvSpPr txBox="1"/>
          <p:nvPr/>
        </p:nvSpPr>
        <p:spPr>
          <a:xfrm>
            <a:off x="548640" y="4334256"/>
            <a:ext cx="2606040" cy="530352"/>
          </a:xfrm>
          <a:prstGeom prst="rect">
            <a:avLst/>
          </a:prstGeom>
          <a:noFill/>
        </p:spPr>
        <p:txBody>
          <a:bodyPr wrap="square" lIns="0" rIns="0" tIns="0" bIns="0" anchor="ctr"/>
          <a:lstStyle/>
          <a:p>
            <a:pPr algn="r"/>
            <a:r>
              <a:rPr sz="1200" b="0" i="0">
                <a:solidFill>
                  <a:srgbClr val="262626"/>
                </a:solidFill>
                <a:latin typeface="Open Sans"/>
              </a:rPr>
              <a:t>Четверть DLE-процессов</a:t>
            </a:r>
          </a:p>
        </p:txBody>
      </p:sp>
      <p:sp>
        <p:nvSpPr>
          <p:cNvPr id="30" name="Rectangle 29"/>
          <p:cNvSpPr/>
          <p:nvPr/>
        </p:nvSpPr>
        <p:spPr>
          <a:xfrm>
            <a:off x="6339840" y="4471416"/>
            <a:ext cx="609599" cy="256032"/>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022592" y="4334256"/>
            <a:ext cx="914400" cy="530352"/>
          </a:xfrm>
          <a:prstGeom prst="rect">
            <a:avLst/>
          </a:prstGeom>
          <a:noFill/>
        </p:spPr>
        <p:txBody>
          <a:bodyPr wrap="square" lIns="0" rIns="0" tIns="0" bIns="0" anchor="ctr"/>
          <a:lstStyle/>
          <a:p>
            <a:pPr algn="l"/>
            <a:r>
              <a:rPr sz="1200" b="1" i="0">
                <a:solidFill>
                  <a:srgbClr val="262626"/>
                </a:solidFill>
                <a:latin typeface="Open Sans"/>
              </a:rPr>
              <a:t>&gt; 500</a:t>
            </a:r>
          </a:p>
        </p:txBody>
      </p:sp>
      <p:sp>
        <p:nvSpPr>
          <p:cNvPr id="32" name="TextBox 31"/>
          <p:cNvSpPr txBox="1"/>
          <p:nvPr/>
        </p:nvSpPr>
        <p:spPr>
          <a:xfrm>
            <a:off x="548640" y="5349240"/>
            <a:ext cx="6766560" cy="502920"/>
          </a:xfrm>
          <a:prstGeom prst="rect">
            <a:avLst/>
          </a:prstGeom>
          <a:noFill/>
        </p:spPr>
        <p:txBody>
          <a:bodyPr wrap="square" lIns="0" rIns="0" tIns="0" bIns="0" anchor="t"/>
          <a:lstStyle/>
          <a:p>
            <a:pPr algn="l"/>
            <a:r>
              <a:rPr sz="1300" b="1" i="0">
                <a:solidFill>
                  <a:srgbClr val="C00000"/>
                </a:solidFill>
                <a:latin typeface="Open Sans"/>
              </a:rPr>
              <a:t>→ замкнутый контур с возвратом пермеата обратного осмоса на десорбцию обязателен</a:t>
            </a:r>
          </a:p>
        </p:txBody>
      </p:sp>
      <p:sp>
        <p:nvSpPr>
          <p:cNvPr id="33" name="Rectangle 32"/>
          <p:cNvSpPr/>
          <p:nvPr/>
        </p:nvSpPr>
        <p:spPr>
          <a:xfrm>
            <a:off x="7818120" y="2011680"/>
            <a:ext cx="3822191" cy="3749039"/>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046720" y="2194560"/>
            <a:ext cx="3364991" cy="320040"/>
          </a:xfrm>
          <a:prstGeom prst="rect">
            <a:avLst/>
          </a:prstGeom>
          <a:noFill/>
        </p:spPr>
        <p:txBody>
          <a:bodyPr wrap="square" lIns="0" rIns="0" tIns="0" bIns="0" anchor="t"/>
          <a:lstStyle/>
          <a:p>
            <a:pPr algn="l"/>
            <a:r>
              <a:rPr sz="1500" b="1" i="0">
                <a:solidFill>
                  <a:srgbClr val="C00000"/>
                </a:solidFill>
                <a:latin typeface="Open Sans"/>
              </a:rPr>
              <a:t>Обратная закачка в ППД</a:t>
            </a:r>
          </a:p>
        </p:txBody>
      </p:sp>
      <p:sp>
        <p:nvSpPr>
          <p:cNvPr id="35" name="TextBox 34"/>
          <p:cNvSpPr txBox="1"/>
          <p:nvPr/>
        </p:nvSpPr>
        <p:spPr>
          <a:xfrm>
            <a:off x="8046720" y="2651760"/>
            <a:ext cx="3410711" cy="3017520"/>
          </a:xfrm>
          <a:prstGeom prst="rect">
            <a:avLst/>
          </a:prstGeom>
          <a:noFill/>
        </p:spPr>
        <p:txBody>
          <a:bodyPr wrap="square" lIns="0" rIns="0" tIns="0" bIns="0" anchor="t"/>
          <a:lstStyle/>
          <a:p>
            <a:pPr algn="l" marL="201168" indent="-201168">
              <a:spcAft>
                <a:spcPts val="800"/>
              </a:spcAft>
              <a:buFont typeface="Arial"/>
              <a:buChar char="•"/>
            </a:pPr>
            <a:r>
              <a:rPr sz="1300" b="0" i="0">
                <a:solidFill>
                  <a:srgbClr val="262626"/>
                </a:solidFill>
                <a:latin typeface="Open Sans"/>
              </a:rPr>
              <a:t>ДГАЛ-Cl работает при естественном pH без умягчения — состав возвращаемой воды меняется минимально</a:t>
            </a:r>
          </a:p>
          <a:p>
            <a:pPr algn="l" marL="201168" indent="-201168">
              <a:spcAft>
                <a:spcPts val="800"/>
              </a:spcAft>
              <a:buFont typeface="Arial"/>
              <a:buChar char="•"/>
            </a:pPr>
            <a:r>
              <a:rPr sz="1300" b="0" i="0">
                <a:solidFill>
                  <a:srgbClr val="262626"/>
                </a:solidFill>
                <a:latin typeface="Open Sans"/>
              </a:rPr>
              <a:t>Ионные сита требуют подщелачивания — риск выпадения карбонатов и гидроксидов</a:t>
            </a:r>
          </a:p>
          <a:p>
            <a:pPr algn="l" marL="201168" indent="-201168">
              <a:spcAft>
                <a:spcPts val="800"/>
              </a:spcAft>
              <a:buFont typeface="Arial"/>
              <a:buChar char="•"/>
            </a:pPr>
            <a:r>
              <a:rPr sz="1300" b="0" i="0">
                <a:solidFill>
                  <a:srgbClr val="262626"/>
                </a:solidFill>
                <a:latin typeface="Open Sans"/>
              </a:rPr>
              <a:t>Закачка в тот же пласт разбавляет ресурс: снижение концентрации лития оценивать гидродинамическим моделированием</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61872"/>
            <a:ext cx="11091672" cy="640080"/>
          </a:xfrm>
          <a:prstGeom prst="rect">
            <a:avLst/>
          </a:prstGeom>
          <a:noFill/>
        </p:spPr>
        <p:txBody>
          <a:bodyPr wrap="square" lIns="0" rIns="0" tIns="0" bIns="0" anchor="t"/>
          <a:lstStyle/>
          <a:p>
            <a:pPr algn="l"/>
            <a:r>
              <a:rPr sz="2400" b="1" i="0">
                <a:solidFill>
                  <a:srgbClr val="C00000"/>
                </a:solidFill>
                <a:latin typeface="Open Sans"/>
              </a:rPr>
              <a:t>Критерии выбора объектов для опытно-промышленной проверки</a:t>
            </a:r>
          </a:p>
        </p:txBody>
      </p:sp>
      <p:sp>
        <p:nvSpPr>
          <p:cNvPr id="3" name="TextBox 2"/>
          <p:cNvSpPr txBox="1"/>
          <p:nvPr/>
        </p:nvSpPr>
        <p:spPr>
          <a:xfrm>
            <a:off x="548640" y="6382512"/>
            <a:ext cx="1371600" cy="228600"/>
          </a:xfrm>
          <a:prstGeom prst="rect">
            <a:avLst/>
          </a:prstGeom>
          <a:noFill/>
        </p:spPr>
        <p:txBody>
          <a:bodyPr wrap="square" lIns="0" rIns="0" tIns="0" bIns="0" anchor="t"/>
          <a:lstStyle/>
          <a:p>
            <a:pPr algn="l"/>
            <a:r>
              <a:rPr sz="1000" b="0" i="0">
                <a:solidFill>
                  <a:srgbClr val="8C8C8C"/>
                </a:solidFill>
                <a:latin typeface="Open Sans"/>
              </a:rPr>
              <a:t>14 / 16</a:t>
            </a:r>
          </a:p>
        </p:txBody>
      </p:sp>
      <p:sp>
        <p:nvSpPr>
          <p:cNvPr id="4" name="TextBox 3"/>
          <p:cNvSpPr txBox="1"/>
          <p:nvPr/>
        </p:nvSpPr>
        <p:spPr>
          <a:xfrm>
            <a:off x="548640" y="5943600"/>
            <a:ext cx="9052560" cy="365760"/>
          </a:xfrm>
          <a:prstGeom prst="rect">
            <a:avLst/>
          </a:prstGeom>
          <a:noFill/>
        </p:spPr>
        <p:txBody>
          <a:bodyPr wrap="square" lIns="0" rIns="0" tIns="0" bIns="0" anchor="t"/>
          <a:lstStyle/>
          <a:p>
            <a:pPr algn="l"/>
            <a:r>
              <a:rPr sz="900" b="0" i="1">
                <a:solidFill>
                  <a:srgbClr val="8C8C8C"/>
                </a:solidFill>
                <a:latin typeface="Open Sans"/>
              </a:rPr>
              <a:t>Составлено авторами по результатам расчетов и данным Knapik et al., 2023; Farahbakhsh et al., 2024; Бандалетова и др., 2021</a:t>
            </a:r>
          </a:p>
        </p:txBody>
      </p:sp>
      <p:graphicFrame>
        <p:nvGraphicFramePr>
          <p:cNvPr id="5" name="Table 4"/>
          <p:cNvGraphicFramePr>
            <a:graphicFrameLocks noGrp="1"/>
          </p:cNvGraphicFramePr>
          <p:nvPr/>
        </p:nvGraphicFramePr>
        <p:xfrm>
          <a:off x="548640" y="2011680"/>
          <a:ext cx="11091672" cy="3575304"/>
        </p:xfrm>
        <a:graphic>
          <a:graphicData uri="http://schemas.openxmlformats.org/drawingml/2006/table">
            <a:tbl>
              <a:tblPr>
                <a:tableStyleId>{5C22544A-7EE6-4342-B048-85BDC9FD1C3A}</a:tableStyleId>
              </a:tblPr>
              <a:tblGrid>
                <a:gridCol w="2103120"/>
                <a:gridCol w="4206240"/>
                <a:gridCol w="4782312"/>
              </a:tblGrid>
              <a:tr h="365760">
                <a:tc>
                  <a:txBody>
                    <a:bodyPr wrap="square"/>
                    <a:lstStyle/>
                    <a:p>
                      <a:pPr algn="ctr"/>
                      <a:r>
                        <a:rPr sz="1100" b="1" i="0">
                          <a:solidFill>
                            <a:srgbClr val="262626"/>
                          </a:solidFill>
                          <a:latin typeface="Open Sans"/>
                        </a:rPr>
                        <a:t>Параметр</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100" b="1" i="0">
                          <a:solidFill>
                            <a:srgbClr val="262626"/>
                          </a:solidFill>
                          <a:latin typeface="Open Sans"/>
                        </a:rPr>
                        <a:t>Граничное значение</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c>
                  <a:txBody>
                    <a:bodyPr wrap="square"/>
                    <a:lstStyle/>
                    <a:p>
                      <a:pPr algn="ctr"/>
                      <a:r>
                        <a:rPr sz="1100" b="1" i="0">
                          <a:solidFill>
                            <a:srgbClr val="262626"/>
                          </a:solidFill>
                          <a:latin typeface="Open Sans"/>
                        </a:rPr>
                        <a:t>Следствие для схемы</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2F2F2"/>
                    </a:solidFill>
                  </a:tcPr>
                </a:tc>
              </a:tr>
              <a:tr h="603504">
                <a:tc>
                  <a:txBody>
                    <a:bodyPr wrap="square"/>
                    <a:lstStyle/>
                    <a:p>
                      <a:pPr algn="l"/>
                      <a:r>
                        <a:rPr sz="1100" b="1" i="0">
                          <a:solidFill>
                            <a:srgbClr val="262626"/>
                          </a:solidFill>
                          <a:latin typeface="Open Sans"/>
                        </a:rPr>
                        <a:t>Концентрация лития</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100" b="0" i="0">
                          <a:solidFill>
                            <a:srgbClr val="262626"/>
                          </a:solidFill>
                          <a:latin typeface="Open Sans"/>
                        </a:rPr>
                        <a:t>≥ 200 мг/л при 1,5 млн м</a:t>
                      </a:r>
                      <a:r>
                        <a:rPr sz="1100" b="0" i="0" baseline="30000">
                          <a:solidFill>
                            <a:srgbClr val="262626"/>
                          </a:solidFill>
                          <a:latin typeface="Open Sans"/>
                        </a:rPr>
                        <a:t>3</a:t>
                      </a:r>
                      <a:r>
                        <a:rPr sz="1100" b="0" i="0">
                          <a:solidFill>
                            <a:srgbClr val="262626"/>
                          </a:solidFill>
                          <a:latin typeface="Open Sans"/>
                        </a:rPr>
                        <a:t>/год; 170–190 мг/л при 6–10 млн м</a:t>
                      </a:r>
                      <a:r>
                        <a:rPr sz="1100" b="0" i="0" baseline="30000">
                          <a:solidFill>
                            <a:srgbClr val="262626"/>
                          </a:solidFill>
                          <a:latin typeface="Open Sans"/>
                        </a:rPr>
                        <a:t>3</a:t>
                      </a:r>
                      <a:r>
                        <a:rPr sz="1100" b="0" i="0">
                          <a:solidFill>
                            <a:srgbClr val="262626"/>
                          </a:solidFill>
                          <a:latin typeface="Open Sans"/>
                        </a:rPr>
                        <a:t>/год (9 тыс. долл./т)</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100" b="0" i="0">
                          <a:solidFill>
                            <a:srgbClr val="262626"/>
                          </a:solidFill>
                          <a:latin typeface="Open Sans"/>
                        </a:rPr>
                        <a:t>100–200 мг/л — только при цене &gt; 15 тыс. долл./т; подтоварные воды УПН непригодны</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548640">
                <a:tc>
                  <a:txBody>
                    <a:bodyPr wrap="square"/>
                    <a:lstStyle/>
                    <a:p>
                      <a:pPr algn="l"/>
                      <a:r>
                        <a:rPr sz="1100" b="1" i="0">
                          <a:solidFill>
                            <a:srgbClr val="262626"/>
                          </a:solidFill>
                          <a:latin typeface="Open Sans"/>
                        </a:rPr>
                        <a:t>Годовой объем воды</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100" b="0" i="0">
                          <a:solidFill>
                            <a:srgbClr val="262626"/>
                          </a:solidFill>
                          <a:latin typeface="Open Sans"/>
                        </a:rPr>
                        <a:t>≥ 1,5 млн м</a:t>
                      </a:r>
                      <a:r>
                        <a:rPr sz="1100" b="0" i="0" baseline="30000">
                          <a:solidFill>
                            <a:srgbClr val="262626"/>
                          </a:solidFill>
                          <a:latin typeface="Open Sans"/>
                        </a:rPr>
                        <a:t>3</a:t>
                      </a:r>
                      <a:r>
                        <a:rPr sz="1100" b="0" i="0">
                          <a:solidFill>
                            <a:srgbClr val="262626"/>
                          </a:solidFill>
                          <a:latin typeface="Open Sans"/>
                        </a:rPr>
                        <a:t>/год (≈ 4 тыс. м</a:t>
                      </a:r>
                      <a:r>
                        <a:rPr sz="1100" b="0" i="0" baseline="30000">
                          <a:solidFill>
                            <a:srgbClr val="262626"/>
                          </a:solidFill>
                          <a:latin typeface="Open Sans"/>
                        </a:rPr>
                        <a:t>3</a:t>
                      </a:r>
                      <a:r>
                        <a:rPr sz="1100" b="0" i="0">
                          <a:solidFill>
                            <a:srgbClr val="262626"/>
                          </a:solidFill>
                          <a:latin typeface="Open Sans"/>
                        </a:rPr>
                        <a:t>/сут)</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100" b="0" i="0">
                          <a:solidFill>
                            <a:srgbClr val="262626"/>
                          </a:solidFill>
                          <a:latin typeface="Open Sans"/>
                        </a:rPr>
                        <a:t>объединение потоков нескольких УПН или целевой отбор глубинных рассолов</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548640">
                <a:tc>
                  <a:txBody>
                    <a:bodyPr wrap="square"/>
                    <a:lstStyle/>
                    <a:p>
                      <a:pPr algn="l"/>
                      <a:r>
                        <a:rPr sz="1100" b="1" i="0">
                          <a:solidFill>
                            <a:srgbClr val="262626"/>
                          </a:solidFill>
                          <a:latin typeface="Open Sans"/>
                        </a:rPr>
                        <a:t>Mg/Li и Ca/Li</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100" b="0" i="0">
                          <a:solidFill>
                            <a:srgbClr val="262626"/>
                          </a:solidFill>
                          <a:latin typeface="Open Sans"/>
                        </a:rPr>
                        <a:t>Mg/Li &lt; 10, Ca &lt; 1 масс. %</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100" b="0" i="0">
                          <a:solidFill>
                            <a:srgbClr val="262626"/>
                          </a:solidFill>
                          <a:latin typeface="Open Sans"/>
                        </a:rPr>
                        <a:t>ионные сита после умягчения; при Mg/Li &gt; 10 и Ca/Li &gt; 100 — ДГАЛ-Cl без умягчения</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502920">
                <a:tc>
                  <a:txBody>
                    <a:bodyPr wrap="square"/>
                    <a:lstStyle/>
                    <a:p>
                      <a:pPr algn="l"/>
                      <a:r>
                        <a:rPr sz="1100" b="1" i="0">
                          <a:solidFill>
                            <a:srgbClr val="262626"/>
                          </a:solidFill>
                          <a:latin typeface="Open Sans"/>
                        </a:rPr>
                        <a:t>Минерализация</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100" b="0" i="0">
                          <a:solidFill>
                            <a:srgbClr val="262626"/>
                          </a:solidFill>
                          <a:latin typeface="Open Sans"/>
                        </a:rPr>
                        <a:t>&gt; 200 г/л — параметр высокого влияния</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100" b="0" i="0">
                          <a:solidFill>
                            <a:srgbClr val="262626"/>
                          </a:solidFill>
                          <a:latin typeface="Open Sans"/>
                        </a:rPr>
                        <a:t>устойчивость гранул, риск солеотложения при изменении pH и температуры</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502920">
                <a:tc>
                  <a:txBody>
                    <a:bodyPr wrap="square"/>
                    <a:lstStyle/>
                    <a:p>
                      <a:pPr algn="l"/>
                      <a:r>
                        <a:rPr sz="1100" b="1" i="0">
                          <a:solidFill>
                            <a:srgbClr val="262626"/>
                          </a:solidFill>
                          <a:latin typeface="Open Sans"/>
                        </a:rPr>
                        <a:t>Пресная вода</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100" b="0" i="0">
                          <a:solidFill>
                            <a:srgbClr val="262626"/>
                          </a:solidFill>
                          <a:latin typeface="Open Sans"/>
                        </a:rPr>
                        <a:t>210–320 м</a:t>
                      </a:r>
                      <a:r>
                        <a:rPr sz="1100" b="0" i="0" baseline="30000">
                          <a:solidFill>
                            <a:srgbClr val="262626"/>
                          </a:solidFill>
                          <a:latin typeface="Open Sans"/>
                        </a:rPr>
                        <a:t>3</a:t>
                      </a:r>
                      <a:r>
                        <a:rPr sz="1100" b="0" i="0">
                          <a:solidFill>
                            <a:srgbClr val="262626"/>
                          </a:solidFill>
                          <a:latin typeface="Open Sans"/>
                        </a:rPr>
                        <a:t>/т Li</a:t>
                      </a:r>
                      <a:r>
                        <a:rPr sz="1100" b="0" i="0" baseline="-25000">
                          <a:solidFill>
                            <a:srgbClr val="262626"/>
                          </a:solidFill>
                          <a:latin typeface="Open Sans"/>
                        </a:rPr>
                        <a:t>2</a:t>
                      </a:r>
                      <a:r>
                        <a:rPr sz="1100" b="0" i="0">
                          <a:solidFill>
                            <a:srgbClr val="262626"/>
                          </a:solidFill>
                          <a:latin typeface="Open Sans"/>
                        </a:rPr>
                        <a:t>CO</a:t>
                      </a:r>
                      <a:r>
                        <a:rPr sz="1100" b="0" i="0" baseline="-25000">
                          <a:solidFill>
                            <a:srgbClr val="262626"/>
                          </a:solidFill>
                          <a:latin typeface="Open Sans"/>
                        </a:rPr>
                        <a:t>3</a:t>
                      </a:r>
                      <a:r>
                        <a:rPr sz="1100" b="0" i="0">
                          <a:solidFill>
                            <a:srgbClr val="262626"/>
                          </a:solidFill>
                          <a:latin typeface="Open Sans"/>
                        </a:rPr>
                        <a:t> (ДГАЛ-Cl)</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100" b="0" i="0">
                          <a:solidFill>
                            <a:srgbClr val="262626"/>
                          </a:solidFill>
                          <a:latin typeface="Open Sans"/>
                        </a:rPr>
                        <a:t>замкнутый контур с возвратом пермеата</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502920">
                <a:tc>
                  <a:txBody>
                    <a:bodyPr wrap="square"/>
                    <a:lstStyle/>
                    <a:p>
                      <a:pPr algn="l"/>
                      <a:r>
                        <a:rPr sz="1100" b="1" i="0">
                          <a:solidFill>
                            <a:srgbClr val="262626"/>
                          </a:solidFill>
                          <a:latin typeface="Open Sans"/>
                        </a:rPr>
                        <a:t>Инфраструктура</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100" b="0" i="0">
                          <a:solidFill>
                            <a:srgbClr val="262626"/>
                          </a:solidFill>
                          <a:latin typeface="Open Sans"/>
                        </a:rPr>
                        <a:t>действующие УПН, система ППД, энергоснабжение</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wrap="square"/>
                    <a:lstStyle/>
                    <a:p>
                      <a:pPr algn="l"/>
                      <a:r>
                        <a:rPr sz="1100" b="0" i="0">
                          <a:solidFill>
                            <a:srgbClr val="262626"/>
                          </a:solidFill>
                          <a:latin typeface="Open Sans"/>
                        </a:rPr>
                        <a:t>снижение капзатрат; без нее основная статья — бурение</a:t>
                      </a:r>
                    </a:p>
                  </a:txBody>
                  <a:tcPr marL="73152" marR="73152" marT="27432" marB="27432"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61872"/>
            <a:ext cx="11091672" cy="640080"/>
          </a:xfrm>
          <a:prstGeom prst="rect">
            <a:avLst/>
          </a:prstGeom>
          <a:noFill/>
        </p:spPr>
        <p:txBody>
          <a:bodyPr wrap="square" lIns="0" rIns="0" tIns="0" bIns="0" anchor="t"/>
          <a:lstStyle/>
          <a:p>
            <a:pPr algn="l"/>
            <a:r>
              <a:rPr sz="2400" b="1" i="0">
                <a:solidFill>
                  <a:srgbClr val="C00000"/>
                </a:solidFill>
                <a:latin typeface="Open Sans"/>
              </a:rPr>
              <a:t>Выводы</a:t>
            </a:r>
          </a:p>
        </p:txBody>
      </p:sp>
      <p:sp>
        <p:nvSpPr>
          <p:cNvPr id="3" name="TextBox 2"/>
          <p:cNvSpPr txBox="1"/>
          <p:nvPr/>
        </p:nvSpPr>
        <p:spPr>
          <a:xfrm>
            <a:off x="548640" y="6382512"/>
            <a:ext cx="1371600" cy="228600"/>
          </a:xfrm>
          <a:prstGeom prst="rect">
            <a:avLst/>
          </a:prstGeom>
          <a:noFill/>
        </p:spPr>
        <p:txBody>
          <a:bodyPr wrap="square" lIns="0" rIns="0" tIns="0" bIns="0" anchor="t"/>
          <a:lstStyle/>
          <a:p>
            <a:pPr algn="l"/>
            <a:r>
              <a:rPr sz="1000" b="0" i="0">
                <a:solidFill>
                  <a:srgbClr val="8C8C8C"/>
                </a:solidFill>
                <a:latin typeface="Open Sans"/>
              </a:rPr>
              <a:t>15 / 16</a:t>
            </a:r>
          </a:p>
        </p:txBody>
      </p:sp>
      <p:sp>
        <p:nvSpPr>
          <p:cNvPr id="4" name="Oval 3"/>
          <p:cNvSpPr/>
          <p:nvPr/>
        </p:nvSpPr>
        <p:spPr>
          <a:xfrm>
            <a:off x="548640" y="2057400"/>
            <a:ext cx="411480"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2057400"/>
            <a:ext cx="411480" cy="411480"/>
          </a:xfrm>
          <a:prstGeom prst="rect">
            <a:avLst/>
          </a:prstGeom>
          <a:noFill/>
        </p:spPr>
        <p:txBody>
          <a:bodyPr wrap="square" lIns="0" rIns="0" tIns="0" bIns="0" anchor="ctr"/>
          <a:lstStyle/>
          <a:p>
            <a:pPr algn="ctr"/>
            <a:r>
              <a:rPr sz="1400" b="1" i="0">
                <a:solidFill>
                  <a:srgbClr val="FFFFFF"/>
                </a:solidFill>
                <a:latin typeface="Open Sans"/>
              </a:rPr>
              <a:t>1</a:t>
            </a:r>
          </a:p>
        </p:txBody>
      </p:sp>
      <p:sp>
        <p:nvSpPr>
          <p:cNvPr id="6" name="TextBox 5"/>
          <p:cNvSpPr txBox="1"/>
          <p:nvPr/>
        </p:nvSpPr>
        <p:spPr>
          <a:xfrm>
            <a:off x="1188719" y="2011680"/>
            <a:ext cx="10451592" cy="713232"/>
          </a:xfrm>
          <a:prstGeom prst="rect">
            <a:avLst/>
          </a:prstGeom>
          <a:noFill/>
        </p:spPr>
        <p:txBody>
          <a:bodyPr wrap="square" lIns="0" rIns="0" tIns="0" bIns="0" anchor="t"/>
          <a:lstStyle/>
          <a:p>
            <a:pPr algn="l"/>
            <a:r>
              <a:rPr sz="1400" b="0" i="0">
                <a:solidFill>
                  <a:srgbClr val="262626"/>
                </a:solidFill>
                <a:latin typeface="Open Sans"/>
              </a:rPr>
              <a:t>Литий не коррелирует с минерализацией: в Восточной Сибири разделять подтоварные воды УПН (30–70 мг/л) и глубинные рассолы (170–410 мг/л)</a:t>
            </a:r>
          </a:p>
        </p:txBody>
      </p:sp>
      <p:sp>
        <p:nvSpPr>
          <p:cNvPr id="7" name="Oval 6"/>
          <p:cNvSpPr/>
          <p:nvPr/>
        </p:nvSpPr>
        <p:spPr>
          <a:xfrm>
            <a:off x="548640" y="2816352"/>
            <a:ext cx="411480"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2816352"/>
            <a:ext cx="411480" cy="411480"/>
          </a:xfrm>
          <a:prstGeom prst="rect">
            <a:avLst/>
          </a:prstGeom>
          <a:noFill/>
        </p:spPr>
        <p:txBody>
          <a:bodyPr wrap="square" lIns="0" rIns="0" tIns="0" bIns="0" anchor="ctr"/>
          <a:lstStyle/>
          <a:p>
            <a:pPr algn="ctr"/>
            <a:r>
              <a:rPr sz="1400" b="1" i="0">
                <a:solidFill>
                  <a:srgbClr val="FFFFFF"/>
                </a:solidFill>
                <a:latin typeface="Open Sans"/>
              </a:rPr>
              <a:t>2</a:t>
            </a:r>
          </a:p>
        </p:txBody>
      </p:sp>
      <p:sp>
        <p:nvSpPr>
          <p:cNvPr id="9" name="TextBox 8"/>
          <p:cNvSpPr txBox="1"/>
          <p:nvPr/>
        </p:nvSpPr>
        <p:spPr>
          <a:xfrm>
            <a:off x="1188719" y="2770632"/>
            <a:ext cx="10451592" cy="713232"/>
          </a:xfrm>
          <a:prstGeom prst="rect">
            <a:avLst/>
          </a:prstGeom>
          <a:noFill/>
        </p:spPr>
        <p:txBody>
          <a:bodyPr wrap="square" lIns="0" rIns="0" tIns="0" bIns="0" anchor="t"/>
          <a:lstStyle/>
          <a:p>
            <a:pPr algn="l"/>
            <a:r>
              <a:rPr sz="1400" b="0" i="0">
                <a:solidFill>
                  <a:srgbClr val="262626"/>
                </a:solidFill>
                <a:latin typeface="Open Sans"/>
              </a:rPr>
              <a:t>Для рассолов с Ca 121–154 г/л и Mg/Li ≈ 72 полное умягчение исключено (реагенты в 4,7–5,5 раза дороже лития); рациональна ограниченная предочистка и сорбент ДГАЛ-Cl</a:t>
            </a:r>
          </a:p>
        </p:txBody>
      </p:sp>
      <p:sp>
        <p:nvSpPr>
          <p:cNvPr id="10" name="Oval 9"/>
          <p:cNvSpPr/>
          <p:nvPr/>
        </p:nvSpPr>
        <p:spPr>
          <a:xfrm>
            <a:off x="548640" y="3575304"/>
            <a:ext cx="411480"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8640" y="3575304"/>
            <a:ext cx="411480" cy="411480"/>
          </a:xfrm>
          <a:prstGeom prst="rect">
            <a:avLst/>
          </a:prstGeom>
          <a:noFill/>
        </p:spPr>
        <p:txBody>
          <a:bodyPr wrap="square" lIns="0" rIns="0" tIns="0" bIns="0" anchor="ctr"/>
          <a:lstStyle/>
          <a:p>
            <a:pPr algn="ctr"/>
            <a:r>
              <a:rPr sz="1400" b="1" i="0">
                <a:solidFill>
                  <a:srgbClr val="FFFFFF"/>
                </a:solidFill>
                <a:latin typeface="Open Sans"/>
              </a:rPr>
              <a:t>3</a:t>
            </a:r>
          </a:p>
        </p:txBody>
      </p:sp>
      <p:sp>
        <p:nvSpPr>
          <p:cNvPr id="12" name="TextBox 11"/>
          <p:cNvSpPr txBox="1"/>
          <p:nvPr/>
        </p:nvSpPr>
        <p:spPr>
          <a:xfrm>
            <a:off x="1188719" y="3529584"/>
            <a:ext cx="10451592" cy="713232"/>
          </a:xfrm>
          <a:prstGeom prst="rect">
            <a:avLst/>
          </a:prstGeom>
          <a:noFill/>
        </p:spPr>
        <p:txBody>
          <a:bodyPr wrap="square" lIns="0" rIns="0" tIns="0" bIns="0" anchor="t"/>
          <a:lstStyle/>
          <a:p>
            <a:pPr algn="l"/>
            <a:r>
              <a:rPr sz="1400" b="0" i="0">
                <a:solidFill>
                  <a:srgbClr val="262626"/>
                </a:solidFill>
                <a:latin typeface="Open Sans"/>
              </a:rPr>
              <a:t>Сквозное извлечение 0,44–0,78; порог C</a:t>
            </a:r>
            <a:r>
              <a:rPr sz="1400" b="0" i="0" baseline="-25000">
                <a:solidFill>
                  <a:srgbClr val="262626"/>
                </a:solidFill>
                <a:latin typeface="Open Sans"/>
              </a:rPr>
              <a:t>Li</a:t>
            </a:r>
            <a:r>
              <a:rPr sz="1400" b="0" i="0" baseline="30000">
                <a:solidFill>
                  <a:srgbClr val="262626"/>
                </a:solidFill>
                <a:latin typeface="Open Sans"/>
              </a:rPr>
              <a:t>*</a:t>
            </a:r>
            <a:r>
              <a:rPr sz="1400" b="0" i="0">
                <a:solidFill>
                  <a:srgbClr val="262626"/>
                </a:solidFill>
                <a:latin typeface="Open Sans"/>
              </a:rPr>
              <a:t> ≈ 270 мг/л при 1,5 млн м</a:t>
            </a:r>
            <a:r>
              <a:rPr sz="1400" b="0" i="0" baseline="30000">
                <a:solidFill>
                  <a:srgbClr val="262626"/>
                </a:solidFill>
                <a:latin typeface="Open Sans"/>
              </a:rPr>
              <a:t>3</a:t>
            </a:r>
            <a:r>
              <a:rPr sz="1400" b="0" i="0">
                <a:solidFill>
                  <a:srgbClr val="262626"/>
                </a:solidFill>
                <a:latin typeface="Open Sans"/>
              </a:rPr>
              <a:t>/год и 166 мг/л при 10 млн м</a:t>
            </a:r>
            <a:r>
              <a:rPr sz="1400" b="0" i="0" baseline="30000">
                <a:solidFill>
                  <a:srgbClr val="262626"/>
                </a:solidFill>
                <a:latin typeface="Open Sans"/>
              </a:rPr>
              <a:t>3</a:t>
            </a:r>
            <a:r>
              <a:rPr sz="1400" b="0" i="0">
                <a:solidFill>
                  <a:srgbClr val="262626"/>
                </a:solidFill>
                <a:latin typeface="Open Sans"/>
              </a:rPr>
              <a:t>/год (9 тыс. долл./т); 97 и 60 мг/л при 20 тыс. долл./т</a:t>
            </a:r>
          </a:p>
        </p:txBody>
      </p:sp>
      <p:sp>
        <p:nvSpPr>
          <p:cNvPr id="13" name="Oval 12"/>
          <p:cNvSpPr/>
          <p:nvPr/>
        </p:nvSpPr>
        <p:spPr>
          <a:xfrm>
            <a:off x="548640" y="4334255"/>
            <a:ext cx="411480"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8640" y="4334255"/>
            <a:ext cx="411480" cy="411480"/>
          </a:xfrm>
          <a:prstGeom prst="rect">
            <a:avLst/>
          </a:prstGeom>
          <a:noFill/>
        </p:spPr>
        <p:txBody>
          <a:bodyPr wrap="square" lIns="0" rIns="0" tIns="0" bIns="0" anchor="ctr"/>
          <a:lstStyle/>
          <a:p>
            <a:pPr algn="ctr"/>
            <a:r>
              <a:rPr sz="1400" b="1" i="0">
                <a:solidFill>
                  <a:srgbClr val="FFFFFF"/>
                </a:solidFill>
                <a:latin typeface="Open Sans"/>
              </a:rPr>
              <a:t>4</a:t>
            </a:r>
          </a:p>
        </p:txBody>
      </p:sp>
      <p:sp>
        <p:nvSpPr>
          <p:cNvPr id="15" name="TextBox 14"/>
          <p:cNvSpPr txBox="1"/>
          <p:nvPr/>
        </p:nvSpPr>
        <p:spPr>
          <a:xfrm>
            <a:off x="1188719" y="4288536"/>
            <a:ext cx="10451592" cy="713232"/>
          </a:xfrm>
          <a:prstGeom prst="rect">
            <a:avLst/>
          </a:prstGeom>
          <a:noFill/>
        </p:spPr>
        <p:txBody>
          <a:bodyPr wrap="square" lIns="0" rIns="0" tIns="0" bIns="0" anchor="t"/>
          <a:lstStyle/>
          <a:p>
            <a:pPr algn="l"/>
            <a:r>
              <a:rPr sz="1400" b="0" i="0">
                <a:solidFill>
                  <a:srgbClr val="262626"/>
                </a:solidFill>
                <a:latin typeface="Open Sans"/>
              </a:rPr>
              <a:t>Определяющие факторы — цена, сквозное извлечение и капзатраты; главная неопределенность — ресурс сорбента на реальных водах</a:t>
            </a:r>
          </a:p>
        </p:txBody>
      </p:sp>
      <p:sp>
        <p:nvSpPr>
          <p:cNvPr id="16" name="Oval 15"/>
          <p:cNvSpPr/>
          <p:nvPr/>
        </p:nvSpPr>
        <p:spPr>
          <a:xfrm>
            <a:off x="548640" y="5093207"/>
            <a:ext cx="411480" cy="41148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5093207"/>
            <a:ext cx="411480" cy="411480"/>
          </a:xfrm>
          <a:prstGeom prst="rect">
            <a:avLst/>
          </a:prstGeom>
          <a:noFill/>
        </p:spPr>
        <p:txBody>
          <a:bodyPr wrap="square" lIns="0" rIns="0" tIns="0" bIns="0" anchor="ctr"/>
          <a:lstStyle/>
          <a:p>
            <a:pPr algn="ctr"/>
            <a:r>
              <a:rPr sz="1400" b="1" i="0">
                <a:solidFill>
                  <a:srgbClr val="FFFFFF"/>
                </a:solidFill>
                <a:latin typeface="Open Sans"/>
              </a:rPr>
              <a:t>5</a:t>
            </a:r>
          </a:p>
        </p:txBody>
      </p:sp>
      <p:sp>
        <p:nvSpPr>
          <p:cNvPr id="18" name="TextBox 17"/>
          <p:cNvSpPr txBox="1"/>
          <p:nvPr/>
        </p:nvSpPr>
        <p:spPr>
          <a:xfrm>
            <a:off x="1188719" y="5047488"/>
            <a:ext cx="10451592" cy="713232"/>
          </a:xfrm>
          <a:prstGeom prst="rect">
            <a:avLst/>
          </a:prstGeom>
          <a:noFill/>
        </p:spPr>
        <p:txBody>
          <a:bodyPr wrap="square" lIns="0" rIns="0" tIns="0" bIns="0" anchor="t"/>
          <a:lstStyle/>
          <a:p>
            <a:pPr algn="l"/>
            <a:r>
              <a:rPr sz="1400" b="0" i="0">
                <a:solidFill>
                  <a:srgbClr val="262626"/>
                </a:solidFill>
                <a:latin typeface="Open Sans"/>
              </a:rPr>
              <a:t>Приоритет для опытно-промышленной проверки: глубинные рассолы ≥ 200 мг/л, отбор ≥ 1,5–3 млн м</a:t>
            </a:r>
            <a:r>
              <a:rPr sz="1400" b="0" i="0" baseline="30000">
                <a:solidFill>
                  <a:srgbClr val="262626"/>
                </a:solidFill>
                <a:latin typeface="Open Sans"/>
              </a:rPr>
              <a:t>3</a:t>
            </a:r>
            <a:r>
              <a:rPr sz="1400" b="0" i="0">
                <a:solidFill>
                  <a:srgbClr val="262626"/>
                </a:solidFill>
                <a:latin typeface="Open Sans"/>
              </a:rPr>
              <a:t>/год, действующая система ППД</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2011680"/>
            <a:ext cx="9994392" cy="914400"/>
          </a:xfrm>
          <a:prstGeom prst="rect">
            <a:avLst/>
          </a:prstGeom>
          <a:noFill/>
        </p:spPr>
        <p:txBody>
          <a:bodyPr wrap="square" lIns="0" rIns="0" tIns="0" bIns="0" anchor="b"/>
          <a:lstStyle/>
          <a:p>
            <a:pPr algn="ctr"/>
            <a:r>
              <a:rPr sz="4000" b="1" i="0">
                <a:solidFill>
                  <a:srgbClr val="C00000"/>
                </a:solidFill>
                <a:latin typeface="Open Sans"/>
              </a:rPr>
              <a:t>Спасибо за внимание!</a:t>
            </a:r>
          </a:p>
        </p:txBody>
      </p:sp>
      <p:sp>
        <p:nvSpPr>
          <p:cNvPr id="3" name="TextBox 2"/>
          <p:cNvSpPr txBox="1"/>
          <p:nvPr/>
        </p:nvSpPr>
        <p:spPr>
          <a:xfrm>
            <a:off x="1097280" y="3063240"/>
            <a:ext cx="9994392" cy="457200"/>
          </a:xfrm>
          <a:prstGeom prst="rect">
            <a:avLst/>
          </a:prstGeom>
          <a:noFill/>
        </p:spPr>
        <p:txBody>
          <a:bodyPr wrap="square" lIns="0" rIns="0" tIns="0" bIns="0" anchor="t"/>
          <a:lstStyle/>
          <a:p>
            <a:pPr algn="ctr"/>
            <a:r>
              <a:rPr sz="1800" b="0" i="0">
                <a:solidFill>
                  <a:srgbClr val="595959"/>
                </a:solidFill>
                <a:latin typeface="Open Sans"/>
              </a:rPr>
              <a:t>Готовы ответить на вопросы</a:t>
            </a:r>
          </a:p>
        </p:txBody>
      </p:sp>
      <p:sp>
        <p:nvSpPr>
          <p:cNvPr id="4" name="TextBox 3"/>
          <p:cNvSpPr txBox="1"/>
          <p:nvPr/>
        </p:nvSpPr>
        <p:spPr>
          <a:xfrm>
            <a:off x="1097280" y="4206240"/>
            <a:ext cx="9994392" cy="822960"/>
          </a:xfrm>
          <a:prstGeom prst="rect">
            <a:avLst/>
          </a:prstGeom>
          <a:noFill/>
        </p:spPr>
        <p:txBody>
          <a:bodyPr wrap="square" lIns="0" rIns="0" tIns="0" bIns="0" anchor="t"/>
          <a:lstStyle/>
          <a:p>
            <a:pPr algn="ctr">
              <a:spcAft>
                <a:spcPts val="400"/>
              </a:spcAft>
            </a:pPr>
            <a:r>
              <a:rPr sz="1300" b="1" i="0">
                <a:solidFill>
                  <a:srgbClr val="262626"/>
                </a:solidFill>
                <a:latin typeface="Open Sans"/>
              </a:rPr>
              <a:t>Мкртичян Нина Андраниковна</a:t>
            </a:r>
            <a:r>
              <a:rPr sz="1300" b="0" i="0">
                <a:solidFill>
                  <a:srgbClr val="262626"/>
                </a:solidFill>
                <a:latin typeface="Open Sans"/>
              </a:rPr>
              <a:t> — СПбГУ, «Нефтегазовое дело» · st129824@student.spbu.ru</a:t>
            </a:r>
          </a:p>
          <a:p>
            <a:pPr algn="ctr">
              <a:spcAft>
                <a:spcPts val="400"/>
              </a:spcAft>
            </a:pPr>
            <a:r>
              <a:rPr sz="1300" b="1" i="0">
                <a:solidFill>
                  <a:srgbClr val="262626"/>
                </a:solidFill>
                <a:latin typeface="Open Sans"/>
              </a:rPr>
              <a:t>Мкртичян Мария Андраниковна</a:t>
            </a:r>
            <a:r>
              <a:rPr sz="1300" b="0" i="0">
                <a:solidFill>
                  <a:srgbClr val="262626"/>
                </a:solidFill>
                <a:latin typeface="Open Sans"/>
              </a:rPr>
              <a:t> — Горный университет, «Горное дело» · marimkr21@gmail.com</a:t>
            </a:r>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Специальное оформление">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Специальное оформление">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41</TotalTime>
  <Words>0</Words>
  <Application>Microsoft Office PowerPoint</Application>
  <PresentationFormat>Широкоэкранный</PresentationFormat>
  <Paragraphs>0</Paragraphs>
  <Slides>3</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3</vt:i4>
      </vt:variant>
      <vt:variant>
        <vt:lpstr>Заголовки слайдов</vt:lpstr>
      </vt:variant>
      <vt:variant>
        <vt:i4>3</vt:i4>
      </vt:variant>
    </vt:vector>
  </HeadingPairs>
  <TitlesOfParts>
    <vt:vector size="10" baseType="lpstr">
      <vt:lpstr>Arial</vt:lpstr>
      <vt:lpstr>Calibri</vt:lpstr>
      <vt:lpstr>Calibri Light</vt:lpstr>
      <vt:lpstr>Open Sans</vt:lpstr>
      <vt:lpstr>Тема Office</vt:lpstr>
      <vt:lpstr>1_Специальное оформление</vt:lpstr>
      <vt:lpstr>Специальное оформление</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Сорбционное извлечение лития из попутных вод</dc:title>
  <dc:creator>Н. А. Мкртичян, М. А. Мкртичян</dc:creator>
  <cp:lastModifiedBy>Н. А. Мкртичян</cp:lastModifiedBy>
  <cp:revision>3</cp:revision>
  <dcterms:created xsi:type="dcterms:W3CDTF">2025-12-25T12:18:32Z</dcterms:created>
  <dcterms:modified xsi:type="dcterms:W3CDTF">2025-12-25T12:59:33Z</dcterms:modified>
</cp:coreProperties>
</file>